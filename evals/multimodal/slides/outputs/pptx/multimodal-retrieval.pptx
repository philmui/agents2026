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s/slide2.xml" ContentType="application/vnd.openxmlformats-officedocument.presentationml.slide+xml"/>
  <Override PartName="/ppt/charts/chart2.xml" ContentType="application/vnd.openxmlformats-officedocument.drawingml.chart+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3.xml" ContentType="application/vnd.openxmlformats-officedocument.drawingml.chart+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harts/chart4.xml" ContentType="application/vnd.openxmlformats-officedocument.drawingml.chart+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10946975881618483"/>
          <c:w val="1"/>
          <c:h val="0.7095261836469378"/>
        </c:manualLayout>
      </c:layout>
      <c:barChart>
        <c:barDir val="col"/>
        <c:grouping val="clustered"/>
        <c:varyColors val="0"/>
        <c:ser>
          <c:idx val="0"/>
          <c:order val="0"/>
          <c:tx>
            <c:strRef>
              <c:f>Sheet1!$B$1</c:f>
              <c:strCache>
                <c:ptCount val="1"/>
                <c:pt idx="0">
                  <c:v>Solar energy (kWh)</c:v>
                </c:pt>
              </c:strCache>
            </c:strRef>
          </c:tx>
          <c:spPr>
            <a:solidFill>
              <a:srgbClr val="08796F"/>
            </a:solidFill>
            <a:effectLst/>
          </c:spPr>
          <c:invertIfNegative val="0"/>
          <c:dLbls>
            <c:numFmt formatCode="0" sourceLinked="0"/>
            <c:txPr>
              <a:bodyPr/>
              <a:lstStyle/>
              <a:p>
                <a:pPr>
                  <a:defRPr b="1" i="0" strike="noStrike" sz="1663" u="none">
                    <a:solidFill>
                      <a:srgbClr val="202729"/>
                    </a:solidFill>
                    <a:latin typeface="Arial"/>
                  </a:defRPr>
                </a:pPr>
              </a:p>
            </c:txPr>
            <c:showLegendKey val="0"/>
            <c:showVal val="1"/>
            <c:showCatName val="0"/>
            <c:showSerName val="0"/>
            <c:showPercent val="0"/>
            <c:showBubbleSize val="0"/>
            <c:showLeaderLines val="0"/>
          </c:dLbls>
          <c:dPt>
            <c:idx val="0"/>
            <c:invertIfNegative val="0"/>
            <c:bubble3D val="0"/>
            <c:spPr>
              <a:solidFill>
                <a:srgbClr val="08796F"/>
              </a:solidFill>
              <a:effectLst/>
            </c:spPr>
          </c:dPt>
          <c:dPt>
            <c:idx val="1"/>
            <c:invertIfNegative val="0"/>
            <c:bubble3D val="0"/>
            <c:spPr>
              <a:solidFill>
                <a:srgbClr val="BF4938"/>
              </a:solidFill>
              <a:effectLst/>
            </c:spPr>
          </c:dPt>
          <c:dPt>
            <c:idx val="2"/>
            <c:invertIfNegative val="0"/>
            <c:bubble3D val="0"/>
            <c:spPr>
              <a:solidFill>
                <a:srgbClr val="08796F"/>
              </a:solidFill>
              <a:effectLst/>
            </c:spPr>
          </c:dPt>
          <c:cat>
            <c:multiLvlStrRef>
              <c:f>Sheet1!$A$2:$A$4</c:f>
              <c:multiLvlStrCache>
                <c:ptCount val="3"/>
                <c:lvl>
                  <c:pt idx="0">
                    <c:v>April</c:v>
                  </c:pt>
                  <c:pt idx="1">
                    <c:v>May</c:v>
                  </c:pt>
                  <c:pt idx="2">
                    <c:v>June</c:v>
                  </c:pt>
                </c:lvl>
              </c:multiLvlStrCache>
            </c:multiLvlStrRef>
          </c:cat>
          <c:val>
            <c:numRef>
              <c:f>Sheet1!$B$2:$B$4</c:f>
              <c:numCache>
                <c:formatCode>General</c:formatCode>
                <c:ptCount val="3"/>
                <c:pt idx="0">
                  <c:v>42</c:v>
                </c:pt>
                <c:pt idx="1">
                  <c:v>57</c:v>
                </c:pt>
                <c:pt idx="2">
                  <c:v>51</c:v>
                </c:pt>
              </c:numCache>
            </c:numRef>
          </c:val>
        </c:ser>
        <c:dLbls>
          <c:numFmt formatCode="0" sourceLinked="0"/>
          <c:txPr>
            <a:bodyPr/>
            <a:lstStyle/>
            <a:p>
              <a:pPr>
                <a:defRPr b="1" i="0" strike="noStrike" sz="1663" u="none">
                  <a:solidFill>
                    <a:srgbClr val="202729"/>
                  </a:solidFill>
                  <a:latin typeface="Arial"/>
                </a:defRPr>
              </a:pPr>
            </a:p>
          </c:txPr>
          <c:showLegendKey val="0"/>
          <c:showVal val="1"/>
          <c:showCatName val="0"/>
          <c:showSerName val="0"/>
          <c:showPercent val="0"/>
          <c:showBubbleSize val="0"/>
          <c:showLeaderLines val="0"/>
        </c:dLbls>
        <c:gapWidth val="109"/>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55" b="0" i="0" u="none" strike="noStrike">
                <a:solidFill>
                  <a:srgbClr val="536164"/>
                </a:solidFill>
                <a:latin typeface="Arial"/>
              </a:defRPr>
            </a:pPr>
            <a:endParaRPr lang="en-US"/>
          </a:p>
        </c:txPr>
        <c:crossAx val="2094734552"/>
        <c:crosses val="autoZero"/>
        <c:auto val="1"/>
        <c:lblAlgn val="ctr"/>
        <c:noMultiLvlLbl val="1"/>
      </c:catAx>
      <c:valAx>
        <c:axId val="2094734552"/>
        <c:scaling>
          <c:orientation val="minMax"/>
          <c:max val="57"/>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1562198649951784"/>
          <c:w val="1"/>
          <c:h val="0.5785920925747348"/>
        </c:manualLayout>
      </c:layout>
      <c:barChart>
        <c:barDir val="col"/>
        <c:grouping val="clustered"/>
        <c:varyColors val="0"/>
        <c:ser>
          <c:idx val="0"/>
          <c:order val="0"/>
          <c:tx>
            <c:strRef>
              <c:f>Sheet1!$B$1</c:f>
              <c:strCache>
                <c:ptCount val="1"/>
                <c:pt idx="0">
                  <c:v>Solar energy (kWh)</c:v>
                </c:pt>
              </c:strCache>
            </c:strRef>
          </c:tx>
          <c:spPr>
            <a:solidFill>
              <a:srgbClr val="08796F"/>
            </a:solidFill>
            <a:effectLst/>
          </c:spPr>
          <c:invertIfNegative val="0"/>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dPt>
            <c:idx val="0"/>
            <c:invertIfNegative val="0"/>
            <c:bubble3D val="0"/>
            <c:spPr>
              <a:solidFill>
                <a:srgbClr val="08796F"/>
              </a:solidFill>
              <a:effectLst/>
            </c:spPr>
          </c:dPt>
          <c:dPt>
            <c:idx val="1"/>
            <c:invertIfNegative val="0"/>
            <c:bubble3D val="0"/>
            <c:spPr>
              <a:solidFill>
                <a:srgbClr val="BF4938"/>
              </a:solidFill>
              <a:effectLst/>
            </c:spPr>
          </c:dPt>
          <c:dPt>
            <c:idx val="2"/>
            <c:invertIfNegative val="0"/>
            <c:bubble3D val="0"/>
            <c:spPr>
              <a:solidFill>
                <a:srgbClr val="08796F"/>
              </a:solidFill>
              <a:effectLst/>
            </c:spPr>
          </c:dPt>
          <c:cat>
            <c:multiLvlStrRef>
              <c:f>Sheet1!$A$2:$A$4</c:f>
              <c:multiLvlStrCache>
                <c:ptCount val="3"/>
                <c:lvl>
                  <c:pt idx="0">
                    <c:v>April</c:v>
                  </c:pt>
                  <c:pt idx="1">
                    <c:v>May</c:v>
                  </c:pt>
                  <c:pt idx="2">
                    <c:v>June</c:v>
                  </c:pt>
                </c:lvl>
              </c:multiLvlStrCache>
            </c:multiLvlStrRef>
          </c:cat>
          <c:val>
            <c:numRef>
              <c:f>Sheet1!$B$2:$B$4</c:f>
              <c:numCache>
                <c:formatCode>General</c:formatCode>
                <c:ptCount val="3"/>
                <c:pt idx="0">
                  <c:v>42</c:v>
                </c:pt>
                <c:pt idx="1">
                  <c:v>57</c:v>
                </c:pt>
                <c:pt idx="2">
                  <c:v>51</c:v>
                </c:pt>
              </c:numCache>
            </c:numRef>
          </c:val>
        </c:ser>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gapWidth val="58"/>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20" b="0" i="0" u="none" strike="noStrike">
                <a:solidFill>
                  <a:srgbClr val="536164"/>
                </a:solidFill>
                <a:latin typeface="Arial"/>
              </a:defRPr>
            </a:pPr>
            <a:endParaRPr lang="en-US"/>
          </a:p>
        </c:txPr>
        <c:crossAx val="2094734552"/>
        <c:crosses val="autoZero"/>
        <c:auto val="1"/>
        <c:lblAlgn val="ctr"/>
        <c:noMultiLvlLbl val="1"/>
      </c:catAx>
      <c:valAx>
        <c:axId val="2094734552"/>
        <c:scaling>
          <c:orientation val="minMax"/>
          <c:max val="57"/>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9896151496640196"/>
          <c:w val="1"/>
          <c:h val="0.733048259010385"/>
        </c:manualLayout>
      </c:layout>
      <c:barChart>
        <c:barDir val="col"/>
        <c:grouping val="clustered"/>
        <c:varyColors val="0"/>
        <c:ser>
          <c:idx val="0"/>
          <c:order val="0"/>
          <c:tx>
            <c:strRef>
              <c:f>Sheet1!$B$1</c:f>
              <c:strCache>
                <c:ptCount val="1"/>
                <c:pt idx="0">
                  <c:v>Solar energy (kWh)</c:v>
                </c:pt>
              </c:strCache>
            </c:strRef>
          </c:tx>
          <c:spPr>
            <a:solidFill>
              <a:srgbClr val="08796F"/>
            </a:solidFill>
            <a:effectLst/>
          </c:spPr>
          <c:invertIfNegative val="0"/>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dPt>
            <c:idx val="0"/>
            <c:invertIfNegative val="0"/>
            <c:bubble3D val="0"/>
            <c:spPr>
              <a:solidFill>
                <a:srgbClr val="08796F"/>
              </a:solidFill>
              <a:effectLst/>
            </c:spPr>
          </c:dPt>
          <c:dPt>
            <c:idx val="1"/>
            <c:invertIfNegative val="0"/>
            <c:bubble3D val="0"/>
            <c:spPr>
              <a:solidFill>
                <a:srgbClr val="BF4938"/>
              </a:solidFill>
              <a:effectLst/>
            </c:spPr>
          </c:dPt>
          <c:dPt>
            <c:idx val="2"/>
            <c:invertIfNegative val="0"/>
            <c:bubble3D val="0"/>
            <c:spPr>
              <a:solidFill>
                <a:srgbClr val="08796F"/>
              </a:solidFill>
              <a:effectLst/>
            </c:spPr>
          </c:dPt>
          <c:cat>
            <c:multiLvlStrRef>
              <c:f>Sheet1!$A$2:$A$4</c:f>
              <c:multiLvlStrCache>
                <c:ptCount val="3"/>
                <c:lvl>
                  <c:pt idx="0">
                    <c:v>April</c:v>
                  </c:pt>
                  <c:pt idx="1">
                    <c:v>May</c:v>
                  </c:pt>
                  <c:pt idx="2">
                    <c:v>June</c:v>
                  </c:pt>
                </c:lvl>
              </c:multiLvlStrCache>
            </c:multiLvlStrRef>
          </c:cat>
          <c:val>
            <c:numRef>
              <c:f>Sheet1!$B$2:$B$4</c:f>
              <c:numCache>
                <c:formatCode>General</c:formatCode>
                <c:ptCount val="3"/>
                <c:pt idx="0">
                  <c:v>42</c:v>
                </c:pt>
                <c:pt idx="1">
                  <c:v>57</c:v>
                </c:pt>
                <c:pt idx="2">
                  <c:v>51</c:v>
                </c:pt>
              </c:numCache>
            </c:numRef>
          </c:val>
        </c:ser>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gapWidth val="114"/>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20" b="0" i="0" u="none" strike="noStrike">
                <a:solidFill>
                  <a:srgbClr val="536164"/>
                </a:solidFill>
                <a:latin typeface="Arial"/>
              </a:defRPr>
            </a:pPr>
            <a:endParaRPr lang="en-US"/>
          </a:p>
        </c:txPr>
        <c:crossAx val="2094734552"/>
        <c:crosses val="autoZero"/>
        <c:auto val="1"/>
        <c:lblAlgn val="ctr"/>
        <c:noMultiLvlLbl val="1"/>
      </c:catAx>
      <c:valAx>
        <c:axId val="2094734552"/>
        <c:scaling>
          <c:orientation val="minMax"/>
          <c:max val="57"/>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9896151496640196"/>
          <c:w val="1"/>
          <c:h val="0.733048259010385"/>
        </c:manualLayout>
      </c:layout>
      <c:barChart>
        <c:barDir val="col"/>
        <c:grouping val="clustered"/>
        <c:varyColors val="0"/>
        <c:ser>
          <c:idx val="0"/>
          <c:order val="0"/>
          <c:tx>
            <c:strRef>
              <c:f>Sheet1!$B$1</c:f>
              <c:strCache>
                <c:ptCount val="1"/>
                <c:pt idx="0">
                  <c:v>Solar energy (kWh)</c:v>
                </c:pt>
              </c:strCache>
            </c:strRef>
          </c:tx>
          <c:spPr>
            <a:solidFill>
              <a:srgbClr val="08796F"/>
            </a:solidFill>
            <a:effectLst/>
          </c:spPr>
          <c:invertIfNegative val="0"/>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dPt>
            <c:idx val="0"/>
            <c:invertIfNegative val="0"/>
            <c:bubble3D val="0"/>
            <c:spPr>
              <a:solidFill>
                <a:srgbClr val="08796F"/>
              </a:solidFill>
              <a:effectLst/>
            </c:spPr>
          </c:dPt>
          <c:dPt>
            <c:idx val="1"/>
            <c:invertIfNegative val="0"/>
            <c:bubble3D val="0"/>
            <c:spPr>
              <a:solidFill>
                <a:srgbClr val="BF4938"/>
              </a:solidFill>
              <a:effectLst/>
            </c:spPr>
          </c:dPt>
          <c:dPt>
            <c:idx val="2"/>
            <c:invertIfNegative val="0"/>
            <c:bubble3D val="0"/>
            <c:spPr>
              <a:solidFill>
                <a:srgbClr val="08796F"/>
              </a:solidFill>
              <a:effectLst/>
            </c:spPr>
          </c:dPt>
          <c:cat>
            <c:multiLvlStrRef>
              <c:f>Sheet1!$A$2:$A$4</c:f>
              <c:multiLvlStrCache>
                <c:ptCount val="3"/>
                <c:lvl>
                  <c:pt idx="0">
                    <c:v>April</c:v>
                  </c:pt>
                  <c:pt idx="1">
                    <c:v>May</c:v>
                  </c:pt>
                  <c:pt idx="2">
                    <c:v>June</c:v>
                  </c:pt>
                </c:lvl>
              </c:multiLvlStrCache>
            </c:multiLvlStrRef>
          </c:cat>
          <c:val>
            <c:numRef>
              <c:f>Sheet1!$B$2:$B$4</c:f>
              <c:numCache>
                <c:formatCode>General</c:formatCode>
                <c:ptCount val="3"/>
                <c:pt idx="0">
                  <c:v>42</c:v>
                </c:pt>
                <c:pt idx="1">
                  <c:v>57</c:v>
                </c:pt>
                <c:pt idx="2">
                  <c:v>51</c:v>
                </c:pt>
              </c:numCache>
            </c:numRef>
          </c:val>
        </c:ser>
        <c:dLbls>
          <c:numFmt formatCode="0" sourceLinked="0"/>
          <c:txPr>
            <a:bodyPr/>
            <a:lstStyle/>
            <a:p>
              <a:pPr>
                <a:defRPr b="1" i="0" strike="noStrike" sz="1620" u="none">
                  <a:solidFill>
                    <a:srgbClr val="202729"/>
                  </a:solidFill>
                  <a:latin typeface="Arial"/>
                </a:defRPr>
              </a:pPr>
            </a:p>
          </c:txPr>
          <c:showLegendKey val="0"/>
          <c:showVal val="1"/>
          <c:showCatName val="0"/>
          <c:showSerName val="0"/>
          <c:showPercent val="0"/>
          <c:showBubbleSize val="0"/>
          <c:showLeaderLines val="0"/>
        </c:dLbls>
        <c:gapWidth val="114"/>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20" b="0" i="0" u="none" strike="noStrike">
                <a:solidFill>
                  <a:srgbClr val="536164"/>
                </a:solidFill>
                <a:latin typeface="Arial"/>
              </a:defRPr>
            </a:pPr>
            <a:endParaRPr lang="en-US"/>
          </a:p>
        </c:txPr>
        <c:crossAx val="2094734552"/>
        <c:crosses val="autoZero"/>
        <c:auto val="1"/>
        <c:lblAlgn val="ctr"/>
        <c:noMultiLvlLbl val="1"/>
      </c:catAx>
      <c:valAx>
        <c:axId val="2094734552"/>
        <c:scaling>
          <c:orientation val="minMax"/>
          <c:max val="57"/>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alpha val="0"/>
          </a:srgbClr>
        </a:solidFill>
        <a:ln w="12700" cap="flat">
          <a:solidFill>
            <a:srgbClr val="FFFFFF"/>
          </a:solidFill>
        </a:ln>
        <a:effectLst/>
      </c:spPr>
    </c:plotArea>
    <c:plotVisOnly val="1"/>
    <c:dispBlanksAs val="span"/>
  </c:chart>
  <c:spPr>
    <a:solidFill>
      <a:srgbClr val="FFFFFF">
        <a:alpha val="0"/>
      </a:srgbClr>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 school is studying a solar panel. The project folder contains lab notes, energy charts, controller screenshots, a PDF report, and a short video. A question such as ‘Which month produced the most energy?’ needs the right chart and a careful reading of its labels. Multimodal means working across more than one kind of information. Retrieval means finding useful evidence. We will build the search stage, inspect where it fails, and then connect it to an optional vision reader. The school, measurements, and media in this lesson are fictional teaching data. The chart shows 42, 57, and 51 kWh; its answer is May, 57 kWh. Ask learners what evidence they would need before answering a different question: why did May produce more? The chart alone does not explain causes.
Notebook: 01_foundations.ipynb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modality is a type of input, such as text, an image, or audio. A PDF is a container: one page might hold selectable text, while another contains a scanned chart. A video combines visual frames with time and may also contain audio. Our corpus includes text memos, three charts, a controller screenshot, a mixed PDF, and a silent twelve-second video with a hand-authored companion transcript. This variety is deliberate: a cleaning policy belongs in a memo, a controller code belongs on a screenshot, and an event's location in a video needs timestamps. Counterexample: a JPEG file full of printed words is technically an image, but ordinary OCR followed by text search may solve the task better than a general vision model.
Notebook: 01_foundations.ipynb
Reference notebook cells 4, 10–11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search engine does not compare your sentence directly with the pixels in a file. It first creates a representation: searchable words, a numerical vector, or both. A vector database stores those vectors and finds nearby ones. It can store image embeddings perfectly well; the limitation belongs to a text-only encoder, which cannot accept image pixels. Likewise, a generative vision model is not automatically a retrieval index. Its captions or supported embedding outputs must be turned into records with stable identities. A counterexample helps: merely saving a PNG path in a database payload does not make that image semantically searchable. The payload points to the evidence; an appropriate representation makes it findable.
Notebook: 01_foundations.ipynb
Reference notebook cells 4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embedding is a list of numbers that a model produces from an input. The individual coordinates are usually learned features, not human labels such as ‘amount of solar energy.’ Think of an arrow from the origin. Cosine similarity compares the directions of two arrows rather than their lengths. Parallel directions have similarity 1; perpendicular directions have 0; opposite directions have -1. In the notebook, small hand-built vectors let you compute every step before any model download. Caution: a high cosine score means the representation considers two items similar. It does not measure truth, entailment, or the probability that an answer is correct. The two-dimensional drawing is an explanation, not a visualization of actual model embeddings.
Notebook: 01_foundations.ipynb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written in one coordinate system cannot safely be compared with three numbers from an unrelated one. A position measured from your classroom door differs from a position measured from the city center, even when both contain two numbers. Similarly, equal embedding dimension is necessary for a direct dot product but does not establish semantic compatibility. Query and document vectors must use the intended compatible encoders, model versions, and preprocessing. CLIP is special because its text and image encoders were jointly trained to align their outputs. Counterexample: a 512-dimensional vector from a random text model is not interchangeable with a 512-dimensional CLIP image vector. Record model identity as well as shape.
Notebook: 01_foundations.ipynb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means adding material to the collection. At ingestion, a vision model can describe a screenshot, extract text, or turn a chart into a table. You store the result and reuse it across later queries. At question time, the reader receives only a few retrieved images and answers the user's specific question from those pixels. These are separate jobs even when the same model performs both. The caption may have forgotten a small axis label; the reader can inspect it if retrieval found the source. The reader cannot rescue an image that was never retrieved. Reparse when the source or extraction process changes, rather than assuming ‘once’ means forever. On our fixture path, descriptions are authored teaching records, not claimed vision-model outputs.
Notebook: 02_describe_and_search.ipynb
Reference notebook cells 4, 14, 33–36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notebook opens with LlamaIndex's MultiModalVectorStoreIndex. It is a useful first picture of the system: provide documents, a text embedder, and a compatible multimodal embedder; the framework maintains representations and retrieval paths. The code here is an architectural sketch; the notebook supplies the actual adapters and configuration. In particular, image search needs the text tower of the same multimodal model, rather than the unrelated text-only embedder used for memo search. A framework saves plumbing but does not decide whether a chart is accurate, whether two scores are comparable, or whether a result contains the answer. The next lessons make those decisions visible. Our offline path does not silently download models or call a hosted service.
Notebook: 01_foundations.ipynb
Reference notebook cells 8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terminal in topics/22_multimodal and run uv sync. This installs the dependencies from the external pyproject.toml and lockfile, rather than modifying the environment in hidden notebook cells. Start Jupyter with uv run jupyter lab. Copy .env.example to .env only when configuring optional models, and keep secrets out of notebooks and version control. Python uses load_dotenv(find_dotenv()) to find configuration. The default lessons run with deterministic teaching data and deliberately simple baseline vectors; they are not benchmark results for a pretrained CLIP model or a hosted vision model. The optional live path downloads local ONNX models and can call your configured vision endpoint. A fully reproducible comparison also records model files and preprocessing, not just Python package versions.
Notebook: 01_foundations.ipynb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chart and a text caption of that chart are different records describing the same underlying evidence. Keep a source_id such as chart_energy, a representation identifier such as caption-v1, the source path, and useful provenance. A PDF record also needs a page number; a frame record needs a timestamp or time window. Stable source identity lets us fuse rankings without counting the same chart twice and lets an answer cite what the user can inspect. The database may use its own point ID, which is separate from the domain-level source ID. Counterexample: treating every image crop as unrelated evidence can fill the top three results with three copies of one chart and leave no room for a useful memo.
Notebook: 01_foundations.ipynb
Reference notebook cells 11, 20, 23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A converts each image into searchable language. The ingestion parser might write ‘Monthly solar energy: April 42 kWh, May 57 kWh, June 51 kWh.’ Those words can share an index with lab memos, using the same compatible text encoder for records and queries. Store the link to the image so a later reader can inspect the source. This approach is practical when important visual content can be described in words. Its weakness is information loss: retrieval sees only what the parser included. A vague caption such as ‘a bar chart’ may omit both solar energy and months. The default notebook uses transparent, authored descriptions to isolate search behavior; optional model parsing is labeled separately.
Notebook: 02_describe_and_search.ipynb
Reference notebook cells 14–24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then hide it and inspect the caption ‘A monthly solar chart.’ That caption helps find the topic, but it cannot answer which month was highest or what the units mean. Adding every visible value preserves more information, but creates more opportunities for extraction errors. Captions are lossy representations: they choose some details and discard others. OCR aims to recover visible text; a description also summarizes visual relationships; a chart-to-table extraction aims to preserve structured values. Those outputs have different uses. Do not infer that a rich caption is automatically correct. If a label is ambiguous, preserve the uncertainty and keep the source image available for inspection.
Notebook: 02_describe_and_search.ipynb
Reference notebook cells 14–18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parser returning {"month": "May", "value": 75, "unit": "kWh"} might satisfy the expected JSON schema while misreading the chart, whose value is 57. Schema validation checks structure and types. It cannot establish visual truth. Our generated corpus has an answer key, so a lesson can compare extracted numbers with known values. Real uploaded documents often do not have an answer key: use source inspection, cross-checks, trusted tables, or human review. A range check catches a negative energy value but cannot prove that 75 should be 57. Keep statuses such as verified, unverified, and invalid distinct. A second model agreeing is supporting evidence, not a guarantee of correctness.
Notebook: 02_describe_and_search.ipynb
Reference notebook cells 15–18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Qdrant stores a vector plus a payload. The vector supports similarity search; the payload holds identifiers, modality, source paths, and provenance. A collection fixes its vector dimension and similarity metric. Query vectors must match the collection's intended encoder and dimension. The code sketch shows the query_points method used by current qdrant-client: its response contains points rather than being a raw list. In-memory local mode is ideal for a small exercise, but its records disappear when the process ends. Rebuilding after a notebook restart is expected. A persistent deployment needs explicit storage and lifecycle decisions. Metadata can also support filters; those filters should restrict eligible evidence before the result reaches a reader.
Notebook: 02_describe_and_search.ipynb
Reference notebook cells 23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screenshot contains the exact code E17 and the warning that ventilation is blocked. A description mentioning blocked ventilation may retrieve the screenshot for ‘Why should we clear the vent?’ Exact code queries are more fragile: the parser may omit E17, a text embedding may blur it with E71, and the reader may mistake a small character. Add lexical matching or exact fields when identifiers matter. Another failure is unmentioned visual appearance: ‘the green chart’ cannot match a caption that never names color. The exercise is to name one caption omission, predict a query it will hurt, change only that caption, and rerun the query. That is a small controlled experiment, not evidence that A is universally best or worst.
Notebook: 02_describe_and_search.ipynb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B embeds images and text into a compatible shared space. A text question passes through the model's text tower; an image passes through its image tower. Similarity can then rank images directly without requiring a caption first. The shared space is learned rather than manually specified. The notebook begins with an intentionally weak, color-only pixel feature exercise and manually mapped color queries, so everyone can run it offline and see its limits. It is not CLIP, not a semantic substitute, and not a performance benchmark. The optional FastEmbed path loads the actual paired CLIP encoders. The plotted points are a conceptual two-dimensional drawing; real embeddings have many dimensions and their geometry is not fully visible in this sketch.
Notebook: 03_shared_space.ipynb
Reference notebook cells 25–29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was trained with image-text pairs. In a training batch, the model learns to give matching pairs higher compatibility than mismatched pairs. The text and image towers become translators into a related coordinate system. We use a pretrained model; we do not train CLIP in these notebooks. Shared space does not mean every capability is shared equally. Natural-image concepts can work well while small text, exact counts, fine spatial relations, and chart numerals remain difficult. It also does not guarantee that text records and image records have identical score distributions. Counterexample: recognizing that a picture is an energy bar chart is a different task from reading that May is 57 kWh. Retrieval can be useful without solving the second task.
Notebook: 03_shared_space.ipynb
Reference notebook cells 25–27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FastEmbed uses ONNX model files for local inference, allowing these embedding examples to avoid a large PyTorch setup. The two Qdrant CLIP model identifiers in the sketch select the intended text and vision towers. The first live run still downloads weights; ‘local inference’ does not mean ‘nothing is ever downloaded.’ After caching the weights, inference processes the inputs locally. Pin model versions or artifacts when reproducing results, and preserve preprocessing such as image resizing. TextEmbedding also supports text-only models; naming an arbitrary one here would break the shared-space design. The complete notebook guards the optional live path and reports missing models or blocked downloads instead of presenting fallback color features as CLIP results.
Notebook: 03_shared_space.ipynb
Reference notebook cells 27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length of [3, 4] is 5 by the Pythagorean theorem. Dividing by 5 gives [0.6, 0.8], an arrow with length 1 pointing in the same direction. Once both vectors have length 1, their dot product equals cosine similarity. In numpy, axis=-1 computes one length per vector and keepdims=True preserves the dimensions needed for division. A zero vector has no direction, so reject it or define a clear fallback rather than quietly calling its cosine meaningful. Qdrant's cosine collection applies its own normalization behavior, while our numpy exercise makes the math explicit. Caution: normalizing does not make unrelated encoders compatible, and it does not calibrate scores into probabilities.
Notebook: 03_shared_space.ipynb
Reference notebook cells 22, 27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two different questions: ‘Find the monthly solar-energy chart’ and ‘How much more did May produce than April?’ CLIP may help with the first. The second requires reading 57 and 42, checking the kWh unit, and subtracting to obtain 15 kWh. A high retrieval similarity does not perform that arithmetic or certify the extracted values. Even a vision reader should cite the chart and qualify any illegible label. In the fixture lesson, known chart data makes the expected answer checkable. In a real report, you may prefer a trusted data table or human verification for precise numbers. A useful error analysis labels separately whether the image was missed, the values were misread, or the calculation was wrong.
Notebook: 03_shared_space.ipynb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towers can share compatible coordinates while text-text and text-image similarities follow different distributions. If all records compete in one mixed ranking, one modality may dominate the top results. Do not assume this must happen in your corpus; measure it. Examine representative queries whose gold evidence is a memo, an image, or both. A modality filter can reveal whether an image was useful but crowded out. Separate retrieval quotas or Strategy C are possible responses, each with tradeoffs. Counterexample: always reserving two image slots may hurt questions answered entirely by a safety memo. The notebook's simple color baseline cannot establish how a real CLIP model behaves; live results must be reported separately.
Notebook: 03_shared_space.ipynb
Reference notebook cells 28–29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C keeps a text-specialist collection and an image collection with its paired text query encoder. The two paths search independently. Each returns a ranked list of source IDs, and a fusion rule combines those lists. This keeps unrelated vector spaces separate. The image path may use CLIP, while the text path uses a model optimized for prose. In the offline teaching path the image baseline is intentionally weaker and explicitly labeled. Fusion can combine complementary evidence but cannot recover an item absent from every candidate list. The candidate pool size and final answer context size are different parameters: retrieve enough candidates for fusion, then send only the most useful sources to the reader.
Notebook: 04_fusion_and_evaluation.ipynb
Reference notebook cells 29–31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the top text result has similarity 0.82 and the top image result has 0.31. It is tempting to declare the text result better. But these numbers come from different models and may have different distributions. They are not probabilities on a shared scale. One model can produce narrow score ranges and another broad ranges. Reciprocal rank fusion avoids that comparison by using order within each list. Proper score calibration is another approach, but it needs suitable labeled data and validation. Counterexample: multiplying image scores by three because one example looked too low is an arbitrary adjustment that may damage another query. These displayed numbers are a hypothetical demonstration, not measured scores from our notebooks.
Notebook: 04_fusion_and_evaluation.ipynb
Reference notebook cells 29–31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Reciprocal rank fusion, or RRF, rewards sources that appear near the top of one or more ranked lists. For every list containing source d, add 1 divided by c plus its rank. Start ranks at 1. A source missing from a list contributes zero for that list, not an invented last rank. The smoothing constant c controls how strongly first place beats lower places; 60 is a common starting value, not a universal optimum. We use c rather than k in this explanation so it is not confused with the number of results returned. Rank fusion deliberately discards similarity magnitudes. It can be robust across incompatible score scales, but does not prove relevance or require the lists to be statistically independent.
Notebook: 04_fusion_and_evaluation.ipynb
Reference notebook cells 30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chart can be returned through several crops or captions. If one retrieval list counts every copy as separate support, a duplicated source unfairly gains score. Deduplicate each list by the chosen canonical source ID while preserving first occurrence, then assign one-based source ranks. The same source may legitimately contribute once from the text list and once from the image list. Decide the unit of relevance before evaluation: a PDF page, whole document, or video window may be the right unit for different tasks. Overly broad grouping can also be harmful; collapsing all video frames into a single video ID destroys temporal distinctions. The notebook helper makes the policy explicit and keeps provenance for the selected evidence.
Notebook: 04_fusion_and_evaluation.ipynb
Reference notebook cells 30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c=60 and the two displayed lists. This example assumes captions let the chart and screenshot appear in the text list as well as the image list. If a text store contains only memos and its IDs never overlap image IDs, no source receives two contributions. The chart receives 1/62 from text and 1/61 from images, totaling about 0.032522. The screenshot receives 1/63 twice, totaling about 0.031746. The memo gets 1/61, about 0.016393, while the frame gets 1/62, about 0.016129. The fused order is chart, screenshot, memo, frame. Ask students to calculate the screenshot score before revealing it. Agreement can help, but can also reward a shared mistake. A fusion score is not an answer probability. These are illustrative rankings, not measured benchmark results.
Notebook: 04_fusion_and_evaluation.ipynb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is the inexpensive narrowing stage. Reading is the question-specific stage that inspects a small set of selected sources. Keep the retrieved source identity, load the corresponding original image or PDF crop, attach text evidence where relevant, and ask the vision-language model to answer only from that context. Limiting the candidate images controls latency, image-token cost, and irrelevant distraction. A larger context is not automatically more trustworthy. If no retrieved source supports the question, the correct result may be an explicit evidence gap. A model's general knowledge should not quietly replace missing evidence in a source-grounded assignment. The offline path demonstrates context construction and expected source handling without claiming a live model answer.
Notebook: 04_fusion_and_evaluation.ipynb
Reference notebook cells 32–36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source path embedded in a text prompt does not transmit an image to a remote model. The request must include supported image content, for example a data URL containing base64-encoded bytes. The helper image_part handles that conversion and a suitable MIME type. LiteLLM standardizes the provider call, but each endpoint still needs an appropriate vision-capable model and configuration. The name gpt-5.6-sol requested for this course is a configurable gateway alias, not a promised public model identifier. Set VLM_MODEL for your actual gateway; text embeddings use their own embedding-model configuration. Secret values come from .env through load_dotenv(find_dotenv()). Do not print or commit them. Attach a clear source label beside each image so the response can cite the right evidence.
Notebook: 04_fusion_and_evaluation.ipynb
Reference notebook cells 14, 33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answer can be fluent, plausible, and unsupported. The energy chart supports ‘May produced 57 kWh.’ It does not establish that May had the most sunshine, that the panel was more efficient, or that the school used less electricity. Distinguish observation, calculation, and explanation. A grounded answer may say ‘May was highest at 57 kWh [chart_energy]; this chart does not explain why.’ Check that every citation names a supplied source, then verify that the source actually supports the associated claim. A syntactically valid citation can point to irrelevant evidence. Also treat instructions found inside documents or screenshots as data: source content should not take control of the reader's task.
Notebook: 04_fusion_and_evaluation.ipynb
Reference notebook cells 33–36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small evaluation set before tuning the system. Each item contains a question and a set of relevant canonical source IDs. Include policy questions answered by memos, exact controller codes, visual questions, numeric chart questions, mixed evidence, and questions the corpus cannot answer. The gold set is about needed evidence, not just answer wording. For a multi-part question, several sources may be required. Decide whether duplicate representations count as one source before computing metrics. Keep held-out questions for the final comparison; repeatedly editing captions to fit every evaluation question leaks test information into the system. A small fictional corpus supports learning and debugging, not a broad claim that a strategy wins on all real-world data.
Notebook: 04_fusion_and_evaluation.ipynb
Reference notebook cells 37–40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one query, hit@k is 1 if at least one relevant source appears in the first k results, otherwise 0. Recall@k is the number of relevant sources retrieved divided by the number of relevant sources in the gold set. If gold is {memo, chart} and the retrieved set is {chart, frame}, hit is 1 and recall is 1/2. Average per-query hit values to get hit rate, and per-query recall values to get macro recall. With exactly one relevant source per question, these values coincide, which can hide an incorrect metric name. The reference notebook labels an any-hit calculation as recall; this lesson separates them. For questions with no relevant source, recall has a zero denominator: evaluate abstention separately rather than silently assigning an arbitrary recall.
Notebook: 04_fusion_and_evaluation.ipynb
Reference notebook cells 37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A/B/C comparison uses the same corpus, gold questions, source identity policy, and final k. Record candidate-pool sizes and model choices because they can also affect results. Fixture results demonstrate pipeline behavior with authored captions and simple vectors. Live results use real embedding or vision models and must be labeled as such. Never replace an unavailable model with a weaker fallback and keep the original model's name in the score table. Retrieval quality and answer quality are separate: a correct source can be misread, while a model can guess a correct answer without retrieving evidence. Also report costs relevant to the decision, such as ingestion calls, query latency, and images sent per answer. This deck intentionally shows no invented benchmark comparison.
Notebook: 04_fusion_and_evaluation.ipynb
Reference notebook cells 37–40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E17 queries miss the controller screenshot. First inspect whether the caption contains E17. If it does not, the likely cause is extraction or representation. If it does, inspect the candidate ranking; exact lexical matching may help more than another vision call. If the screenshot is retrieved but the answer says E71, the problem is reading. Change one component at a time and rerun the same question plus neighboring cases. A single successful retest is not enough if the change harms other queries. Useful controlled experiments include adding exact-code fields, increasing candidate depth before fusion, comparing transcript-only with transcript-plus-frames, or changing the reader's image resolution. Preserve observations and uncertainty instead of explaining every failure with ‘the model is bad.’
Notebook: 04_fusion_and_evaluation.ipynb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 is a format, not a single modality. Native text can often be extracted directly; scanned pages contain pixels and need OCR or visual processing. A chart may contain selectable axis labels but still require its visual arrangement to interpret it. Our tiny PDF has a native-text first page and a raster chart on page two so you can test both routes. Render pages at a readable resolution and use Pillow to inspect or crop images. Retain document ID and page number. A common counterexample is a two-column PDF whose extracted text interleaves unrelated sentences: text exists, but its reading order is broken. Inspect extracted output before treating it as reliable prose.
Notebook: 05_pdf_and_video.ipynb
Reference notebook cells 1, 4, 49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citation such as ‘the report’ is hard to check when the document is long. Preserve a document identifier, a user-facing page number, and optionally a crop or bounding box. Be explicit about indexing: PDF libraries often use zero-based page indices, while readers expect page 1, page 2, and so on. Region coordinates must record their coordinate system and page dimensions, especially if images are resized or rotated. A crop helps focus a reader but can remove the title, legend, or unit that gives the chart meaning. Keep enough surrounding context and a link to the full page. In this corpus, the energy chart is on user-facing page 2.
Notebook: 05_pdf_and_video.ipynb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video search system can index speech transcripts as text and sampled frames as images, preserving their time alignment. Our twelve-second teaching video is silent. The accompanying text is hand-authored, not speech-recognition output, so it demonstrates alignment without pretending to transcribe absent audio. It shows energy from 0 to 4 seconds, the controller from 4 to 8, and temperature from 8 to 12, using half-open intervals in code. A real recording could use automatic speech recognition, but speech and visuals may disagree or appear at different times. Search both streams when they add value; first measure whether a transcript alone answers the target questions. Neither a transcript nor a single frame captures everything in a video.
Notebook: 05_pdf_and_video.ipynb
Reference notebook cells 41–45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alternative seeking sketch inspired by the reference. The runnable notebook uses sequential decoding and frame_number/fps timestamps for the known constant-frame-rate teaching clip. OpenCV can also seek to a target time and read a frame, as shown here. Always check the success flag: the read may fail or the target may be beyond the last frame. Seeking and reported timing are approximate; use actual presentation timestamps for variable-frame-rate media. Sampling every few seconds reduces work but can miss a brief warning. Scene-change detection and near-duplicate removal are alternatives, each with errors. The dot at 12 seconds marks the video boundary, not a guaranteed decodable frame. Convert OpenCV's BGR channel order before displaying through Pillow or another RGB-based viewer.
Notebook: 05_pdf_and_video.ipynb
Reference notebook cells 42–44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Retrieving the controller window supports saying that the relevant scene is in the 4–8 second interval. It does not automatically prove the warning first appeared at exactly 4.000 seconds. A sampled frame shows what was visible at its decoded time; a transcript segment shows words assigned to a time range. They are different observations. For an onset question, inspect adjacent frames at a finer interval and report uncertainty. Formatting a timestamp as minutes and seconds is useful but does not improve temporal accuracy. Keep both t_start and t_end in metadata, and cite the supported window. Counterexample: a narrator saying ‘the warning appeared earlier’ during the current scene does not place the warning's onset at that sentence's timestamp.
Notebook: 05_pdf_and_video.ipynb
Reference notebook cells 44–47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feature is a derived property of an entity. In this project, features include OCR text, image dimensions, captions, and embeddings. A feature store manages reusable feature definitions and values, often with versioning, freshness, offline computation, and online serving. A vector database specializes in searching vectors and returning associated metadata. The concepts can connect, but they are not interchangeable, and this tutorial does not require installing a production feature platform. The local manifest is a small feature-registry teaching pattern. Keep the raw source separately; record how its features were produced; publish compatible vectors into the search index. Counterexample: a folder of arrays without source IDs or encoder versions is storage, but not a reliable feature lifecycle.
Notebook: 05_pdf_and_video.ipynb
Reference notebook cells 11, 20, 23, 27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lab observation happened at 10:00, but its verified chart caption became available at 10:20. A simulated query at 10:10 must not use that caption, even though the underlying event happened earlier. Track event time and availability time when historical correctness matters. This is the point-in-time problem familiar from feature stores: a later correction or reprocessing result should not leak into an earlier evaluation. Our small notebook records versions and demonstrates the principle; it is not a production point-in-time join engine. Also freeze the corpus and gold labels when comparing releases. Otherwise a model change may receive credit for a newer, easier corpus rather than better retrieval.
Notebook: 05_pdf_and_video.ipynb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embedding model can move every item to a different coordinate system. Reusing old document vectors with new query vectors is unsafe even when their dimensions match. Version the encoder identity, model artifact or revision, preprocessing, parser prompt, source checksum, and output schema. Build and test a new index, then switch the query encoder and index together. Reparse only when that stage's inputs or logic changed; re-embed when the embedding representation changed. A source deletion should remove its searchable derived records and prevent stale citations. A lockfile fixes package versions, but model weights and prompts are separate artifacts. Counterexample: changing image cropping can alter the feature representation without changing the model name at all.
Notebook: 05_pdf_and_video.ipynb
Reference notebook cells 48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question family for the school corpus, such as exact controller codes, chart comparisons, or video scene location. Write your expected relevant sources before changing the system. Compare two retrieval strategies with fixed corpus, query set, and final k. Keep the fixture and live-model reports separate. Inspect one success and one failure in detail, then change only one component and rerun the evaluation. Your report should include the hypothesis, model and representation versions, source identity policy, retrieval metrics, answer-support checks, and the cost that matters for your setting. Add an unanswerable question and check abstention. A strong conclusion can be that OCR plus text retrieval is enough; complexity is justified only when it helps the actual task.
Notebook: 05_pdf_and_video.ipynb
Reference notebook cells 49–51 (zero-based). See SOURCE_MAP.md and SOURCES.md in the tutorial module.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now have a map of multimodal retrieval. Strategy A turns images into searchable words. Strategy B uses paired encoders with a shared space. Strategy C lets specialized paths retrieve independently and fuses their ranks. Parsing creates reusable representations; reading examines selected evidence for a specific question. PDF pages need provenance, video needs honest timestamps, and derived features need versioning. The next useful step is not automatically a larger model. It is a carefully chosen question, a clearly identified source, and a test that reveals where your pipeline succeeds or fails. Open the notebooks in order and record observations as you go. The theory guide explains the concepts in full, while FEATURE_STORES.md develops the lifecycle and historical-evaluation connections.
Notebook: 01_foundations.ipynb
© mui-group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P: MULTIMODAL RETRIEVAL"/>
          <p:cNvSpPr txBox="1"/>
          <p:nvPr/>
        </p:nvSpPr>
        <p:spPr>
          <a:xfrm>
            <a:off x="731520" y="1700689"/>
            <a:ext cx="2192179"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MULTIMODAL RETRIEVAL</a:t>
            </a:r>
            <a:endParaRPr lang="en-US" sz="1140" dirty="0"/>
          </a:p>
        </p:txBody>
      </p:sp>
      <p:sp>
        <p:nvSpPr>
          <p:cNvPr id="3" name="H1: Search beyond"/>
          <p:cNvSpPr txBox="1"/>
          <p:nvPr/>
        </p:nvSpPr>
        <p:spPr>
          <a:xfrm>
            <a:off x="731520" y="2150269"/>
            <a:ext cx="4910257" cy="861060"/>
          </a:xfrm>
          <a:prstGeom prst="rect">
            <a:avLst/>
          </a:prstGeom>
          <a:noFill/>
          <a:ln/>
        </p:spPr>
        <p:txBody>
          <a:bodyPr wrap="square" lIns="0" tIns="0" rIns="0" bIns="0" rtlCol="0" anchor="t"/>
          <a:lstStyle/>
          <a:p>
            <a:pPr indent="0" marL="0">
              <a:lnSpc>
                <a:spcPct val="100000"/>
              </a:lnSpc>
              <a:buNone/>
            </a:pPr>
            <a:r>
              <a:rPr lang="en-US" altLang="en-US" sz="5640" b="1" spc="-210" kern="0" dirty="0">
                <a:solidFill>
                  <a:srgbClr val="202729"/>
                </a:solidFill>
                <a:latin typeface="Arial" pitchFamily="34" charset="0"/>
                <a:ea typeface="Arial" pitchFamily="34" charset="-122"/>
                <a:cs typeface="Arial" pitchFamily="34" charset="-120"/>
              </a:rPr>
              <a:t>Search beyond</a:t>
            </a:r>
            <a:endParaRPr lang="en-US" sz="5640" dirty="0"/>
          </a:p>
        </p:txBody>
      </p:sp>
      <p:sp>
        <p:nvSpPr>
          <p:cNvPr id="4" name="H1: words"/>
          <p:cNvSpPr txBox="1"/>
          <p:nvPr/>
        </p:nvSpPr>
        <p:spPr>
          <a:xfrm>
            <a:off x="731520" y="2887980"/>
            <a:ext cx="2098000" cy="861060"/>
          </a:xfrm>
          <a:prstGeom prst="rect">
            <a:avLst/>
          </a:prstGeom>
          <a:noFill/>
          <a:ln/>
        </p:spPr>
        <p:txBody>
          <a:bodyPr wrap="square" lIns="0" tIns="0" rIns="0" bIns="0" rtlCol="0" anchor="t"/>
          <a:lstStyle/>
          <a:p>
            <a:pPr indent="0" marL="0">
              <a:lnSpc>
                <a:spcPct val="100000"/>
              </a:lnSpc>
              <a:buNone/>
            </a:pPr>
            <a:r>
              <a:rPr lang="en-US" altLang="en-US" sz="5640" b="1" spc="-210" kern="0" dirty="0">
                <a:solidFill>
                  <a:srgbClr val="202729"/>
                </a:solidFill>
                <a:latin typeface="Arial" pitchFamily="34" charset="0"/>
                <a:ea typeface="Arial" pitchFamily="34" charset="-122"/>
                <a:cs typeface="Arial" pitchFamily="34" charset="-120"/>
              </a:rPr>
              <a:t>words</a:t>
            </a:r>
            <a:endParaRPr lang="en-US" sz="5640" dirty="0"/>
          </a:p>
        </p:txBody>
      </p:sp>
      <p:sp>
        <p:nvSpPr>
          <p:cNvPr id="5" name="P: A research workshop for curious students"/>
          <p:cNvSpPr txBox="1"/>
          <p:nvPr/>
        </p:nvSpPr>
        <p:spPr>
          <a:xfrm>
            <a:off x="731520" y="3953351"/>
            <a:ext cx="4315063" cy="312420"/>
          </a:xfrm>
          <a:prstGeom prst="rect">
            <a:avLst/>
          </a:prstGeom>
          <a:noFill/>
          <a:ln/>
        </p:spPr>
        <p:txBody>
          <a:bodyPr wrap="square" lIns="0" tIns="0" rIns="0" bIns="0" rtlCol="0" anchor="t"/>
          <a:lstStyle/>
          <a:p>
            <a:pPr indent="0" marL="0">
              <a:lnSpc>
                <a:spcPct val="100000"/>
              </a:lnSpc>
              <a:buNone/>
            </a:pPr>
            <a:r>
              <a:rPr lang="en-US" altLang="en-US" sz="1800" dirty="0">
                <a:solidFill>
                  <a:srgbClr val="202729"/>
                </a:solidFill>
                <a:latin typeface="Arial" pitchFamily="34" charset="0"/>
                <a:ea typeface="Arial" pitchFamily="34" charset="-122"/>
                <a:cs typeface="Arial" pitchFamily="34" charset="-120"/>
              </a:rPr>
              <a:t>A research workshop for curious students</a:t>
            </a:r>
            <a:endParaRPr lang="en-US" sz="1800" dirty="0"/>
          </a:p>
        </p:txBody>
      </p:sp>
      <p:sp>
        <p:nvSpPr>
          <p:cNvPr id="6" name="P: Cedar School solar lab"/>
          <p:cNvSpPr txBox="1"/>
          <p:nvPr/>
        </p:nvSpPr>
        <p:spPr>
          <a:xfrm>
            <a:off x="731520" y="4749641"/>
            <a:ext cx="2049185"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Cedar School solar lab</a:t>
            </a:r>
            <a:endParaRPr lang="en-US" sz="1500" dirty="0"/>
          </a:p>
        </p:txBody>
      </p:sp>
      <p:sp>
        <p:nvSpPr>
          <p:cNvPr id="7" name="P: Five notebooks · one complete pipeline"/>
          <p:cNvSpPr txBox="1"/>
          <p:nvPr/>
        </p:nvSpPr>
        <p:spPr>
          <a:xfrm>
            <a:off x="731520" y="5006816"/>
            <a:ext cx="3436620"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Five notebooks · one complete pipeline</a:t>
            </a:r>
            <a:endParaRPr lang="en-US" sz="1500" dirty="0"/>
          </a:p>
        </p:txBody>
      </p:sp>
      <p:sp>
        <p:nvSpPr>
          <p:cNvPr id="8" name="text: Solar energy"/>
          <p:cNvSpPr txBox="1"/>
          <p:nvPr/>
        </p:nvSpPr>
        <p:spPr>
          <a:xfrm>
            <a:off x="6297062" y="1868384"/>
            <a:ext cx="1448753" cy="305168"/>
          </a:xfrm>
          <a:prstGeom prst="rect">
            <a:avLst/>
          </a:prstGeom>
          <a:noFill/>
          <a:ln/>
        </p:spPr>
        <p:txBody>
          <a:bodyPr wrap="square" lIns="0" tIns="0" rIns="0" bIns="0" rtlCol="0" anchor="t"/>
          <a:lstStyle/>
          <a:p>
            <a:pPr indent="0" marL="0">
              <a:lnSpc>
                <a:spcPct val="100000"/>
              </a:lnSpc>
              <a:buNone/>
            </a:pPr>
            <a:r>
              <a:rPr lang="en-US" altLang="en-US" sz="1725" b="1" dirty="0">
                <a:solidFill>
                  <a:srgbClr val="202729"/>
                </a:solidFill>
                <a:latin typeface="Arial" pitchFamily="34" charset="0"/>
                <a:ea typeface="Arial" pitchFamily="34" charset="-122"/>
                <a:cs typeface="Arial" pitchFamily="34" charset="-120"/>
              </a:rPr>
              <a:t>Solar energy</a:t>
            </a:r>
            <a:endParaRPr lang="en-US" sz="1725" dirty="0"/>
          </a:p>
        </p:txBody>
      </p:sp>
      <p:graphicFrame>
        <p:nvGraphicFramePr>
          <p:cNvPr id="9" name="Solar energy — editable data chart" descr="Solar energy in kilowatt-hours: April 42, May 57, June 51. Fictional teaching data."/>
          <p:cNvGraphicFramePr/>
          <p:nvPr/>
        </p:nvGraphicFramePr>
        <p:xfrm>
          <a:off x="6510893" y="2282421"/>
          <a:ext cx="3833317" cy="2315418"/>
        </p:xfrm>
        <a:graphic xmlns:a="http://schemas.openxmlformats.org/drawingml/2006/main">
          <a:graphicData uri="http://schemas.openxmlformats.org/drawingml/2006/chart">
            <c:chart xmlns:c="http://schemas.openxmlformats.org/drawingml/2006/chart" r:id="rId1"/>
          </a:graphicData>
        </a:graphic>
      </p:graphicFrame>
      <p:sp>
        <p:nvSpPr>
          <p:cNvPr id="10" name="Diagram connector"/>
          <p:cNvSpPr/>
          <p:nvPr/>
        </p:nvSpPr>
        <p:spPr>
          <a:xfrm>
            <a:off x="6570870" y="2340312"/>
            <a:ext cx="0" cy="1838427"/>
          </a:xfrm>
          <a:prstGeom prst="line">
            <a:avLst/>
          </a:prstGeom>
          <a:noFill/>
          <a:ln w="15646">
            <a:solidFill>
              <a:srgbClr val="C9D5D2"/>
            </a:solidFill>
            <a:prstDash val="solid"/>
          </a:ln>
        </p:spPr>
      </p:sp>
      <p:sp>
        <p:nvSpPr>
          <p:cNvPr id="11" name="Diagram connector"/>
          <p:cNvSpPr/>
          <p:nvPr/>
        </p:nvSpPr>
        <p:spPr>
          <a:xfrm>
            <a:off x="6570870" y="4178739"/>
            <a:ext cx="4420048" cy="0"/>
          </a:xfrm>
          <a:prstGeom prst="line">
            <a:avLst/>
          </a:prstGeom>
          <a:noFill/>
          <a:ln w="15646">
            <a:solidFill>
              <a:srgbClr val="C9D5D2"/>
            </a:solidFill>
            <a:prstDash val="solid"/>
          </a:ln>
        </p:spPr>
      </p:sp>
      <p:sp>
        <p:nvSpPr>
          <p:cNvPr id="12" name="text: kWh"/>
          <p:cNvSpPr txBox="1"/>
          <p:nvPr/>
        </p:nvSpPr>
        <p:spPr>
          <a:xfrm>
            <a:off x="6093662" y="2258117"/>
            <a:ext cx="434816" cy="236220"/>
          </a:xfrm>
          <a:prstGeom prst="rect">
            <a:avLst/>
          </a:prstGeom>
          <a:noFill/>
          <a:ln/>
        </p:spPr>
        <p:txBody>
          <a:bodyPr wrap="square" lIns="0" tIns="0" rIns="0" bIns="0" rtlCol="0" anchor="t"/>
          <a:lstStyle/>
          <a:p>
            <a:pPr indent="0" marL="0">
              <a:lnSpc>
                <a:spcPct val="100000"/>
              </a:lnSpc>
              <a:buNone/>
            </a:pPr>
            <a:r>
              <a:rPr lang="en-US" altLang="en-US" sz="1232" dirty="0">
                <a:solidFill>
                  <a:srgbClr val="536164"/>
                </a:solidFill>
                <a:latin typeface="Arial" pitchFamily="34" charset="0"/>
                <a:ea typeface="Arial" pitchFamily="34" charset="-122"/>
                <a:cs typeface="Arial" pitchFamily="34" charset="-120"/>
              </a:rPr>
              <a:t>kWh</a:t>
            </a:r>
            <a:endParaRPr lang="en-US" sz="1232" dirty="0"/>
          </a:p>
        </p:txBody>
      </p:sp>
      <p:sp>
        <p:nvSpPr>
          <p:cNvPr id="13" name="text: Find the evidence. Then read it."/>
          <p:cNvSpPr txBox="1"/>
          <p:nvPr/>
        </p:nvSpPr>
        <p:spPr>
          <a:xfrm>
            <a:off x="6297062" y="4888910"/>
            <a:ext cx="3863579" cy="342900"/>
          </a:xfrm>
          <a:prstGeom prst="rect">
            <a:avLst/>
          </a:prstGeom>
          <a:noFill/>
          <a:ln/>
        </p:spPr>
        <p:txBody>
          <a:bodyPr wrap="square" lIns="0" tIns="0" rIns="0" bIns="0" rtlCol="0" anchor="t"/>
          <a:lstStyle/>
          <a:p>
            <a:pPr indent="0" marL="0">
              <a:lnSpc>
                <a:spcPct val="100000"/>
              </a:lnSpc>
              <a:buNone/>
            </a:pPr>
            <a:r>
              <a:rPr lang="en-US" altLang="en-US" sz="1971" b="1" dirty="0">
                <a:solidFill>
                  <a:srgbClr val="202729"/>
                </a:solidFill>
                <a:latin typeface="Arial" pitchFamily="34" charset="0"/>
                <a:ea typeface="Arial" pitchFamily="34" charset="-122"/>
                <a:cs typeface="Arial" pitchFamily="34" charset="-120"/>
              </a:rPr>
              <a:t>Find the evidence. Then read it.</a:t>
            </a:r>
            <a:endParaRPr lang="en-US" sz="1971" dirty="0"/>
          </a:p>
        </p:txBody>
      </p:sp>
      <p:sp>
        <p:nvSpPr>
          <p:cNvPr id="1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5" name="SPAN: 01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01 / 42</a:t>
            </a:r>
            <a:endParaRPr lang="en-US"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Evidence has several shapes"/>
          <p:cNvSpPr txBox="1"/>
          <p:nvPr/>
        </p:nvSpPr>
        <p:spPr>
          <a:xfrm>
            <a:off x="731520" y="1165860"/>
            <a:ext cx="5763697"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Evidence has several shapes</a:t>
            </a:r>
            <a:endParaRPr lang="en-US" sz="3420" dirty="0"/>
          </a:p>
        </p:txBody>
      </p:sp>
      <p:sp>
        <p:nvSpPr>
          <p:cNvPr id="4" name="Diagram shape"/>
          <p:cNvSpPr/>
          <p:nvPr/>
        </p:nvSpPr>
        <p:spPr>
          <a:xfrm>
            <a:off x="1371600" y="2676644"/>
            <a:ext cx="2209800" cy="2171700"/>
          </a:xfrm>
          <a:prstGeom prst="roundRect">
            <a:avLst>
              <a:gd name="adj" fmla="val 3158"/>
            </a:avLst>
          </a:prstGeom>
          <a:solidFill>
            <a:srgbClr val="E9F6F2"/>
          </a:solidFill>
          <a:ln w="12700">
            <a:solidFill>
              <a:srgbClr val="FFFFFF">
                <a:alpha val="0"/>
              </a:srgbClr>
            </a:solidFill>
            <a:prstDash val="solid"/>
          </a:ln>
        </p:spPr>
      </p:sp>
      <p:sp>
        <p:nvSpPr>
          <p:cNvPr id="5" name="text: Lab memo"/>
          <p:cNvSpPr txBox="1"/>
          <p:nvPr/>
        </p:nvSpPr>
        <p:spPr>
          <a:xfrm>
            <a:off x="1554480" y="2829044"/>
            <a:ext cx="1188958"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Lab memo</a:t>
            </a:r>
            <a:endParaRPr lang="en-US" sz="1680" dirty="0"/>
          </a:p>
        </p:txBody>
      </p:sp>
      <p:sp>
        <p:nvSpPr>
          <p:cNvPr id="6" name="Diagram shape"/>
          <p:cNvSpPr/>
          <p:nvPr/>
        </p:nvSpPr>
        <p:spPr>
          <a:xfrm>
            <a:off x="1554480" y="3286244"/>
            <a:ext cx="1844040" cy="53340"/>
          </a:xfrm>
          <a:prstGeom prst="roundRect">
            <a:avLst>
              <a:gd name="adj" fmla="val 42857"/>
            </a:avLst>
          </a:prstGeom>
          <a:solidFill>
            <a:srgbClr val="C9D5D2"/>
          </a:solidFill>
          <a:ln w="12700">
            <a:solidFill>
              <a:srgbClr val="FFFFFF">
                <a:alpha val="0"/>
              </a:srgbClr>
            </a:solidFill>
            <a:prstDash val="solid"/>
          </a:ln>
        </p:spPr>
      </p:sp>
      <p:sp>
        <p:nvSpPr>
          <p:cNvPr id="7" name="Diagram shape"/>
          <p:cNvSpPr/>
          <p:nvPr/>
        </p:nvSpPr>
        <p:spPr>
          <a:xfrm>
            <a:off x="1554480" y="3530084"/>
            <a:ext cx="1554480" cy="53340"/>
          </a:xfrm>
          <a:prstGeom prst="roundRect">
            <a:avLst>
              <a:gd name="adj" fmla="val 42857"/>
            </a:avLst>
          </a:prstGeom>
          <a:solidFill>
            <a:srgbClr val="C9D5D2"/>
          </a:solidFill>
          <a:ln w="12700">
            <a:solidFill>
              <a:srgbClr val="FFFFFF">
                <a:alpha val="0"/>
              </a:srgbClr>
            </a:solidFill>
            <a:prstDash val="solid"/>
          </a:ln>
        </p:spPr>
      </p:sp>
      <p:sp>
        <p:nvSpPr>
          <p:cNvPr id="8" name="Diagram shape"/>
          <p:cNvSpPr/>
          <p:nvPr/>
        </p:nvSpPr>
        <p:spPr>
          <a:xfrm>
            <a:off x="1554480" y="3773924"/>
            <a:ext cx="1844040" cy="53340"/>
          </a:xfrm>
          <a:prstGeom prst="roundRect">
            <a:avLst>
              <a:gd name="adj" fmla="val 42857"/>
            </a:avLst>
          </a:prstGeom>
          <a:solidFill>
            <a:srgbClr val="C9D5D2"/>
          </a:solidFill>
          <a:ln w="12700">
            <a:solidFill>
              <a:srgbClr val="FFFFFF">
                <a:alpha val="0"/>
              </a:srgbClr>
            </a:solidFill>
            <a:prstDash val="solid"/>
          </a:ln>
        </p:spPr>
      </p:sp>
      <p:sp>
        <p:nvSpPr>
          <p:cNvPr id="9" name="Diagram shape"/>
          <p:cNvSpPr/>
          <p:nvPr/>
        </p:nvSpPr>
        <p:spPr>
          <a:xfrm>
            <a:off x="1554480" y="4017764"/>
            <a:ext cx="1554480" cy="53340"/>
          </a:xfrm>
          <a:prstGeom prst="roundRect">
            <a:avLst>
              <a:gd name="adj" fmla="val 42857"/>
            </a:avLst>
          </a:prstGeom>
          <a:solidFill>
            <a:srgbClr val="C9D5D2"/>
          </a:solidFill>
          <a:ln w="12700">
            <a:solidFill>
              <a:srgbClr val="FFFFFF">
                <a:alpha val="0"/>
              </a:srgbClr>
            </a:solidFill>
            <a:prstDash val="solid"/>
          </a:ln>
        </p:spPr>
      </p:sp>
      <p:sp>
        <p:nvSpPr>
          <p:cNvPr id="10" name="text: Solar energy"/>
          <p:cNvSpPr txBox="1"/>
          <p:nvPr/>
        </p:nvSpPr>
        <p:spPr>
          <a:xfrm>
            <a:off x="4152900" y="2829044"/>
            <a:ext cx="1414582"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Solar energy</a:t>
            </a:r>
            <a:endParaRPr lang="en-US" sz="1680" dirty="0"/>
          </a:p>
        </p:txBody>
      </p:sp>
      <p:graphicFrame>
        <p:nvGraphicFramePr>
          <p:cNvPr id="11" name="Solar energy — editable data chart" descr="Solar energy in kilowatt-hours: April 42, May 57, June 51. Fictional teaching data."/>
          <p:cNvGraphicFramePr/>
          <p:nvPr/>
        </p:nvGraphicFramePr>
        <p:xfrm>
          <a:off x="4513580" y="3229856"/>
          <a:ext cx="2819400" cy="1580388"/>
        </p:xfrm>
        <a:graphic xmlns:a="http://schemas.openxmlformats.org/drawingml/2006/main">
          <a:graphicData uri="http://schemas.openxmlformats.org/drawingml/2006/chart">
            <c:chart xmlns:c="http://schemas.openxmlformats.org/drawingml/2006/chart" r:id="rId1"/>
          </a:graphicData>
        </a:graphic>
      </p:graphicFrame>
      <p:sp>
        <p:nvSpPr>
          <p:cNvPr id="12" name="Diagram connector"/>
          <p:cNvSpPr/>
          <p:nvPr/>
        </p:nvSpPr>
        <p:spPr>
          <a:xfrm>
            <a:off x="4419600" y="3286244"/>
            <a:ext cx="0" cy="1104900"/>
          </a:xfrm>
          <a:prstGeom prst="line">
            <a:avLst/>
          </a:prstGeom>
          <a:noFill/>
          <a:ln w="15240">
            <a:solidFill>
              <a:srgbClr val="C9D5D2"/>
            </a:solidFill>
            <a:prstDash val="solid"/>
          </a:ln>
        </p:spPr>
      </p:sp>
      <p:sp>
        <p:nvSpPr>
          <p:cNvPr id="13" name="Diagram connector"/>
          <p:cNvSpPr/>
          <p:nvPr/>
        </p:nvSpPr>
        <p:spPr>
          <a:xfrm>
            <a:off x="4419600" y="4391144"/>
            <a:ext cx="3390900" cy="0"/>
          </a:xfrm>
          <a:prstGeom prst="line">
            <a:avLst/>
          </a:prstGeom>
          <a:noFill/>
          <a:ln w="15240">
            <a:solidFill>
              <a:srgbClr val="C9D5D2"/>
            </a:solidFill>
            <a:prstDash val="solid"/>
          </a:ln>
        </p:spPr>
      </p:sp>
      <p:sp>
        <p:nvSpPr>
          <p:cNvPr id="14" name="text: kWh"/>
          <p:cNvSpPr txBox="1"/>
          <p:nvPr/>
        </p:nvSpPr>
        <p:spPr>
          <a:xfrm>
            <a:off x="3954780" y="3210044"/>
            <a:ext cx="426720" cy="228600"/>
          </a:xfrm>
          <a:prstGeom prst="rect">
            <a:avLst/>
          </a:prstGeom>
          <a:noFill/>
          <a:ln/>
        </p:spPr>
        <p:txBody>
          <a:bodyPr wrap="square" lIns="0" tIns="0" rIns="0" bIns="0" rtlCol="0" anchor="t"/>
          <a:lstStyle/>
          <a:p>
            <a:pPr indent="0" marL="0">
              <a:lnSpc>
                <a:spcPct val="100000"/>
              </a:lnSpc>
              <a:buNone/>
            </a:pPr>
            <a:r>
              <a:rPr lang="en-US" altLang="en-US" sz="1200" dirty="0">
                <a:solidFill>
                  <a:srgbClr val="536164"/>
                </a:solidFill>
                <a:latin typeface="Arial" pitchFamily="34" charset="0"/>
                <a:ea typeface="Arial" pitchFamily="34" charset="-122"/>
                <a:cs typeface="Arial" pitchFamily="34" charset="-120"/>
              </a:rPr>
              <a:t>kWh</a:t>
            </a:r>
            <a:endParaRPr lang="en-US" sz="1200" dirty="0"/>
          </a:p>
        </p:txBody>
      </p:sp>
      <p:sp>
        <p:nvSpPr>
          <p:cNvPr id="15" name="Diagram shape"/>
          <p:cNvSpPr/>
          <p:nvPr/>
        </p:nvSpPr>
        <p:spPr>
          <a:xfrm>
            <a:off x="8458200" y="2676644"/>
            <a:ext cx="2286000" cy="2171700"/>
          </a:xfrm>
          <a:prstGeom prst="roundRect">
            <a:avLst>
              <a:gd name="adj" fmla="val 3509"/>
            </a:avLst>
          </a:prstGeom>
          <a:solidFill>
            <a:srgbClr val="FFF0EB"/>
          </a:solidFill>
          <a:ln w="12700">
            <a:solidFill>
              <a:srgbClr val="FFFFFF">
                <a:alpha val="0"/>
              </a:srgbClr>
            </a:solidFill>
            <a:prstDash val="solid"/>
          </a:ln>
        </p:spPr>
      </p:sp>
      <p:sp>
        <p:nvSpPr>
          <p:cNvPr id="16" name="text: Video frame"/>
          <p:cNvSpPr txBox="1"/>
          <p:nvPr/>
        </p:nvSpPr>
        <p:spPr>
          <a:xfrm>
            <a:off x="8640968" y="2790944"/>
            <a:ext cx="1426480"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Video frame</a:t>
            </a:r>
            <a:endParaRPr lang="en-US" sz="1800" dirty="0"/>
          </a:p>
        </p:txBody>
      </p:sp>
      <p:sp>
        <p:nvSpPr>
          <p:cNvPr id="17" name="text: Time matters"/>
          <p:cNvSpPr txBox="1"/>
          <p:nvPr/>
        </p:nvSpPr>
        <p:spPr>
          <a:xfrm>
            <a:off x="8641080" y="3126224"/>
            <a:ext cx="113788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Time matters</a:t>
            </a:r>
            <a:endParaRPr lang="en-US" sz="1380" dirty="0"/>
          </a:p>
        </p:txBody>
      </p:sp>
      <p:sp>
        <p:nvSpPr>
          <p:cNvPr id="18" name="P: Choose evidence by the question."/>
          <p:cNvSpPr txBox="1"/>
          <p:nvPr/>
        </p:nvSpPr>
        <p:spPr>
          <a:xfrm>
            <a:off x="731520" y="5648444"/>
            <a:ext cx="2992041"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Choose evidence by the question.</a:t>
            </a:r>
            <a:endParaRPr lang="en-US" sz="1500" dirty="0"/>
          </a:p>
        </p:txBody>
      </p:sp>
      <p:sp>
        <p:nvSpPr>
          <p:cNvPr id="19"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20" name="SPAN: 02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02 / 42</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Search compares representations"/>
          <p:cNvSpPr txBox="1"/>
          <p:nvPr/>
        </p:nvSpPr>
        <p:spPr>
          <a:xfrm>
            <a:off x="731520" y="1165860"/>
            <a:ext cx="669750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Search compares representations</a:t>
            </a:r>
            <a:endParaRPr lang="en-US" sz="3420" dirty="0"/>
          </a:p>
        </p:txBody>
      </p:sp>
      <p:sp>
        <p:nvSpPr>
          <p:cNvPr id="4" name="Diagram shape"/>
          <p:cNvSpPr/>
          <p:nvPr/>
        </p:nvSpPr>
        <p:spPr>
          <a:xfrm>
            <a:off x="1295400" y="3095744"/>
            <a:ext cx="2905760" cy="952500"/>
          </a:xfrm>
          <a:prstGeom prst="roundRect">
            <a:avLst>
              <a:gd name="adj" fmla="val 8000"/>
            </a:avLst>
          </a:prstGeom>
          <a:solidFill>
            <a:srgbClr val="E9F6F2"/>
          </a:solidFill>
          <a:ln w="12700">
            <a:solidFill>
              <a:srgbClr val="FFFFFF">
                <a:alpha val="0"/>
              </a:srgbClr>
            </a:solidFill>
            <a:prstDash val="solid"/>
          </a:ln>
        </p:spPr>
      </p:sp>
      <p:sp>
        <p:nvSpPr>
          <p:cNvPr id="5" name="text: Source"/>
          <p:cNvSpPr txBox="1"/>
          <p:nvPr/>
        </p:nvSpPr>
        <p:spPr>
          <a:xfrm>
            <a:off x="1478280" y="3442454"/>
            <a:ext cx="89701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Source</a:t>
            </a:r>
            <a:endParaRPr lang="en-US" sz="1800" dirty="0"/>
          </a:p>
        </p:txBody>
      </p:sp>
      <p:sp>
        <p:nvSpPr>
          <p:cNvPr id="6" name="Diagram connector"/>
          <p:cNvSpPr/>
          <p:nvPr/>
        </p:nvSpPr>
        <p:spPr>
          <a:xfrm>
            <a:off x="4262120" y="3568184"/>
            <a:ext cx="289560" cy="0"/>
          </a:xfrm>
          <a:prstGeom prst="line">
            <a:avLst/>
          </a:prstGeom>
          <a:noFill/>
          <a:ln w="22860">
            <a:solidFill>
              <a:srgbClr val="08796F"/>
            </a:solidFill>
            <a:prstDash val="solid"/>
            <a:tailEnd type="arrow"/>
          </a:ln>
        </p:spPr>
      </p:sp>
      <p:sp>
        <p:nvSpPr>
          <p:cNvPr id="7" name="Diagram shape"/>
          <p:cNvSpPr/>
          <p:nvPr/>
        </p:nvSpPr>
        <p:spPr>
          <a:xfrm>
            <a:off x="4643120" y="3095744"/>
            <a:ext cx="2905760" cy="952500"/>
          </a:xfrm>
          <a:prstGeom prst="roundRect">
            <a:avLst>
              <a:gd name="adj" fmla="val 8000"/>
            </a:avLst>
          </a:prstGeom>
          <a:solidFill>
            <a:srgbClr val="E9F6F2"/>
          </a:solidFill>
          <a:ln w="12700">
            <a:solidFill>
              <a:srgbClr val="FFFFFF">
                <a:alpha val="0"/>
              </a:srgbClr>
            </a:solidFill>
            <a:prstDash val="solid"/>
          </a:ln>
        </p:spPr>
      </p:sp>
      <p:sp>
        <p:nvSpPr>
          <p:cNvPr id="8" name="text: Representation"/>
          <p:cNvSpPr txBox="1"/>
          <p:nvPr/>
        </p:nvSpPr>
        <p:spPr>
          <a:xfrm>
            <a:off x="4826000" y="3442454"/>
            <a:ext cx="178605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Representation</a:t>
            </a:r>
            <a:endParaRPr lang="en-US" sz="1800" dirty="0"/>
          </a:p>
        </p:txBody>
      </p:sp>
      <p:sp>
        <p:nvSpPr>
          <p:cNvPr id="9" name="Diagram connector"/>
          <p:cNvSpPr/>
          <p:nvPr/>
        </p:nvSpPr>
        <p:spPr>
          <a:xfrm>
            <a:off x="7609840" y="3568184"/>
            <a:ext cx="289560" cy="0"/>
          </a:xfrm>
          <a:prstGeom prst="line">
            <a:avLst/>
          </a:prstGeom>
          <a:noFill/>
          <a:ln w="22860">
            <a:solidFill>
              <a:srgbClr val="08796F"/>
            </a:solidFill>
            <a:prstDash val="solid"/>
            <a:tailEnd type="arrow"/>
          </a:ln>
        </p:spPr>
      </p:sp>
      <p:sp>
        <p:nvSpPr>
          <p:cNvPr id="10" name="Diagram shape"/>
          <p:cNvSpPr/>
          <p:nvPr/>
        </p:nvSpPr>
        <p:spPr>
          <a:xfrm>
            <a:off x="7990841" y="3095744"/>
            <a:ext cx="2905759" cy="952500"/>
          </a:xfrm>
          <a:prstGeom prst="roundRect">
            <a:avLst>
              <a:gd name="adj" fmla="val 8000"/>
            </a:avLst>
          </a:prstGeom>
          <a:solidFill>
            <a:srgbClr val="E9F6F2"/>
          </a:solidFill>
          <a:ln w="12700">
            <a:solidFill>
              <a:srgbClr val="FFFFFF">
                <a:alpha val="0"/>
              </a:srgbClr>
            </a:solidFill>
            <a:prstDash val="solid"/>
          </a:ln>
        </p:spPr>
      </p:sp>
      <p:sp>
        <p:nvSpPr>
          <p:cNvPr id="11" name="text: Nearest matches"/>
          <p:cNvSpPr txBox="1"/>
          <p:nvPr/>
        </p:nvSpPr>
        <p:spPr>
          <a:xfrm>
            <a:off x="8173721" y="3442454"/>
            <a:ext cx="1951792"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Nearest matches</a:t>
            </a:r>
            <a:endParaRPr lang="en-US" sz="1800" dirty="0"/>
          </a:p>
        </p:txBody>
      </p:sp>
      <p:sp>
        <p:nvSpPr>
          <p:cNvPr id="12" name="text: A database compares vectors; it does not see."/>
          <p:cNvSpPr txBox="1"/>
          <p:nvPr/>
        </p:nvSpPr>
        <p:spPr>
          <a:xfrm>
            <a:off x="1295076" y="4535924"/>
            <a:ext cx="4654953" cy="304800"/>
          </a:xfrm>
          <a:prstGeom prst="rect">
            <a:avLst/>
          </a:prstGeom>
          <a:noFill/>
          <a:ln/>
        </p:spPr>
        <p:txBody>
          <a:bodyPr wrap="square" lIns="0" tIns="0" rIns="0" bIns="0" rtlCol="0" anchor="t"/>
          <a:lstStyle/>
          <a:p>
            <a:pPr indent="0" marL="0">
              <a:lnSpc>
                <a:spcPct val="100000"/>
              </a:lnSpc>
              <a:buNone/>
            </a:pPr>
            <a:r>
              <a:rPr lang="en-US" altLang="en-US" sz="1740" dirty="0">
                <a:solidFill>
                  <a:srgbClr val="536164"/>
                </a:solidFill>
                <a:latin typeface="Arial" pitchFamily="34" charset="0"/>
                <a:ea typeface="Arial" pitchFamily="34" charset="-122"/>
                <a:cs typeface="Arial" pitchFamily="34" charset="-120"/>
              </a:rPr>
              <a:t>A database compares vectors; it does not see.</a:t>
            </a:r>
            <a:endParaRPr lang="en-US" sz="1740" dirty="0"/>
          </a:p>
        </p:txBody>
      </p:sp>
      <p:sp>
        <p:nvSpPr>
          <p:cNvPr id="13"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4" name="SPAN: 03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03 / 42</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Direction can measure similarity"/>
          <p:cNvSpPr txBox="1"/>
          <p:nvPr/>
        </p:nvSpPr>
        <p:spPr>
          <a:xfrm>
            <a:off x="731520" y="1165860"/>
            <a:ext cx="636996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Direction can measure similarity</a:t>
            </a:r>
            <a:endParaRPr lang="en-US" sz="3420" dirty="0"/>
          </a:p>
        </p:txBody>
      </p:sp>
      <p:sp>
        <p:nvSpPr>
          <p:cNvPr id="4" name="P: An embedding is a numerical"/>
          <p:cNvSpPr txBox="1"/>
          <p:nvPr/>
        </p:nvSpPr>
        <p:spPr>
          <a:xfrm>
            <a:off x="731520" y="3174087"/>
            <a:ext cx="3168253"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An embedding is a numerical</a:t>
            </a:r>
            <a:endParaRPr lang="en-US" sz="1860" dirty="0"/>
          </a:p>
        </p:txBody>
      </p:sp>
      <p:sp>
        <p:nvSpPr>
          <p:cNvPr id="5" name="P: description."/>
          <p:cNvSpPr txBox="1"/>
          <p:nvPr/>
        </p:nvSpPr>
        <p:spPr>
          <a:xfrm>
            <a:off x="731520" y="3492937"/>
            <a:ext cx="1329928"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description.</a:t>
            </a:r>
            <a:endParaRPr lang="en-US" sz="1860" dirty="0"/>
          </a:p>
        </p:txBody>
      </p:sp>
      <p:sp>
        <p:nvSpPr>
          <p:cNvPr id="6" name="P: Similarity is useful; certainty is different."/>
          <p:cNvSpPr txBox="1"/>
          <p:nvPr/>
        </p:nvSpPr>
        <p:spPr>
          <a:xfrm>
            <a:off x="731520" y="4017526"/>
            <a:ext cx="3453408"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Similarity is useful; certainty is different.</a:t>
            </a:r>
            <a:endParaRPr lang="en-US" sz="1500" dirty="0"/>
          </a:p>
        </p:txBody>
      </p:sp>
      <p:sp>
        <p:nvSpPr>
          <p:cNvPr id="7" name="Diagram connector"/>
          <p:cNvSpPr/>
          <p:nvPr/>
        </p:nvSpPr>
        <p:spPr>
          <a:xfrm>
            <a:off x="6312218" y="4695944"/>
            <a:ext cx="4076700" cy="0"/>
          </a:xfrm>
          <a:prstGeom prst="line">
            <a:avLst/>
          </a:prstGeom>
          <a:noFill/>
          <a:ln w="22860">
            <a:solidFill>
              <a:srgbClr val="C9D5D2"/>
            </a:solidFill>
            <a:prstDash val="solid"/>
          </a:ln>
        </p:spPr>
      </p:sp>
      <p:sp>
        <p:nvSpPr>
          <p:cNvPr id="8" name="Diagram connector"/>
          <p:cNvSpPr/>
          <p:nvPr/>
        </p:nvSpPr>
        <p:spPr>
          <a:xfrm flipV="1">
            <a:off x="6312218" y="2295644"/>
            <a:ext cx="0" cy="2400300"/>
          </a:xfrm>
          <a:prstGeom prst="line">
            <a:avLst/>
          </a:prstGeom>
          <a:noFill/>
          <a:ln w="22860">
            <a:solidFill>
              <a:srgbClr val="C9D5D2"/>
            </a:solidFill>
            <a:prstDash val="solid"/>
          </a:ln>
        </p:spPr>
      </p:sp>
      <p:sp>
        <p:nvSpPr>
          <p:cNvPr id="9" name="Diagram connector"/>
          <p:cNvSpPr/>
          <p:nvPr/>
        </p:nvSpPr>
        <p:spPr>
          <a:xfrm flipV="1">
            <a:off x="6312218" y="2829044"/>
            <a:ext cx="3314700" cy="1866900"/>
          </a:xfrm>
          <a:prstGeom prst="line">
            <a:avLst/>
          </a:prstGeom>
          <a:noFill/>
          <a:ln w="22860">
            <a:solidFill>
              <a:srgbClr val="08796F"/>
            </a:solidFill>
            <a:prstDash val="solid"/>
            <a:tailEnd type="arrow"/>
          </a:ln>
        </p:spPr>
      </p:sp>
      <p:sp>
        <p:nvSpPr>
          <p:cNvPr id="10" name="Diagram connector"/>
          <p:cNvSpPr/>
          <p:nvPr/>
        </p:nvSpPr>
        <p:spPr>
          <a:xfrm flipV="1">
            <a:off x="6312218" y="3248144"/>
            <a:ext cx="3124200" cy="1447800"/>
          </a:xfrm>
          <a:prstGeom prst="line">
            <a:avLst/>
          </a:prstGeom>
          <a:noFill/>
          <a:ln w="22860">
            <a:solidFill>
              <a:srgbClr val="08796F"/>
            </a:solidFill>
            <a:prstDash val="solid"/>
            <a:tailEnd type="arrow"/>
          </a:ln>
        </p:spPr>
      </p:sp>
      <p:sp>
        <p:nvSpPr>
          <p:cNvPr id="11" name="Diagram connector"/>
          <p:cNvSpPr/>
          <p:nvPr/>
        </p:nvSpPr>
        <p:spPr>
          <a:xfrm flipV="1">
            <a:off x="6312218" y="2448044"/>
            <a:ext cx="647700" cy="2247900"/>
          </a:xfrm>
          <a:prstGeom prst="line">
            <a:avLst/>
          </a:prstGeom>
          <a:noFill/>
          <a:ln w="22860">
            <a:solidFill>
              <a:srgbClr val="08796F"/>
            </a:solidFill>
            <a:prstDash val="solid"/>
            <a:tailEnd type="arrow"/>
          </a:ln>
        </p:spPr>
      </p:sp>
      <p:sp>
        <p:nvSpPr>
          <p:cNvPr id="12" name="text: query"/>
          <p:cNvSpPr txBox="1"/>
          <p:nvPr/>
        </p:nvSpPr>
        <p:spPr>
          <a:xfrm>
            <a:off x="9245918" y="2379464"/>
            <a:ext cx="636627"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202729"/>
                </a:solidFill>
                <a:latin typeface="Arial" pitchFamily="34" charset="0"/>
                <a:ea typeface="Arial" pitchFamily="34" charset="-122"/>
                <a:cs typeface="Arial" pitchFamily="34" charset="-120"/>
              </a:rPr>
              <a:t>query</a:t>
            </a:r>
            <a:endParaRPr lang="en-US" sz="1620" dirty="0"/>
          </a:p>
        </p:txBody>
      </p:sp>
      <p:sp>
        <p:nvSpPr>
          <p:cNvPr id="13" name="text: close"/>
          <p:cNvSpPr txBox="1"/>
          <p:nvPr/>
        </p:nvSpPr>
        <p:spPr>
          <a:xfrm>
            <a:off x="9436418" y="3370064"/>
            <a:ext cx="602218"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08796F"/>
                </a:solidFill>
                <a:latin typeface="Arial" pitchFamily="34" charset="0"/>
                <a:ea typeface="Arial" pitchFamily="34" charset="-122"/>
                <a:cs typeface="Arial" pitchFamily="34" charset="-120"/>
              </a:rPr>
              <a:t>close</a:t>
            </a:r>
            <a:endParaRPr lang="en-US" sz="1620" dirty="0"/>
          </a:p>
        </p:txBody>
      </p:sp>
      <p:sp>
        <p:nvSpPr>
          <p:cNvPr id="14" name="text: less aligned"/>
          <p:cNvSpPr txBox="1"/>
          <p:nvPr/>
        </p:nvSpPr>
        <p:spPr>
          <a:xfrm>
            <a:off x="6578918" y="2074664"/>
            <a:ext cx="1168241"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BF4938"/>
                </a:solidFill>
                <a:latin typeface="Arial" pitchFamily="34" charset="0"/>
                <a:ea typeface="Arial" pitchFamily="34" charset="-122"/>
                <a:cs typeface="Arial" pitchFamily="34" charset="-120"/>
              </a:rPr>
              <a:t>less aligned</a:t>
            </a:r>
            <a:endParaRPr lang="en-US" sz="1560" dirty="0"/>
          </a:p>
        </p:txBody>
      </p:sp>
      <p:sp>
        <p:nvSpPr>
          <p:cNvPr id="15" name="text: Smaller angle → greater cosine similarity"/>
          <p:cNvSpPr txBox="1"/>
          <p:nvPr/>
        </p:nvSpPr>
        <p:spPr>
          <a:xfrm>
            <a:off x="6236018" y="5015984"/>
            <a:ext cx="3584019" cy="276311"/>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Smaller angle → greater cosine similarity</a:t>
            </a:r>
            <a:endParaRPr lang="en-US" sz="150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04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04 / 42</a:t>
            </a:r>
            <a:endParaRPr lang="en-US"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Dimensions do not define compatibility"/>
          <p:cNvSpPr txBox="1"/>
          <p:nvPr/>
        </p:nvSpPr>
        <p:spPr>
          <a:xfrm>
            <a:off x="731520" y="1165860"/>
            <a:ext cx="7709059"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Dimensions do not define compatibility</a:t>
            </a:r>
            <a:endParaRPr lang="en-US" sz="3420" dirty="0"/>
          </a:p>
        </p:txBody>
      </p:sp>
      <p:sp>
        <p:nvSpPr>
          <p:cNvPr id="4" name="Diagram shape"/>
          <p:cNvSpPr/>
          <p:nvPr/>
        </p:nvSpPr>
        <p:spPr>
          <a:xfrm>
            <a:off x="1371600" y="2524244"/>
            <a:ext cx="4191000" cy="1752600"/>
          </a:xfrm>
          <a:prstGeom prst="roundRect">
            <a:avLst>
              <a:gd name="adj" fmla="val 4348"/>
            </a:avLst>
          </a:prstGeom>
          <a:solidFill>
            <a:srgbClr val="E9F6F2"/>
          </a:solidFill>
          <a:ln w="12700">
            <a:solidFill>
              <a:srgbClr val="FFFFFF">
                <a:alpha val="0"/>
              </a:srgbClr>
            </a:solidFill>
            <a:prstDash val="solid"/>
          </a:ln>
        </p:spPr>
      </p:sp>
      <p:sp>
        <p:nvSpPr>
          <p:cNvPr id="5" name="text: Encoder A"/>
          <p:cNvSpPr txBox="1"/>
          <p:nvPr/>
        </p:nvSpPr>
        <p:spPr>
          <a:xfrm>
            <a:off x="1554480" y="2638544"/>
            <a:ext cx="125670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Encoder A</a:t>
            </a:r>
            <a:endParaRPr lang="en-US" sz="1800" dirty="0"/>
          </a:p>
        </p:txBody>
      </p:sp>
      <p:sp>
        <p:nvSpPr>
          <p:cNvPr id="6" name="text: [0.2, 0.9, 0.1]"/>
          <p:cNvSpPr txBox="1"/>
          <p:nvPr/>
        </p:nvSpPr>
        <p:spPr>
          <a:xfrm>
            <a:off x="1554480" y="2973824"/>
            <a:ext cx="114502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[0.2, 0.9, 0.1]</a:t>
            </a:r>
            <a:endParaRPr lang="en-US" sz="1380" dirty="0"/>
          </a:p>
        </p:txBody>
      </p:sp>
      <p:sp>
        <p:nvSpPr>
          <p:cNvPr id="7" name="Diagram shape"/>
          <p:cNvSpPr/>
          <p:nvPr/>
        </p:nvSpPr>
        <p:spPr>
          <a:xfrm>
            <a:off x="6629400" y="2524244"/>
            <a:ext cx="4191000" cy="1752600"/>
          </a:xfrm>
          <a:prstGeom prst="roundRect">
            <a:avLst>
              <a:gd name="adj" fmla="val 4348"/>
            </a:avLst>
          </a:prstGeom>
          <a:solidFill>
            <a:srgbClr val="FFF0EB"/>
          </a:solidFill>
          <a:ln w="12700">
            <a:solidFill>
              <a:srgbClr val="FFFFFF">
                <a:alpha val="0"/>
              </a:srgbClr>
            </a:solidFill>
            <a:prstDash val="solid"/>
          </a:ln>
        </p:spPr>
      </p:sp>
      <p:sp>
        <p:nvSpPr>
          <p:cNvPr id="8" name="text: Encoder B"/>
          <p:cNvSpPr txBox="1"/>
          <p:nvPr/>
        </p:nvSpPr>
        <p:spPr>
          <a:xfrm>
            <a:off x="6812280" y="2638544"/>
            <a:ext cx="126515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Encoder B</a:t>
            </a:r>
            <a:endParaRPr lang="en-US" sz="1800" dirty="0"/>
          </a:p>
        </p:txBody>
      </p:sp>
      <p:sp>
        <p:nvSpPr>
          <p:cNvPr id="9" name="text: [0.2, 0.9, 0.1]"/>
          <p:cNvSpPr txBox="1"/>
          <p:nvPr/>
        </p:nvSpPr>
        <p:spPr>
          <a:xfrm>
            <a:off x="6812280" y="2973824"/>
            <a:ext cx="114502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[0.2, 0.9, 0.1]</a:t>
            </a:r>
            <a:endParaRPr lang="en-US" sz="1380" dirty="0"/>
          </a:p>
        </p:txBody>
      </p:sp>
      <p:sp>
        <p:nvSpPr>
          <p:cNvPr id="10" name="text: Equal length"/>
          <p:cNvSpPr txBox="1"/>
          <p:nvPr/>
        </p:nvSpPr>
        <p:spPr>
          <a:xfrm>
            <a:off x="1447800" y="4642604"/>
            <a:ext cx="1493520"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08796F"/>
                </a:solidFill>
                <a:latin typeface="Arial" pitchFamily="34" charset="0"/>
                <a:ea typeface="Arial" pitchFamily="34" charset="-122"/>
                <a:cs typeface="Arial" pitchFamily="34" charset="-120"/>
              </a:rPr>
              <a:t>Equal length</a:t>
            </a:r>
            <a:endParaRPr lang="en-US" sz="1800" dirty="0"/>
          </a:p>
        </p:txBody>
      </p:sp>
      <p:sp>
        <p:nvSpPr>
          <p:cNvPr id="11" name="text: Different coordinate meanings"/>
          <p:cNvSpPr txBox="1"/>
          <p:nvPr/>
        </p:nvSpPr>
        <p:spPr>
          <a:xfrm>
            <a:off x="6743700" y="4642604"/>
            <a:ext cx="3424476"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BF4938"/>
                </a:solidFill>
                <a:latin typeface="Arial" pitchFamily="34" charset="0"/>
                <a:ea typeface="Arial" pitchFamily="34" charset="-122"/>
                <a:cs typeface="Arial" pitchFamily="34" charset="-120"/>
              </a:rPr>
              <a:t>Different coordinate meanings</a:t>
            </a:r>
            <a:endParaRPr lang="en-US" sz="180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05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05 / 42</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One model, two different jobs"/>
          <p:cNvSpPr txBox="1"/>
          <p:nvPr/>
        </p:nvSpPr>
        <p:spPr>
          <a:xfrm>
            <a:off x="731520" y="1165860"/>
            <a:ext cx="5829419"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One model, two different jobs</a:t>
            </a:r>
            <a:endParaRPr lang="en-US" sz="3420" dirty="0"/>
          </a:p>
        </p:txBody>
      </p:sp>
      <p:sp>
        <p:nvSpPr>
          <p:cNvPr id="4" name="Diagram shape"/>
          <p:cNvSpPr/>
          <p:nvPr/>
        </p:nvSpPr>
        <p:spPr>
          <a:xfrm>
            <a:off x="1371600" y="2486144"/>
            <a:ext cx="4343400" cy="2057400"/>
          </a:xfrm>
          <a:prstGeom prst="roundRect">
            <a:avLst>
              <a:gd name="adj" fmla="val 3704"/>
            </a:avLst>
          </a:prstGeom>
          <a:solidFill>
            <a:srgbClr val="E9F6F2"/>
          </a:solidFill>
          <a:ln w="12700">
            <a:solidFill>
              <a:srgbClr val="FFFFFF">
                <a:alpha val="0"/>
              </a:srgbClr>
            </a:solidFill>
            <a:prstDash val="solid"/>
          </a:ln>
        </p:spPr>
      </p:sp>
      <p:sp>
        <p:nvSpPr>
          <p:cNvPr id="5" name="text: Parse at ingestion"/>
          <p:cNvSpPr txBox="1"/>
          <p:nvPr/>
        </p:nvSpPr>
        <p:spPr>
          <a:xfrm>
            <a:off x="1554480" y="2600444"/>
            <a:ext cx="2091095"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Parse at ingestion</a:t>
            </a:r>
            <a:endParaRPr lang="en-US" sz="1800" dirty="0"/>
          </a:p>
        </p:txBody>
      </p:sp>
      <p:sp>
        <p:nvSpPr>
          <p:cNvPr id="6" name="text: Image → searchable description"/>
          <p:cNvSpPr txBox="1"/>
          <p:nvPr/>
        </p:nvSpPr>
        <p:spPr>
          <a:xfrm>
            <a:off x="1554480" y="2935724"/>
            <a:ext cx="2635329"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Image → searchable description</a:t>
            </a:r>
            <a:endParaRPr lang="en-US" sz="1380" dirty="0"/>
          </a:p>
        </p:txBody>
      </p:sp>
      <p:sp>
        <p:nvSpPr>
          <p:cNvPr id="7" name="Diagram shape"/>
          <p:cNvSpPr/>
          <p:nvPr/>
        </p:nvSpPr>
        <p:spPr>
          <a:xfrm>
            <a:off x="6553200" y="2486144"/>
            <a:ext cx="4343400" cy="2057400"/>
          </a:xfrm>
          <a:prstGeom prst="roundRect">
            <a:avLst>
              <a:gd name="adj" fmla="val 3704"/>
            </a:avLst>
          </a:prstGeom>
          <a:solidFill>
            <a:srgbClr val="FFF0EB"/>
          </a:solidFill>
          <a:ln w="12700">
            <a:solidFill>
              <a:srgbClr val="FFFFFF">
                <a:alpha val="0"/>
              </a:srgbClr>
            </a:solidFill>
            <a:prstDash val="solid"/>
          </a:ln>
        </p:spPr>
      </p:sp>
      <p:sp>
        <p:nvSpPr>
          <p:cNvPr id="8" name="text: Read at question time"/>
          <p:cNvSpPr txBox="1"/>
          <p:nvPr/>
        </p:nvSpPr>
        <p:spPr>
          <a:xfrm>
            <a:off x="6736080" y="2600444"/>
            <a:ext cx="249721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Read at question time</a:t>
            </a:r>
            <a:endParaRPr lang="en-US" sz="1800" dirty="0"/>
          </a:p>
        </p:txBody>
      </p:sp>
      <p:sp>
        <p:nvSpPr>
          <p:cNvPr id="9" name="text: Selected pixels → specific answer"/>
          <p:cNvSpPr txBox="1"/>
          <p:nvPr/>
        </p:nvSpPr>
        <p:spPr>
          <a:xfrm>
            <a:off x="6736080" y="2935724"/>
            <a:ext cx="277384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Selected pixels → specific answer</a:t>
            </a:r>
            <a:endParaRPr lang="en-US" sz="1380" dirty="0"/>
          </a:p>
        </p:txBody>
      </p:sp>
      <p:sp>
        <p:nvSpPr>
          <p:cNvPr id="10" name="text: Reuse the stored description"/>
          <p:cNvSpPr txBox="1"/>
          <p:nvPr/>
        </p:nvSpPr>
        <p:spPr>
          <a:xfrm>
            <a:off x="1562100" y="4017764"/>
            <a:ext cx="2643902"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08796F"/>
                </a:solidFill>
                <a:latin typeface="Arial" pitchFamily="34" charset="0"/>
                <a:ea typeface="Arial" pitchFamily="34" charset="-122"/>
                <a:cs typeface="Arial" pitchFamily="34" charset="-120"/>
              </a:rPr>
              <a:t>Reuse the stored description</a:t>
            </a:r>
            <a:endParaRPr lang="en-US" sz="1560" dirty="0"/>
          </a:p>
        </p:txBody>
      </p:sp>
      <p:sp>
        <p:nvSpPr>
          <p:cNvPr id="11" name="text: Check what the user asks"/>
          <p:cNvSpPr txBox="1"/>
          <p:nvPr/>
        </p:nvSpPr>
        <p:spPr>
          <a:xfrm>
            <a:off x="6743700" y="4017764"/>
            <a:ext cx="2390418"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BF4938"/>
                </a:solidFill>
                <a:latin typeface="Arial" pitchFamily="34" charset="0"/>
                <a:ea typeface="Arial" pitchFamily="34" charset="-122"/>
                <a:cs typeface="Arial" pitchFamily="34" charset="-120"/>
              </a:rPr>
              <a:t>Check what the user asks</a:t>
            </a:r>
            <a:endParaRPr lang="en-US" sz="156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06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06 / 42</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Unpack the framework shortcut"/>
          <p:cNvSpPr txBox="1"/>
          <p:nvPr/>
        </p:nvSpPr>
        <p:spPr>
          <a:xfrm>
            <a:off x="731520" y="1165860"/>
            <a:ext cx="6240780"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Unpack the framework shortcut</a:t>
            </a:r>
            <a:endParaRPr lang="en-US" sz="3420" dirty="0"/>
          </a:p>
        </p:txBody>
      </p:sp>
      <p:sp>
        <p:nvSpPr>
          <p:cNvPr id="4" name="Diagram shape"/>
          <p:cNvSpPr/>
          <p:nvPr/>
        </p:nvSpPr>
        <p:spPr>
          <a:xfrm>
            <a:off x="731520" y="2594253"/>
            <a:ext cx="5468183" cy="2222183"/>
          </a:xfrm>
          <a:prstGeom prst="roundRect">
            <a:avLst>
              <a:gd name="adj" fmla="val 3429"/>
            </a:avLst>
          </a:prstGeom>
          <a:solidFill>
            <a:srgbClr val="F2F6F4"/>
          </a:solidFill>
          <a:ln w="12700">
            <a:solidFill>
              <a:srgbClr val="FFFFFF">
                <a:alpha val="0"/>
              </a:srgbClr>
            </a:solidFill>
            <a:prstDash val="solid"/>
          </a:ln>
        </p:spPr>
      </p:sp>
      <p:sp>
        <p:nvSpPr>
          <p:cNvPr id="5" name="PRE: index = MultiModalVectorStoreIndex("/>
          <p:cNvSpPr txBox="1"/>
          <p:nvPr/>
        </p:nvSpPr>
        <p:spPr>
          <a:xfrm>
            <a:off x="944880" y="2876193"/>
            <a:ext cx="380309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index = MultiModalVectorStoreIndex(</a:t>
            </a:r>
            <a:endParaRPr lang="en-US" sz="1380" dirty="0"/>
          </a:p>
        </p:txBody>
      </p:sp>
      <p:sp>
        <p:nvSpPr>
          <p:cNvPr id="6" name="PRE:     nodes,"/>
          <p:cNvSpPr txBox="1"/>
          <p:nvPr/>
        </p:nvSpPr>
        <p:spPr>
          <a:xfrm>
            <a:off x="944880" y="3165277"/>
            <a:ext cx="1173718"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nodes,</a:t>
            </a:r>
            <a:endParaRPr lang="en-US" sz="1380" dirty="0"/>
          </a:p>
        </p:txBody>
      </p:sp>
      <p:sp>
        <p:nvSpPr>
          <p:cNvPr id="7" name="PRE:     embed_model=text_encoder,"/>
          <p:cNvSpPr txBox="1"/>
          <p:nvPr/>
        </p:nvSpPr>
        <p:spPr>
          <a:xfrm>
            <a:off x="944880" y="3454360"/>
            <a:ext cx="317194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embed_model=text_encoder,</a:t>
            </a:r>
            <a:endParaRPr lang="en-US" sz="1380" dirty="0"/>
          </a:p>
        </p:txBody>
      </p:sp>
      <p:sp>
        <p:nvSpPr>
          <p:cNvPr id="8" name="PRE:     image_embed_model=clip_encoder,"/>
          <p:cNvSpPr txBox="1"/>
          <p:nvPr/>
        </p:nvSpPr>
        <p:spPr>
          <a:xfrm>
            <a:off x="944880" y="3743444"/>
            <a:ext cx="380309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image_embed_model=clip_encoder,</a:t>
            </a:r>
            <a:endParaRPr lang="en-US" sz="1380" dirty="0"/>
          </a:p>
        </p:txBody>
      </p:sp>
      <p:sp>
        <p:nvSpPr>
          <p:cNvPr id="9" name="PRE: )"/>
          <p:cNvSpPr txBox="1"/>
          <p:nvPr/>
        </p:nvSpPr>
        <p:spPr>
          <a:xfrm>
            <a:off x="944880" y="4032528"/>
            <a:ext cx="22717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a:t>
            </a:r>
            <a:endParaRPr lang="en-US" sz="1380" dirty="0"/>
          </a:p>
        </p:txBody>
      </p:sp>
      <p:sp>
        <p:nvSpPr>
          <p:cNvPr id="10" name="PRE: hits = index.as_retriever().retrieve(q)"/>
          <p:cNvSpPr txBox="1"/>
          <p:nvPr/>
        </p:nvSpPr>
        <p:spPr>
          <a:xfrm>
            <a:off x="944880" y="4321612"/>
            <a:ext cx="4223742"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hits = index.as_retriever().retrieve(q)</a:t>
            </a:r>
            <a:endParaRPr lang="en-US" sz="1380" dirty="0"/>
          </a:p>
        </p:txBody>
      </p:sp>
      <p:sp>
        <p:nvSpPr>
          <p:cNvPr id="11" name="Diagram shape"/>
          <p:cNvSpPr/>
          <p:nvPr/>
        </p:nvSpPr>
        <p:spPr>
          <a:xfrm>
            <a:off x="7980637" y="2284948"/>
            <a:ext cx="1988470" cy="639151"/>
          </a:xfrm>
          <a:prstGeom prst="roundRect">
            <a:avLst>
              <a:gd name="adj" fmla="val 11111"/>
            </a:avLst>
          </a:prstGeom>
          <a:solidFill>
            <a:srgbClr val="E9F6F2"/>
          </a:solidFill>
          <a:ln w="12700">
            <a:solidFill>
              <a:srgbClr val="FFFFFF">
                <a:alpha val="0"/>
              </a:srgbClr>
            </a:solidFill>
            <a:prstDash val="solid"/>
          </a:ln>
        </p:spPr>
      </p:sp>
      <p:sp>
        <p:nvSpPr>
          <p:cNvPr id="12" name="text: Question"/>
          <p:cNvSpPr txBox="1"/>
          <p:nvPr/>
        </p:nvSpPr>
        <p:spPr>
          <a:xfrm>
            <a:off x="8151076" y="2485041"/>
            <a:ext cx="1044893"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Question</a:t>
            </a:r>
            <a:endParaRPr lang="en-US" sz="1678" dirty="0"/>
          </a:p>
        </p:txBody>
      </p:sp>
      <p:sp>
        <p:nvSpPr>
          <p:cNvPr id="13" name="Diagram shape"/>
          <p:cNvSpPr/>
          <p:nvPr/>
        </p:nvSpPr>
        <p:spPr>
          <a:xfrm>
            <a:off x="6631317" y="3776301"/>
            <a:ext cx="2130504" cy="745677"/>
          </a:xfrm>
          <a:prstGeom prst="roundRect">
            <a:avLst>
              <a:gd name="adj" fmla="val 9524"/>
            </a:avLst>
          </a:prstGeom>
          <a:solidFill>
            <a:srgbClr val="E9F6F2"/>
          </a:solidFill>
          <a:ln w="12700">
            <a:solidFill>
              <a:srgbClr val="FFFFFF">
                <a:alpha val="0"/>
              </a:srgbClr>
            </a:solidFill>
            <a:prstDash val="solid"/>
          </a:ln>
        </p:spPr>
      </p:sp>
      <p:sp>
        <p:nvSpPr>
          <p:cNvPr id="14" name="text: Text store"/>
          <p:cNvSpPr txBox="1"/>
          <p:nvPr/>
        </p:nvSpPr>
        <p:spPr>
          <a:xfrm>
            <a:off x="6801757" y="4029656"/>
            <a:ext cx="1124069"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Text store</a:t>
            </a:r>
            <a:endParaRPr lang="en-US" sz="1678" dirty="0"/>
          </a:p>
        </p:txBody>
      </p:sp>
      <p:sp>
        <p:nvSpPr>
          <p:cNvPr id="15" name="Diagram shape"/>
          <p:cNvSpPr/>
          <p:nvPr/>
        </p:nvSpPr>
        <p:spPr>
          <a:xfrm>
            <a:off x="9187922" y="3776301"/>
            <a:ext cx="2130504" cy="745677"/>
          </a:xfrm>
          <a:prstGeom prst="roundRect">
            <a:avLst>
              <a:gd name="adj" fmla="val 9524"/>
            </a:avLst>
          </a:prstGeom>
          <a:solidFill>
            <a:srgbClr val="FFF0EB"/>
          </a:solidFill>
          <a:ln w="12700">
            <a:solidFill>
              <a:srgbClr val="FFFFFF">
                <a:alpha val="0"/>
              </a:srgbClr>
            </a:solidFill>
            <a:prstDash val="solid"/>
          </a:ln>
        </p:spPr>
      </p:sp>
      <p:sp>
        <p:nvSpPr>
          <p:cNvPr id="16" name="text: Image store"/>
          <p:cNvSpPr txBox="1"/>
          <p:nvPr/>
        </p:nvSpPr>
        <p:spPr>
          <a:xfrm>
            <a:off x="9358363" y="4029656"/>
            <a:ext cx="1317545"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Image store</a:t>
            </a:r>
            <a:endParaRPr lang="en-US" sz="1678" dirty="0"/>
          </a:p>
        </p:txBody>
      </p:sp>
      <p:sp>
        <p:nvSpPr>
          <p:cNvPr id="17" name="Diagram connector"/>
          <p:cNvSpPr/>
          <p:nvPr/>
        </p:nvSpPr>
        <p:spPr>
          <a:xfrm>
            <a:off x="8974872" y="2995116"/>
            <a:ext cx="0" cy="355084"/>
          </a:xfrm>
          <a:prstGeom prst="line">
            <a:avLst/>
          </a:prstGeom>
          <a:noFill/>
          <a:ln w="21305">
            <a:solidFill>
              <a:srgbClr val="08796F"/>
            </a:solidFill>
            <a:prstDash val="solid"/>
          </a:ln>
        </p:spPr>
      </p:sp>
      <p:sp>
        <p:nvSpPr>
          <p:cNvPr id="18" name="Diagram connector"/>
          <p:cNvSpPr/>
          <p:nvPr/>
        </p:nvSpPr>
        <p:spPr>
          <a:xfrm flipH="1">
            <a:off x="7696569" y="3350200"/>
            <a:ext cx="1278303" cy="0"/>
          </a:xfrm>
          <a:prstGeom prst="line">
            <a:avLst/>
          </a:prstGeom>
          <a:noFill/>
          <a:ln w="21305">
            <a:solidFill>
              <a:srgbClr val="08796F"/>
            </a:solidFill>
            <a:prstDash val="solid"/>
          </a:ln>
        </p:spPr>
      </p:sp>
      <p:sp>
        <p:nvSpPr>
          <p:cNvPr id="19" name="Diagram connector"/>
          <p:cNvSpPr/>
          <p:nvPr/>
        </p:nvSpPr>
        <p:spPr>
          <a:xfrm>
            <a:off x="7696569" y="3350200"/>
            <a:ext cx="0" cy="355084"/>
          </a:xfrm>
          <a:prstGeom prst="line">
            <a:avLst/>
          </a:prstGeom>
          <a:noFill/>
          <a:ln w="21305">
            <a:solidFill>
              <a:srgbClr val="08796F"/>
            </a:solidFill>
            <a:prstDash val="solid"/>
          </a:ln>
        </p:spPr>
      </p:sp>
      <p:sp>
        <p:nvSpPr>
          <p:cNvPr id="20" name="Diagram connector"/>
          <p:cNvSpPr/>
          <p:nvPr/>
        </p:nvSpPr>
        <p:spPr>
          <a:xfrm>
            <a:off x="8974872" y="3350200"/>
            <a:ext cx="1278303" cy="0"/>
          </a:xfrm>
          <a:prstGeom prst="line">
            <a:avLst/>
          </a:prstGeom>
          <a:noFill/>
          <a:ln w="21305">
            <a:solidFill>
              <a:srgbClr val="08796F"/>
            </a:solidFill>
            <a:prstDash val="solid"/>
          </a:ln>
        </p:spPr>
      </p:sp>
      <p:sp>
        <p:nvSpPr>
          <p:cNvPr id="21" name="Diagram connector"/>
          <p:cNvSpPr/>
          <p:nvPr/>
        </p:nvSpPr>
        <p:spPr>
          <a:xfrm>
            <a:off x="10253174" y="3350200"/>
            <a:ext cx="0" cy="355084"/>
          </a:xfrm>
          <a:prstGeom prst="line">
            <a:avLst/>
          </a:prstGeom>
          <a:noFill/>
          <a:ln w="21305">
            <a:solidFill>
              <a:srgbClr val="08796F"/>
            </a:solidFill>
            <a:prstDash val="solid"/>
          </a:ln>
        </p:spPr>
      </p:sp>
      <p:sp>
        <p:nvSpPr>
          <p:cNvPr id="22" name="text: Inspect both result lists."/>
          <p:cNvSpPr txBox="1"/>
          <p:nvPr/>
        </p:nvSpPr>
        <p:spPr>
          <a:xfrm>
            <a:off x="6666825" y="4907232"/>
            <a:ext cx="2199322" cy="289560"/>
          </a:xfrm>
          <a:prstGeom prst="rect">
            <a:avLst/>
          </a:prstGeom>
          <a:noFill/>
          <a:ln/>
        </p:spPr>
        <p:txBody>
          <a:bodyPr wrap="square" lIns="0" tIns="0" rIns="0" bIns="0" rtlCol="0" anchor="t"/>
          <a:lstStyle/>
          <a:p>
            <a:pPr indent="0" marL="0">
              <a:lnSpc>
                <a:spcPct val="100000"/>
              </a:lnSpc>
              <a:buNone/>
            </a:pPr>
            <a:r>
              <a:rPr lang="en-US" altLang="en-US" sz="1566" dirty="0">
                <a:solidFill>
                  <a:srgbClr val="536164"/>
                </a:solidFill>
                <a:latin typeface="Arial" pitchFamily="34" charset="0"/>
                <a:ea typeface="Arial" pitchFamily="34" charset="-122"/>
                <a:cs typeface="Arial" pitchFamily="34" charset="-120"/>
              </a:rPr>
              <a:t>Inspect both result lists.</a:t>
            </a:r>
            <a:endParaRPr lang="en-US" sz="1566" dirty="0"/>
          </a:p>
        </p:txBody>
      </p:sp>
      <p:sp>
        <p:nvSpPr>
          <p:cNvPr id="23" name="P: Architecture sketch; adapters live in notebooks."/>
          <p:cNvSpPr txBox="1"/>
          <p:nvPr/>
        </p:nvSpPr>
        <p:spPr>
          <a:xfrm>
            <a:off x="731520" y="5648444"/>
            <a:ext cx="4113967"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Architecture sketch; adapters live in notebooks.</a:t>
            </a:r>
            <a:endParaRPr lang="en-US" sz="1500" dirty="0"/>
          </a:p>
        </p:txBody>
      </p:sp>
      <p:sp>
        <p:nvSpPr>
          <p:cNvPr id="2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25" name="SPAN: 07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07 / 42</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Make the workshop reproducible"/>
          <p:cNvSpPr txBox="1"/>
          <p:nvPr/>
        </p:nvSpPr>
        <p:spPr>
          <a:xfrm>
            <a:off x="731520" y="1165860"/>
            <a:ext cx="6492359"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Make the workshop reproducible</a:t>
            </a:r>
            <a:endParaRPr lang="en-US" sz="3420" dirty="0"/>
          </a:p>
        </p:txBody>
      </p:sp>
      <p:sp>
        <p:nvSpPr>
          <p:cNvPr id="4" name="Diagram shape"/>
          <p:cNvSpPr/>
          <p:nvPr/>
        </p:nvSpPr>
        <p:spPr>
          <a:xfrm>
            <a:off x="1295400" y="2428994"/>
            <a:ext cx="3078480" cy="2514600"/>
          </a:xfrm>
          <a:prstGeom prst="roundRect">
            <a:avLst>
              <a:gd name="adj" fmla="val 3636"/>
            </a:avLst>
          </a:prstGeom>
          <a:solidFill>
            <a:srgbClr val="E9F6F2"/>
          </a:solidFill>
          <a:ln w="12700">
            <a:solidFill>
              <a:srgbClr val="FFFFFF">
                <a:alpha val="0"/>
              </a:srgbClr>
            </a:solidFill>
            <a:prstDash val="solid"/>
          </a:ln>
        </p:spPr>
      </p:sp>
      <p:sp>
        <p:nvSpPr>
          <p:cNvPr id="5" name="text: Environment"/>
          <p:cNvSpPr txBox="1"/>
          <p:nvPr/>
        </p:nvSpPr>
        <p:spPr>
          <a:xfrm>
            <a:off x="1508760" y="2642354"/>
            <a:ext cx="1426012"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Environment</a:t>
            </a:r>
            <a:endParaRPr lang="en-US" sz="1680" dirty="0"/>
          </a:p>
        </p:txBody>
      </p:sp>
      <p:sp>
        <p:nvSpPr>
          <p:cNvPr id="6" name="text: uv"/>
          <p:cNvSpPr txBox="1"/>
          <p:nvPr/>
        </p:nvSpPr>
        <p:spPr>
          <a:xfrm>
            <a:off x="1508760" y="3274814"/>
            <a:ext cx="655558"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uv</a:t>
            </a:r>
            <a:endParaRPr lang="en-US" sz="3600" dirty="0"/>
          </a:p>
        </p:txBody>
      </p:sp>
      <p:sp>
        <p:nvSpPr>
          <p:cNvPr id="7" name="text: One external project file"/>
          <p:cNvSpPr txBox="1"/>
          <p:nvPr/>
        </p:nvSpPr>
        <p:spPr>
          <a:xfrm>
            <a:off x="1508760" y="4318754"/>
            <a:ext cx="2053352"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One external project file</a:t>
            </a:r>
            <a:endParaRPr lang="en-US" sz="1440" dirty="0"/>
          </a:p>
        </p:txBody>
      </p:sp>
      <p:sp>
        <p:nvSpPr>
          <p:cNvPr id="8" name="Diagram shape"/>
          <p:cNvSpPr/>
          <p:nvPr/>
        </p:nvSpPr>
        <p:spPr>
          <a:xfrm>
            <a:off x="4556760" y="2428994"/>
            <a:ext cx="3078480" cy="2514600"/>
          </a:xfrm>
          <a:prstGeom prst="roundRect">
            <a:avLst>
              <a:gd name="adj" fmla="val 3636"/>
            </a:avLst>
          </a:prstGeom>
          <a:solidFill>
            <a:srgbClr val="FFF0EB"/>
          </a:solidFill>
          <a:ln w="12700">
            <a:solidFill>
              <a:srgbClr val="FFFFFF">
                <a:alpha val="0"/>
              </a:srgbClr>
            </a:solidFill>
            <a:prstDash val="solid"/>
          </a:ln>
        </p:spPr>
      </p:sp>
      <p:sp>
        <p:nvSpPr>
          <p:cNvPr id="9" name="text: Credentials"/>
          <p:cNvSpPr txBox="1"/>
          <p:nvPr/>
        </p:nvSpPr>
        <p:spPr>
          <a:xfrm>
            <a:off x="4770120" y="2642354"/>
            <a:ext cx="1283970"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Credentials</a:t>
            </a:r>
            <a:endParaRPr lang="en-US" sz="1680" dirty="0"/>
          </a:p>
        </p:txBody>
      </p:sp>
      <p:sp>
        <p:nvSpPr>
          <p:cNvPr id="10" name="text: .env"/>
          <p:cNvSpPr txBox="1"/>
          <p:nvPr/>
        </p:nvSpPr>
        <p:spPr>
          <a:xfrm>
            <a:off x="4770120" y="3274814"/>
            <a:ext cx="1036796"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BF4938"/>
                </a:solidFill>
                <a:latin typeface="Arial" pitchFamily="34" charset="0"/>
                <a:ea typeface="Arial" pitchFamily="34" charset="-122"/>
                <a:cs typeface="Arial" pitchFamily="34" charset="-120"/>
              </a:rPr>
              <a:t>.env</a:t>
            </a:r>
            <a:endParaRPr lang="en-US" sz="3600" dirty="0"/>
          </a:p>
        </p:txBody>
      </p:sp>
      <p:sp>
        <p:nvSpPr>
          <p:cNvPr id="11" name="text: Load only when needed"/>
          <p:cNvSpPr txBox="1"/>
          <p:nvPr/>
        </p:nvSpPr>
        <p:spPr>
          <a:xfrm>
            <a:off x="4770120" y="4318754"/>
            <a:ext cx="2064187"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Load only when needed</a:t>
            </a:r>
            <a:endParaRPr lang="en-US" sz="1440" dirty="0"/>
          </a:p>
        </p:txBody>
      </p:sp>
      <p:sp>
        <p:nvSpPr>
          <p:cNvPr id="12" name="Diagram shape"/>
          <p:cNvSpPr/>
          <p:nvPr/>
        </p:nvSpPr>
        <p:spPr>
          <a:xfrm>
            <a:off x="7818120" y="2428994"/>
            <a:ext cx="3078480" cy="2514600"/>
          </a:xfrm>
          <a:prstGeom prst="roundRect">
            <a:avLst>
              <a:gd name="adj" fmla="val 3636"/>
            </a:avLst>
          </a:prstGeom>
          <a:solidFill>
            <a:srgbClr val="E9F6F2"/>
          </a:solidFill>
          <a:ln w="12700">
            <a:solidFill>
              <a:srgbClr val="FFFFFF">
                <a:alpha val="0"/>
              </a:srgbClr>
            </a:solidFill>
            <a:prstDash val="solid"/>
          </a:ln>
        </p:spPr>
      </p:sp>
      <p:sp>
        <p:nvSpPr>
          <p:cNvPr id="13" name="text: First run"/>
          <p:cNvSpPr txBox="1"/>
          <p:nvPr/>
        </p:nvSpPr>
        <p:spPr>
          <a:xfrm>
            <a:off x="8031480" y="2642354"/>
            <a:ext cx="987266"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First run</a:t>
            </a:r>
            <a:endParaRPr lang="en-US" sz="1680" dirty="0"/>
          </a:p>
        </p:txBody>
      </p:sp>
      <p:sp>
        <p:nvSpPr>
          <p:cNvPr id="14" name="text: Local"/>
          <p:cNvSpPr txBox="1"/>
          <p:nvPr/>
        </p:nvSpPr>
        <p:spPr>
          <a:xfrm>
            <a:off x="8031480" y="3274814"/>
            <a:ext cx="1316117"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Local</a:t>
            </a:r>
            <a:endParaRPr lang="en-US" sz="3600" dirty="0"/>
          </a:p>
        </p:txBody>
      </p:sp>
      <p:sp>
        <p:nvSpPr>
          <p:cNvPr id="15" name="text: Fixture mode needs no key"/>
          <p:cNvSpPr txBox="1"/>
          <p:nvPr/>
        </p:nvSpPr>
        <p:spPr>
          <a:xfrm>
            <a:off x="8031480" y="4318754"/>
            <a:ext cx="2327910"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Fixture mode needs no key</a:t>
            </a:r>
            <a:endParaRPr lang="en-US" sz="1440" dirty="0"/>
          </a:p>
        </p:txBody>
      </p:sp>
      <p:sp>
        <p:nvSpPr>
          <p:cNvPr id="16" name="P: uv sync → uv run jupyter lab"/>
          <p:cNvSpPr txBox="1"/>
          <p:nvPr/>
        </p:nvSpPr>
        <p:spPr>
          <a:xfrm>
            <a:off x="731520" y="5648444"/>
            <a:ext cx="2525435"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uv sync → uv run jupyter lab</a:t>
            </a:r>
            <a:endParaRPr lang="en-US" sz="1500"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08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08 / 42</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P: 01 · FOUNDATIONS"/>
          <p:cNvSpPr txBox="1"/>
          <p:nvPr/>
        </p:nvSpPr>
        <p:spPr>
          <a:xfrm>
            <a:off x="731520" y="822960"/>
            <a:ext cx="1671042"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01 · FOUNDATIONS</a:t>
            </a:r>
            <a:endParaRPr lang="en-US" sz="1140" dirty="0"/>
          </a:p>
        </p:txBody>
      </p:sp>
      <p:sp>
        <p:nvSpPr>
          <p:cNvPr id="3" name="H1: Keep the route back to evidence"/>
          <p:cNvSpPr txBox="1"/>
          <p:nvPr/>
        </p:nvSpPr>
        <p:spPr>
          <a:xfrm>
            <a:off x="731520" y="1165860"/>
            <a:ext cx="6358652"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Keep the route back to evidence</a:t>
            </a:r>
            <a:endParaRPr lang="en-US" sz="3420" dirty="0"/>
          </a:p>
        </p:txBody>
      </p:sp>
      <p:sp>
        <p:nvSpPr>
          <p:cNvPr id="4" name="P: Every vector needs an identifiable"/>
          <p:cNvSpPr txBox="1"/>
          <p:nvPr/>
        </p:nvSpPr>
        <p:spPr>
          <a:xfrm>
            <a:off x="731520" y="3302675"/>
            <a:ext cx="3667363"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Every vector needs an identifiable</a:t>
            </a:r>
            <a:endParaRPr lang="en-US" sz="1860" dirty="0"/>
          </a:p>
        </p:txBody>
      </p:sp>
      <p:sp>
        <p:nvSpPr>
          <p:cNvPr id="5" name="P: source."/>
          <p:cNvSpPr txBox="1"/>
          <p:nvPr/>
        </p:nvSpPr>
        <p:spPr>
          <a:xfrm>
            <a:off x="731520" y="3621524"/>
            <a:ext cx="896660"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source.</a:t>
            </a:r>
            <a:endParaRPr lang="en-US" sz="1860" dirty="0"/>
          </a:p>
        </p:txBody>
      </p:sp>
      <p:sp>
        <p:nvSpPr>
          <p:cNvPr id="6" name="Diagram shape"/>
          <p:cNvSpPr/>
          <p:nvPr/>
        </p:nvSpPr>
        <p:spPr>
          <a:xfrm>
            <a:off x="5816918" y="2257544"/>
            <a:ext cx="4876800" cy="2438400"/>
          </a:xfrm>
          <a:prstGeom prst="roundRect">
            <a:avLst>
              <a:gd name="adj" fmla="val 3125"/>
            </a:avLst>
          </a:prstGeom>
          <a:solidFill>
            <a:srgbClr val="E9F6F2"/>
          </a:solidFill>
          <a:ln w="12700">
            <a:solidFill>
              <a:srgbClr val="FFFFFF">
                <a:alpha val="0"/>
              </a:srgbClr>
            </a:solidFill>
            <a:prstDash val="solid"/>
          </a:ln>
        </p:spPr>
      </p:sp>
      <p:sp>
        <p:nvSpPr>
          <p:cNvPr id="7" name="text: A searchable record"/>
          <p:cNvSpPr txBox="1"/>
          <p:nvPr/>
        </p:nvSpPr>
        <p:spPr>
          <a:xfrm>
            <a:off x="6045518" y="2486144"/>
            <a:ext cx="231159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A searchable record</a:t>
            </a:r>
            <a:endParaRPr lang="en-US" sz="1800" dirty="0"/>
          </a:p>
        </p:txBody>
      </p:sp>
      <p:sp>
        <p:nvSpPr>
          <p:cNvPr id="8" name="text: source_id: chart_energy"/>
          <p:cNvSpPr txBox="1"/>
          <p:nvPr/>
        </p:nvSpPr>
        <p:spPr>
          <a:xfrm>
            <a:off x="6045518" y="3141464"/>
            <a:ext cx="2329220"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202729"/>
                </a:solidFill>
                <a:latin typeface="Arial" pitchFamily="34" charset="0"/>
                <a:ea typeface="Arial" pitchFamily="34" charset="-122"/>
                <a:cs typeface="Arial" pitchFamily="34" charset="-120"/>
              </a:rPr>
              <a:t>source_id: chart_energy</a:t>
            </a:r>
            <a:endParaRPr lang="en-US" sz="1620" dirty="0"/>
          </a:p>
        </p:txBody>
      </p:sp>
      <p:sp>
        <p:nvSpPr>
          <p:cNvPr id="9" name="text: representation: caption"/>
          <p:cNvSpPr txBox="1"/>
          <p:nvPr/>
        </p:nvSpPr>
        <p:spPr>
          <a:xfrm>
            <a:off x="6045518" y="3522464"/>
            <a:ext cx="2215039"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202729"/>
                </a:solidFill>
                <a:latin typeface="Arial" pitchFamily="34" charset="0"/>
                <a:ea typeface="Arial" pitchFamily="34" charset="-122"/>
                <a:cs typeface="Arial" pitchFamily="34" charset="-120"/>
              </a:rPr>
              <a:t>representation: caption</a:t>
            </a:r>
            <a:endParaRPr lang="en-US" sz="1620" dirty="0"/>
          </a:p>
        </p:txBody>
      </p:sp>
      <p:sp>
        <p:nvSpPr>
          <p:cNvPr id="10" name="text: source_path: original pixels"/>
          <p:cNvSpPr txBox="1"/>
          <p:nvPr/>
        </p:nvSpPr>
        <p:spPr>
          <a:xfrm>
            <a:off x="6045518" y="3903464"/>
            <a:ext cx="2615208"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202729"/>
                </a:solidFill>
                <a:latin typeface="Arial" pitchFamily="34" charset="0"/>
                <a:ea typeface="Arial" pitchFamily="34" charset="-122"/>
                <a:cs typeface="Arial" pitchFamily="34" charset="-120"/>
              </a:rPr>
              <a:t>source_path: original pixels</a:t>
            </a:r>
            <a:endParaRPr lang="en-US" sz="1620" dirty="0"/>
          </a:p>
        </p:txBody>
      </p:sp>
      <p:sp>
        <p:nvSpPr>
          <p:cNvPr id="11" name="text: model + version + metadata"/>
          <p:cNvSpPr txBox="1"/>
          <p:nvPr/>
        </p:nvSpPr>
        <p:spPr>
          <a:xfrm>
            <a:off x="6045518" y="4284464"/>
            <a:ext cx="2672358"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202729"/>
                </a:solidFill>
                <a:latin typeface="Arial" pitchFamily="34" charset="0"/>
                <a:ea typeface="Arial" pitchFamily="34" charset="-122"/>
                <a:cs typeface="Arial" pitchFamily="34" charset="-120"/>
              </a:rPr>
              <a:t>model + version + metadata</a:t>
            </a:r>
            <a:endParaRPr lang="en-US" sz="1620" dirty="0"/>
          </a:p>
        </p:txBody>
      </p:sp>
      <p:sp>
        <p:nvSpPr>
          <p:cNvPr id="12" name="text: Representation ID ≠ source ID"/>
          <p:cNvSpPr txBox="1"/>
          <p:nvPr/>
        </p:nvSpPr>
        <p:spPr>
          <a:xfrm>
            <a:off x="5893118" y="4993124"/>
            <a:ext cx="3263979" cy="304800"/>
          </a:xfrm>
          <a:prstGeom prst="rect">
            <a:avLst/>
          </a:prstGeom>
          <a:noFill/>
          <a:ln/>
        </p:spPr>
        <p:txBody>
          <a:bodyPr wrap="square" lIns="0" tIns="0" rIns="0" bIns="0" rtlCol="0" anchor="t"/>
          <a:lstStyle/>
          <a:p>
            <a:pPr indent="0" marL="0">
              <a:lnSpc>
                <a:spcPct val="100000"/>
              </a:lnSpc>
              <a:buNone/>
            </a:pPr>
            <a:r>
              <a:rPr lang="en-US" altLang="en-US" sz="1740" b="1" dirty="0">
                <a:solidFill>
                  <a:srgbClr val="BF4938"/>
                </a:solidFill>
                <a:latin typeface="Arial" pitchFamily="34" charset="0"/>
                <a:ea typeface="Arial" pitchFamily="34" charset="-122"/>
                <a:cs typeface="Arial" pitchFamily="34" charset="-120"/>
              </a:rPr>
              <a:t>Representation ID ≠ source ID</a:t>
            </a:r>
            <a:endParaRPr lang="en-US" sz="1740" dirty="0"/>
          </a:p>
        </p:txBody>
      </p:sp>
      <p:sp>
        <p:nvSpPr>
          <p:cNvPr id="13"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4" name="SPAN: 09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09 / 42</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P: 02 · DESCRIPTIONS"/>
          <p:cNvSpPr txBox="1"/>
          <p:nvPr/>
        </p:nvSpPr>
        <p:spPr>
          <a:xfrm>
            <a:off x="731520" y="822960"/>
            <a:ext cx="171914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02 · DESCRIPTIONS</a:t>
            </a:r>
            <a:endParaRPr lang="en-US" sz="1140" dirty="0"/>
          </a:p>
        </p:txBody>
      </p:sp>
      <p:sp>
        <p:nvSpPr>
          <p:cNvPr id="3" name="H1: A · Describe once, search words"/>
          <p:cNvSpPr txBox="1"/>
          <p:nvPr/>
        </p:nvSpPr>
        <p:spPr>
          <a:xfrm>
            <a:off x="731520" y="1165860"/>
            <a:ext cx="639127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A · Describe once, search words</a:t>
            </a:r>
            <a:endParaRPr lang="en-US" sz="3420" dirty="0"/>
          </a:p>
        </p:txBody>
      </p:sp>
      <p:sp>
        <p:nvSpPr>
          <p:cNvPr id="4" name="Diagram shape"/>
          <p:cNvSpPr/>
          <p:nvPr/>
        </p:nvSpPr>
        <p:spPr>
          <a:xfrm>
            <a:off x="129540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5" name="text: Image"/>
          <p:cNvSpPr txBox="1"/>
          <p:nvPr/>
        </p:nvSpPr>
        <p:spPr>
          <a:xfrm>
            <a:off x="1478280" y="3442454"/>
            <a:ext cx="782717"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Image</a:t>
            </a:r>
            <a:endParaRPr lang="en-US" sz="1800" dirty="0"/>
          </a:p>
        </p:txBody>
      </p:sp>
      <p:sp>
        <p:nvSpPr>
          <p:cNvPr id="6" name="Diagram connector"/>
          <p:cNvSpPr/>
          <p:nvPr/>
        </p:nvSpPr>
        <p:spPr>
          <a:xfrm>
            <a:off x="3425190" y="3568184"/>
            <a:ext cx="289560" cy="0"/>
          </a:xfrm>
          <a:prstGeom prst="line">
            <a:avLst/>
          </a:prstGeom>
          <a:noFill/>
          <a:ln w="22860">
            <a:solidFill>
              <a:srgbClr val="08796F"/>
            </a:solidFill>
            <a:prstDash val="solid"/>
            <a:tailEnd type="arrow"/>
          </a:ln>
        </p:spPr>
      </p:sp>
      <p:sp>
        <p:nvSpPr>
          <p:cNvPr id="7" name="Diagram shape"/>
          <p:cNvSpPr/>
          <p:nvPr/>
        </p:nvSpPr>
        <p:spPr>
          <a:xfrm>
            <a:off x="380619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8" name="text: Caption"/>
          <p:cNvSpPr txBox="1"/>
          <p:nvPr/>
        </p:nvSpPr>
        <p:spPr>
          <a:xfrm>
            <a:off x="3989070" y="3442454"/>
            <a:ext cx="972741"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Caption</a:t>
            </a:r>
            <a:endParaRPr lang="en-US" sz="1800" dirty="0"/>
          </a:p>
        </p:txBody>
      </p:sp>
      <p:sp>
        <p:nvSpPr>
          <p:cNvPr id="9" name="Diagram connector"/>
          <p:cNvSpPr/>
          <p:nvPr/>
        </p:nvSpPr>
        <p:spPr>
          <a:xfrm>
            <a:off x="5935980" y="3568184"/>
            <a:ext cx="289560" cy="0"/>
          </a:xfrm>
          <a:prstGeom prst="line">
            <a:avLst/>
          </a:prstGeom>
          <a:noFill/>
          <a:ln w="22860">
            <a:solidFill>
              <a:srgbClr val="08796F"/>
            </a:solidFill>
            <a:prstDash val="solid"/>
            <a:tailEnd type="arrow"/>
          </a:ln>
        </p:spPr>
      </p:sp>
      <p:sp>
        <p:nvSpPr>
          <p:cNvPr id="10" name="Diagram shape"/>
          <p:cNvSpPr/>
          <p:nvPr/>
        </p:nvSpPr>
        <p:spPr>
          <a:xfrm>
            <a:off x="631698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1" name="text: Text vectors"/>
          <p:cNvSpPr txBox="1"/>
          <p:nvPr/>
        </p:nvSpPr>
        <p:spPr>
          <a:xfrm>
            <a:off x="6499860" y="3442454"/>
            <a:ext cx="145184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Text vectors</a:t>
            </a:r>
            <a:endParaRPr lang="en-US" sz="1800" dirty="0"/>
          </a:p>
        </p:txBody>
      </p:sp>
      <p:sp>
        <p:nvSpPr>
          <p:cNvPr id="12" name="Diagram connector"/>
          <p:cNvSpPr/>
          <p:nvPr/>
        </p:nvSpPr>
        <p:spPr>
          <a:xfrm>
            <a:off x="8446770" y="3568184"/>
            <a:ext cx="289560" cy="0"/>
          </a:xfrm>
          <a:prstGeom prst="line">
            <a:avLst/>
          </a:prstGeom>
          <a:noFill/>
          <a:ln w="22860">
            <a:solidFill>
              <a:srgbClr val="08796F"/>
            </a:solidFill>
            <a:prstDash val="solid"/>
            <a:tailEnd type="arrow"/>
          </a:ln>
        </p:spPr>
      </p:sp>
      <p:sp>
        <p:nvSpPr>
          <p:cNvPr id="13" name="Diagram shape"/>
          <p:cNvSpPr/>
          <p:nvPr/>
        </p:nvSpPr>
        <p:spPr>
          <a:xfrm>
            <a:off x="882777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4" name="text: Search"/>
          <p:cNvSpPr txBox="1"/>
          <p:nvPr/>
        </p:nvSpPr>
        <p:spPr>
          <a:xfrm>
            <a:off x="9010650" y="3442454"/>
            <a:ext cx="88451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Search</a:t>
            </a:r>
            <a:endParaRPr lang="en-US" sz="1800" dirty="0"/>
          </a:p>
        </p:txBody>
      </p:sp>
      <p:sp>
        <p:nvSpPr>
          <p:cNvPr id="15" name="text: The question uses the same text encoder."/>
          <p:cNvSpPr txBox="1"/>
          <p:nvPr/>
        </p:nvSpPr>
        <p:spPr>
          <a:xfrm>
            <a:off x="1295400" y="4535924"/>
            <a:ext cx="4224933" cy="304800"/>
          </a:xfrm>
          <a:prstGeom prst="rect">
            <a:avLst/>
          </a:prstGeom>
          <a:noFill/>
          <a:ln/>
        </p:spPr>
        <p:txBody>
          <a:bodyPr wrap="square" lIns="0" tIns="0" rIns="0" bIns="0" rtlCol="0" anchor="t"/>
          <a:lstStyle/>
          <a:p>
            <a:pPr indent="0" marL="0">
              <a:lnSpc>
                <a:spcPct val="100000"/>
              </a:lnSpc>
              <a:buNone/>
            </a:pPr>
            <a:r>
              <a:rPr lang="en-US" altLang="en-US" sz="1740" dirty="0">
                <a:solidFill>
                  <a:srgbClr val="536164"/>
                </a:solidFill>
                <a:latin typeface="Arial" pitchFamily="34" charset="0"/>
                <a:ea typeface="Arial" pitchFamily="34" charset="-122"/>
                <a:cs typeface="Arial" pitchFamily="34" charset="-120"/>
              </a:rPr>
              <a:t>The question uses the same text encoder.</a:t>
            </a:r>
            <a:endParaRPr lang="en-US" sz="17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10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10 / 42</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P: 02 · DESCRIPTIONS"/>
          <p:cNvSpPr txBox="1"/>
          <p:nvPr/>
        </p:nvSpPr>
        <p:spPr>
          <a:xfrm>
            <a:off x="731520" y="822960"/>
            <a:ext cx="171914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02 · DESCRIPTIONS</a:t>
            </a:r>
            <a:endParaRPr lang="en-US" sz="1140" dirty="0"/>
          </a:p>
        </p:txBody>
      </p:sp>
      <p:sp>
        <p:nvSpPr>
          <p:cNvPr id="3" name="H1: A caption decides what survives"/>
          <p:cNvSpPr txBox="1"/>
          <p:nvPr/>
        </p:nvSpPr>
        <p:spPr>
          <a:xfrm>
            <a:off x="731520" y="1165860"/>
            <a:ext cx="6391037"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A caption decides what survives</a:t>
            </a:r>
            <a:endParaRPr lang="en-US" sz="3420" dirty="0"/>
          </a:p>
        </p:txBody>
      </p:sp>
      <p:sp>
        <p:nvSpPr>
          <p:cNvPr id="4" name="P: “A monthly solar chart”"/>
          <p:cNvSpPr txBox="1"/>
          <p:nvPr/>
        </p:nvSpPr>
        <p:spPr>
          <a:xfrm>
            <a:off x="731520" y="3285411"/>
            <a:ext cx="3805714" cy="426720"/>
          </a:xfrm>
          <a:prstGeom prst="rect">
            <a:avLst/>
          </a:prstGeom>
          <a:noFill/>
          <a:ln/>
        </p:spPr>
        <p:txBody>
          <a:bodyPr wrap="square" lIns="0" tIns="0" rIns="0" bIns="0" rtlCol="0" anchor="t"/>
          <a:lstStyle/>
          <a:p>
            <a:pPr indent="0" marL="0">
              <a:lnSpc>
                <a:spcPct val="100000"/>
              </a:lnSpc>
              <a:buNone/>
            </a:pPr>
            <a:r>
              <a:rPr lang="en-US" altLang="en-US" sz="2580" b="1" dirty="0">
                <a:solidFill>
                  <a:srgbClr val="202729"/>
                </a:solidFill>
                <a:latin typeface="Arial" pitchFamily="34" charset="0"/>
                <a:ea typeface="Arial" pitchFamily="34" charset="-122"/>
                <a:cs typeface="Arial" pitchFamily="34" charset="-120"/>
              </a:rPr>
              <a:t>“A monthly solar chart”</a:t>
            </a:r>
            <a:endParaRPr lang="en-US" sz="2580" dirty="0"/>
          </a:p>
        </p:txBody>
      </p:sp>
      <p:sp>
        <p:nvSpPr>
          <p:cNvPr id="5" name="P: Topic preserved. Values omitted."/>
          <p:cNvSpPr txBox="1"/>
          <p:nvPr/>
        </p:nvSpPr>
        <p:spPr>
          <a:xfrm>
            <a:off x="731520" y="3898463"/>
            <a:ext cx="2871430"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Topic preserved. Values omitted.</a:t>
            </a:r>
            <a:endParaRPr lang="en-US" sz="1500" dirty="0"/>
          </a:p>
        </p:txBody>
      </p:sp>
      <p:sp>
        <p:nvSpPr>
          <p:cNvPr id="6" name="text: Solar energy"/>
          <p:cNvSpPr txBox="1"/>
          <p:nvPr/>
        </p:nvSpPr>
        <p:spPr>
          <a:xfrm>
            <a:off x="5893118" y="2257544"/>
            <a:ext cx="1414582"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Solar energy</a:t>
            </a:r>
            <a:endParaRPr lang="en-US" sz="1680" dirty="0"/>
          </a:p>
        </p:txBody>
      </p:sp>
      <p:graphicFrame>
        <p:nvGraphicFramePr>
          <p:cNvPr id="7" name="Solar energy — editable data chart" descr="Solar energy in kilowatt-hours: April 42, May 57, June 51. Fictional teaching data."/>
          <p:cNvGraphicFramePr/>
          <p:nvPr/>
        </p:nvGraphicFramePr>
        <p:xfrm>
          <a:off x="6088698" y="2658356"/>
          <a:ext cx="3809999" cy="2494788"/>
        </p:xfrm>
        <a:graphic xmlns:a="http://schemas.openxmlformats.org/drawingml/2006/main">
          <a:graphicData uri="http://schemas.openxmlformats.org/drawingml/2006/chart">
            <c:chart xmlns:c="http://schemas.openxmlformats.org/drawingml/2006/chart" r:id="rId1"/>
          </a:graphicData>
        </a:graphic>
      </p:graphicFrame>
      <p:sp>
        <p:nvSpPr>
          <p:cNvPr id="8" name="Diagram connector"/>
          <p:cNvSpPr/>
          <p:nvPr/>
        </p:nvSpPr>
        <p:spPr>
          <a:xfrm>
            <a:off x="6159818" y="2714744"/>
            <a:ext cx="0" cy="2019300"/>
          </a:xfrm>
          <a:prstGeom prst="line">
            <a:avLst/>
          </a:prstGeom>
          <a:noFill/>
          <a:ln w="15240">
            <a:solidFill>
              <a:srgbClr val="C9D5D2"/>
            </a:solidFill>
            <a:prstDash val="solid"/>
          </a:ln>
        </p:spPr>
      </p:sp>
      <p:sp>
        <p:nvSpPr>
          <p:cNvPr id="9" name="Diagram connector"/>
          <p:cNvSpPr/>
          <p:nvPr/>
        </p:nvSpPr>
        <p:spPr>
          <a:xfrm>
            <a:off x="6159818" y="4734044"/>
            <a:ext cx="4381500" cy="0"/>
          </a:xfrm>
          <a:prstGeom prst="line">
            <a:avLst/>
          </a:prstGeom>
          <a:noFill/>
          <a:ln w="15240">
            <a:solidFill>
              <a:srgbClr val="C9D5D2"/>
            </a:solidFill>
            <a:prstDash val="solid"/>
          </a:ln>
        </p:spPr>
      </p:sp>
      <p:sp>
        <p:nvSpPr>
          <p:cNvPr id="10" name="text: kWh"/>
          <p:cNvSpPr txBox="1"/>
          <p:nvPr/>
        </p:nvSpPr>
        <p:spPr>
          <a:xfrm>
            <a:off x="5694998" y="2638544"/>
            <a:ext cx="426720" cy="228600"/>
          </a:xfrm>
          <a:prstGeom prst="rect">
            <a:avLst/>
          </a:prstGeom>
          <a:noFill/>
          <a:ln/>
        </p:spPr>
        <p:txBody>
          <a:bodyPr wrap="square" lIns="0" tIns="0" rIns="0" bIns="0" rtlCol="0" anchor="t"/>
          <a:lstStyle/>
          <a:p>
            <a:pPr indent="0" marL="0">
              <a:lnSpc>
                <a:spcPct val="100000"/>
              </a:lnSpc>
              <a:buNone/>
            </a:pPr>
            <a:r>
              <a:rPr lang="en-US" altLang="en-US" sz="1200" dirty="0">
                <a:solidFill>
                  <a:srgbClr val="536164"/>
                </a:solidFill>
                <a:latin typeface="Arial" pitchFamily="34" charset="0"/>
                <a:ea typeface="Arial" pitchFamily="34" charset="-122"/>
                <a:cs typeface="Arial" pitchFamily="34" charset="-120"/>
              </a:rPr>
              <a:t>kWh</a:t>
            </a:r>
            <a:endParaRPr lang="en-US" sz="1200" dirty="0"/>
          </a:p>
        </p:txBody>
      </p:sp>
      <p:sp>
        <p:nvSpPr>
          <p:cNvPr id="11"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2" name="SPAN: 11 / 42"/>
          <p:cNvSpPr txBox="1"/>
          <p:nvPr/>
        </p:nvSpPr>
        <p:spPr>
          <a:xfrm>
            <a:off x="11051143" y="6469380"/>
            <a:ext cx="53125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11 / 42</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P: 02 · DESCRIPTIONS"/>
          <p:cNvSpPr txBox="1"/>
          <p:nvPr/>
        </p:nvSpPr>
        <p:spPr>
          <a:xfrm>
            <a:off x="731520" y="822960"/>
            <a:ext cx="171914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02 · DESCRIPTIONS</a:t>
            </a:r>
            <a:endParaRPr lang="en-US" sz="1140" dirty="0"/>
          </a:p>
        </p:txBody>
      </p:sp>
      <p:sp>
        <p:nvSpPr>
          <p:cNvPr id="3" name="H1: Valid JSON can still be wrong"/>
          <p:cNvSpPr txBox="1"/>
          <p:nvPr/>
        </p:nvSpPr>
        <p:spPr>
          <a:xfrm>
            <a:off x="731520" y="1165860"/>
            <a:ext cx="5830610"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Valid JSON can still be wrong</a:t>
            </a:r>
            <a:endParaRPr lang="en-US" sz="3420" dirty="0"/>
          </a:p>
        </p:txBody>
      </p:sp>
      <p:sp>
        <p:nvSpPr>
          <p:cNvPr id="4" name="Diagram shape"/>
          <p:cNvSpPr/>
          <p:nvPr/>
        </p:nvSpPr>
        <p:spPr>
          <a:xfrm>
            <a:off x="129540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5" name="text: Shape"/>
          <p:cNvSpPr txBox="1"/>
          <p:nvPr/>
        </p:nvSpPr>
        <p:spPr>
          <a:xfrm>
            <a:off x="1508760" y="2585204"/>
            <a:ext cx="762238"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Shape</a:t>
            </a:r>
            <a:endParaRPr lang="en-US" sz="1680" dirty="0"/>
          </a:p>
        </p:txBody>
      </p:sp>
      <p:sp>
        <p:nvSpPr>
          <p:cNvPr id="6" name="text: Schema"/>
          <p:cNvSpPr txBox="1"/>
          <p:nvPr/>
        </p:nvSpPr>
        <p:spPr>
          <a:xfrm>
            <a:off x="1508760" y="3217664"/>
            <a:ext cx="1875592"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Schema</a:t>
            </a:r>
            <a:endParaRPr lang="en-US" sz="3600" dirty="0"/>
          </a:p>
        </p:txBody>
      </p:sp>
      <p:sp>
        <p:nvSpPr>
          <p:cNvPr id="7" name="text: Are required fields present?"/>
          <p:cNvSpPr txBox="1"/>
          <p:nvPr/>
        </p:nvSpPr>
        <p:spPr>
          <a:xfrm>
            <a:off x="1508492" y="4261604"/>
            <a:ext cx="2368897"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Are required fields present?</a:t>
            </a:r>
            <a:endParaRPr lang="en-US" sz="1440" dirty="0"/>
          </a:p>
        </p:txBody>
      </p:sp>
      <p:sp>
        <p:nvSpPr>
          <p:cNvPr id="8" name="Diagram shape"/>
          <p:cNvSpPr/>
          <p:nvPr/>
        </p:nvSpPr>
        <p:spPr>
          <a:xfrm>
            <a:off x="4556760" y="2371844"/>
            <a:ext cx="3078480" cy="2514600"/>
          </a:xfrm>
          <a:prstGeom prst="roundRect">
            <a:avLst>
              <a:gd name="adj" fmla="val 3636"/>
            </a:avLst>
          </a:prstGeom>
          <a:solidFill>
            <a:srgbClr val="FFF0EB"/>
          </a:solidFill>
          <a:ln w="12700">
            <a:solidFill>
              <a:srgbClr val="FFFFFF">
                <a:alpha val="0"/>
              </a:srgbClr>
            </a:solidFill>
            <a:prstDash val="solid"/>
          </a:ln>
        </p:spPr>
      </p:sp>
      <p:sp>
        <p:nvSpPr>
          <p:cNvPr id="9" name="text: Grounding"/>
          <p:cNvSpPr txBox="1"/>
          <p:nvPr/>
        </p:nvSpPr>
        <p:spPr>
          <a:xfrm>
            <a:off x="4770120" y="2585204"/>
            <a:ext cx="1212175"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Grounding</a:t>
            </a:r>
            <a:endParaRPr lang="en-US" sz="1680" dirty="0"/>
          </a:p>
        </p:txBody>
      </p:sp>
      <p:sp>
        <p:nvSpPr>
          <p:cNvPr id="10" name="text: Pixels"/>
          <p:cNvSpPr txBox="1"/>
          <p:nvPr/>
        </p:nvSpPr>
        <p:spPr>
          <a:xfrm>
            <a:off x="4770120" y="3217664"/>
            <a:ext cx="1443752"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BF4938"/>
                </a:solidFill>
                <a:latin typeface="Arial" pitchFamily="34" charset="0"/>
                <a:ea typeface="Arial" pitchFamily="34" charset="-122"/>
                <a:cs typeface="Arial" pitchFamily="34" charset="-120"/>
              </a:rPr>
              <a:t>Pixels</a:t>
            </a:r>
            <a:endParaRPr lang="en-US" sz="3600" dirty="0"/>
          </a:p>
        </p:txBody>
      </p:sp>
      <p:sp>
        <p:nvSpPr>
          <p:cNvPr id="11" name="text: Do values match the source?"/>
          <p:cNvSpPr txBox="1"/>
          <p:nvPr/>
        </p:nvSpPr>
        <p:spPr>
          <a:xfrm>
            <a:off x="4770120" y="4261604"/>
            <a:ext cx="2490430"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Do values match the source?</a:t>
            </a:r>
            <a:endParaRPr lang="en-US" sz="1440" dirty="0"/>
          </a:p>
        </p:txBody>
      </p:sp>
      <p:sp>
        <p:nvSpPr>
          <p:cNvPr id="12" name="Diagram shape"/>
          <p:cNvSpPr/>
          <p:nvPr/>
        </p:nvSpPr>
        <p:spPr>
          <a:xfrm>
            <a:off x="781812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13" name="text: Uncertainty"/>
          <p:cNvSpPr txBox="1"/>
          <p:nvPr/>
        </p:nvSpPr>
        <p:spPr>
          <a:xfrm>
            <a:off x="8031480" y="2585204"/>
            <a:ext cx="1295757"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Uncertainty</a:t>
            </a:r>
            <a:endParaRPr lang="en-US" sz="1680" dirty="0"/>
          </a:p>
        </p:txBody>
      </p:sp>
      <p:sp>
        <p:nvSpPr>
          <p:cNvPr id="14" name="text: Review"/>
          <p:cNvSpPr txBox="1"/>
          <p:nvPr/>
        </p:nvSpPr>
        <p:spPr>
          <a:xfrm>
            <a:off x="8031480" y="3217664"/>
            <a:ext cx="1697593"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Review</a:t>
            </a:r>
            <a:endParaRPr lang="en-US" sz="3600" dirty="0"/>
          </a:p>
        </p:txBody>
      </p:sp>
      <p:sp>
        <p:nvSpPr>
          <p:cNvPr id="15" name="text: Can we verify the claim?"/>
          <p:cNvSpPr txBox="1"/>
          <p:nvPr/>
        </p:nvSpPr>
        <p:spPr>
          <a:xfrm>
            <a:off x="8031480" y="4261604"/>
            <a:ext cx="2114074"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Can we verify the claim?</a:t>
            </a:r>
            <a:endParaRPr lang="en-US" sz="14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12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12 / 42</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P: 02 · DESCRIPTIONS"/>
          <p:cNvSpPr txBox="1"/>
          <p:nvPr/>
        </p:nvSpPr>
        <p:spPr>
          <a:xfrm>
            <a:off x="731520" y="822960"/>
            <a:ext cx="171914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02 · DESCRIPTIONS</a:t>
            </a:r>
            <a:endParaRPr lang="en-US" sz="1140" dirty="0"/>
          </a:p>
        </p:txBody>
      </p:sp>
      <p:sp>
        <p:nvSpPr>
          <p:cNvPr id="3" name="H1: Store vectors; keep source metadata"/>
          <p:cNvSpPr txBox="1"/>
          <p:nvPr/>
        </p:nvSpPr>
        <p:spPr>
          <a:xfrm>
            <a:off x="731520" y="1165860"/>
            <a:ext cx="724602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Store vectors; keep source metadata</a:t>
            </a:r>
            <a:endParaRPr lang="en-US" sz="3420" dirty="0"/>
          </a:p>
        </p:txBody>
      </p:sp>
      <p:sp>
        <p:nvSpPr>
          <p:cNvPr id="4" name="Diagram shape"/>
          <p:cNvSpPr/>
          <p:nvPr/>
        </p:nvSpPr>
        <p:spPr>
          <a:xfrm>
            <a:off x="731520" y="2594253"/>
            <a:ext cx="5468183" cy="2222183"/>
          </a:xfrm>
          <a:prstGeom prst="roundRect">
            <a:avLst>
              <a:gd name="adj" fmla="val 3429"/>
            </a:avLst>
          </a:prstGeom>
          <a:solidFill>
            <a:srgbClr val="F2F6F4"/>
          </a:solidFill>
          <a:ln w="12700">
            <a:solidFill>
              <a:srgbClr val="FFFFFF">
                <a:alpha val="0"/>
              </a:srgbClr>
            </a:solidFill>
            <a:prstDash val="solid"/>
          </a:ln>
        </p:spPr>
      </p:sp>
      <p:sp>
        <p:nvSpPr>
          <p:cNvPr id="5" name="PRE: result = client.query_points("/>
          <p:cNvSpPr txBox="1"/>
          <p:nvPr/>
        </p:nvSpPr>
        <p:spPr>
          <a:xfrm>
            <a:off x="944880" y="2876193"/>
            <a:ext cx="317194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result = client.query_points(</a:t>
            </a:r>
            <a:endParaRPr lang="en-US" sz="1380" dirty="0"/>
          </a:p>
        </p:txBody>
      </p:sp>
      <p:sp>
        <p:nvSpPr>
          <p:cNvPr id="6" name="PRE:     collection_name=collection,"/>
          <p:cNvSpPr txBox="1"/>
          <p:nvPr/>
        </p:nvSpPr>
        <p:spPr>
          <a:xfrm>
            <a:off x="944880" y="3165277"/>
            <a:ext cx="3382328"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collection_name=collection,</a:t>
            </a:r>
            <a:endParaRPr lang="en-US" sz="1380" dirty="0"/>
          </a:p>
        </p:txBody>
      </p:sp>
      <p:sp>
        <p:nvSpPr>
          <p:cNvPr id="7" name="PRE:     query=query_vector.tolist(),"/>
          <p:cNvSpPr txBox="1"/>
          <p:nvPr/>
        </p:nvSpPr>
        <p:spPr>
          <a:xfrm>
            <a:off x="944880" y="3454360"/>
            <a:ext cx="348746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query=query_vector.tolist(),</a:t>
            </a:r>
            <a:endParaRPr lang="en-US" sz="1380" dirty="0"/>
          </a:p>
        </p:txBody>
      </p:sp>
      <p:sp>
        <p:nvSpPr>
          <p:cNvPr id="8" name="PRE:     limit=3,"/>
          <p:cNvSpPr txBox="1"/>
          <p:nvPr/>
        </p:nvSpPr>
        <p:spPr>
          <a:xfrm>
            <a:off x="944880" y="3743444"/>
            <a:ext cx="1384102"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limit=3,</a:t>
            </a:r>
            <a:endParaRPr lang="en-US" sz="1380" dirty="0"/>
          </a:p>
        </p:txBody>
      </p:sp>
      <p:sp>
        <p:nvSpPr>
          <p:cNvPr id="9" name="PRE:     with_payload=True,"/>
          <p:cNvSpPr txBox="1"/>
          <p:nvPr/>
        </p:nvSpPr>
        <p:spPr>
          <a:xfrm>
            <a:off x="944880" y="4032528"/>
            <a:ext cx="243578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with_payload=True,</a:t>
            </a:r>
            <a:endParaRPr lang="en-US" sz="1380" dirty="0"/>
          </a:p>
        </p:txBody>
      </p:sp>
      <p:sp>
        <p:nvSpPr>
          <p:cNvPr id="10" name="PRE: ).points"/>
          <p:cNvSpPr txBox="1"/>
          <p:nvPr/>
        </p:nvSpPr>
        <p:spPr>
          <a:xfrm>
            <a:off x="944880" y="4321612"/>
            <a:ext cx="96333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).points</a:t>
            </a:r>
            <a:endParaRPr lang="en-US" sz="1380" dirty="0"/>
          </a:p>
        </p:txBody>
      </p:sp>
      <p:sp>
        <p:nvSpPr>
          <p:cNvPr id="11" name="Diagram shape"/>
          <p:cNvSpPr/>
          <p:nvPr/>
        </p:nvSpPr>
        <p:spPr>
          <a:xfrm>
            <a:off x="6702334" y="2604524"/>
            <a:ext cx="4403042" cy="958727"/>
          </a:xfrm>
          <a:prstGeom prst="roundRect">
            <a:avLst>
              <a:gd name="adj" fmla="val 7407"/>
            </a:avLst>
          </a:prstGeom>
          <a:solidFill>
            <a:srgbClr val="E9F6F2"/>
          </a:solidFill>
          <a:ln w="12700">
            <a:solidFill>
              <a:srgbClr val="FFFFFF">
                <a:alpha val="0"/>
              </a:srgbClr>
            </a:solidFill>
            <a:prstDash val="solid"/>
          </a:ln>
        </p:spPr>
      </p:sp>
      <p:sp>
        <p:nvSpPr>
          <p:cNvPr id="12" name="text: Vector"/>
          <p:cNvSpPr txBox="1"/>
          <p:nvPr/>
        </p:nvSpPr>
        <p:spPr>
          <a:xfrm>
            <a:off x="6872670" y="2712294"/>
            <a:ext cx="775832"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Vector</a:t>
            </a:r>
            <a:endParaRPr lang="en-US" sz="1678" dirty="0"/>
          </a:p>
        </p:txBody>
      </p:sp>
      <p:sp>
        <p:nvSpPr>
          <p:cNvPr id="13" name="text: Find nearby representations"/>
          <p:cNvSpPr txBox="1"/>
          <p:nvPr/>
        </p:nvSpPr>
        <p:spPr>
          <a:xfrm>
            <a:off x="6872774" y="3027878"/>
            <a:ext cx="2155269" cy="243840"/>
          </a:xfrm>
          <a:prstGeom prst="rect">
            <a:avLst/>
          </a:prstGeom>
          <a:noFill/>
          <a:ln/>
        </p:spPr>
        <p:txBody>
          <a:bodyPr wrap="square" lIns="0" tIns="0" rIns="0" bIns="0" rtlCol="0" anchor="t"/>
          <a:lstStyle/>
          <a:p>
            <a:pPr indent="0" marL="0">
              <a:lnSpc>
                <a:spcPct val="100000"/>
              </a:lnSpc>
              <a:buNone/>
            </a:pPr>
            <a:r>
              <a:rPr lang="en-US" altLang="en-US" sz="1286" dirty="0">
                <a:solidFill>
                  <a:srgbClr val="536164"/>
                </a:solidFill>
                <a:latin typeface="Arial" pitchFamily="34" charset="0"/>
                <a:ea typeface="Arial" pitchFamily="34" charset="-122"/>
                <a:cs typeface="Arial" pitchFamily="34" charset="-120"/>
              </a:rPr>
              <a:t>Find nearby representations</a:t>
            </a:r>
            <a:endParaRPr lang="en-US" sz="1286" dirty="0"/>
          </a:p>
        </p:txBody>
      </p:sp>
      <p:sp>
        <p:nvSpPr>
          <p:cNvPr id="14" name="Diagram shape"/>
          <p:cNvSpPr/>
          <p:nvPr/>
        </p:nvSpPr>
        <p:spPr>
          <a:xfrm>
            <a:off x="6702334" y="3847318"/>
            <a:ext cx="4403042" cy="958727"/>
          </a:xfrm>
          <a:prstGeom prst="roundRect">
            <a:avLst>
              <a:gd name="adj" fmla="val 7407"/>
            </a:avLst>
          </a:prstGeom>
          <a:solidFill>
            <a:srgbClr val="FFF0EB"/>
          </a:solidFill>
          <a:ln w="12700">
            <a:solidFill>
              <a:srgbClr val="FFFFFF">
                <a:alpha val="0"/>
              </a:srgbClr>
            </a:solidFill>
            <a:prstDash val="solid"/>
          </a:ln>
        </p:spPr>
      </p:sp>
      <p:sp>
        <p:nvSpPr>
          <p:cNvPr id="15" name="text: Payload"/>
          <p:cNvSpPr txBox="1"/>
          <p:nvPr/>
        </p:nvSpPr>
        <p:spPr>
          <a:xfrm>
            <a:off x="6872774" y="3955089"/>
            <a:ext cx="938689"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Payload</a:t>
            </a:r>
            <a:endParaRPr lang="en-US" sz="1678" dirty="0"/>
          </a:p>
        </p:txBody>
      </p:sp>
      <p:sp>
        <p:nvSpPr>
          <p:cNvPr id="16" name="text: Find the original evidence"/>
          <p:cNvSpPr txBox="1"/>
          <p:nvPr/>
        </p:nvSpPr>
        <p:spPr>
          <a:xfrm>
            <a:off x="6872774" y="4270672"/>
            <a:ext cx="1982867" cy="243840"/>
          </a:xfrm>
          <a:prstGeom prst="rect">
            <a:avLst/>
          </a:prstGeom>
          <a:noFill/>
          <a:ln/>
        </p:spPr>
        <p:txBody>
          <a:bodyPr wrap="square" lIns="0" tIns="0" rIns="0" bIns="0" rtlCol="0" anchor="t"/>
          <a:lstStyle/>
          <a:p>
            <a:pPr indent="0" marL="0">
              <a:lnSpc>
                <a:spcPct val="100000"/>
              </a:lnSpc>
              <a:buNone/>
            </a:pPr>
            <a:r>
              <a:rPr lang="en-US" altLang="en-US" sz="1286" dirty="0">
                <a:solidFill>
                  <a:srgbClr val="536164"/>
                </a:solidFill>
                <a:latin typeface="Arial" pitchFamily="34" charset="0"/>
                <a:ea typeface="Arial" pitchFamily="34" charset="-122"/>
                <a:cs typeface="Arial" pitchFamily="34" charset="-120"/>
              </a:rPr>
              <a:t>Find the original evidence</a:t>
            </a:r>
            <a:endParaRPr lang="en-US" sz="1286"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13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13 / 42</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P: 02 · DESCRIPTIONS"/>
          <p:cNvSpPr txBox="1"/>
          <p:nvPr/>
        </p:nvSpPr>
        <p:spPr>
          <a:xfrm>
            <a:off x="731520" y="822960"/>
            <a:ext cx="171914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02 · DESCRIPTIONS</a:t>
            </a:r>
            <a:endParaRPr lang="en-US" sz="1140" dirty="0"/>
          </a:p>
        </p:txBody>
      </p:sp>
      <p:sp>
        <p:nvSpPr>
          <p:cNvPr id="3" name="H1: Predict where descriptions will fail"/>
          <p:cNvSpPr txBox="1"/>
          <p:nvPr/>
        </p:nvSpPr>
        <p:spPr>
          <a:xfrm>
            <a:off x="731520" y="1165860"/>
            <a:ext cx="6748582"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Predict where descriptions will fail</a:t>
            </a:r>
            <a:endParaRPr lang="en-US" sz="3420" dirty="0"/>
          </a:p>
        </p:txBody>
      </p:sp>
      <p:sp>
        <p:nvSpPr>
          <p:cNvPr id="4" name="Diagram shape"/>
          <p:cNvSpPr/>
          <p:nvPr/>
        </p:nvSpPr>
        <p:spPr>
          <a:xfrm>
            <a:off x="1371600" y="2562344"/>
            <a:ext cx="4381500" cy="2019300"/>
          </a:xfrm>
          <a:prstGeom prst="roundRect">
            <a:avLst>
              <a:gd name="adj" fmla="val 3774"/>
            </a:avLst>
          </a:prstGeom>
          <a:solidFill>
            <a:srgbClr val="E9F6F2"/>
          </a:solidFill>
          <a:ln w="12700">
            <a:solidFill>
              <a:srgbClr val="FFFFFF">
                <a:alpha val="0"/>
              </a:srgbClr>
            </a:solidFill>
            <a:prstDash val="solid"/>
          </a:ln>
        </p:spPr>
      </p:sp>
      <p:sp>
        <p:nvSpPr>
          <p:cNvPr id="5" name="text: Likely useful"/>
          <p:cNvSpPr txBox="1"/>
          <p:nvPr/>
        </p:nvSpPr>
        <p:spPr>
          <a:xfrm>
            <a:off x="1554480" y="2676644"/>
            <a:ext cx="1506736"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Likely useful</a:t>
            </a:r>
            <a:endParaRPr lang="en-US" sz="1800" dirty="0"/>
          </a:p>
        </p:txBody>
      </p:sp>
      <p:sp>
        <p:nvSpPr>
          <p:cNvPr id="6" name="text: Find the ventilation warning"/>
          <p:cNvSpPr txBox="1"/>
          <p:nvPr/>
        </p:nvSpPr>
        <p:spPr>
          <a:xfrm>
            <a:off x="1554480" y="3011924"/>
            <a:ext cx="225552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Find the ventilation warning</a:t>
            </a:r>
            <a:endParaRPr lang="en-US" sz="1380" dirty="0"/>
          </a:p>
        </p:txBody>
      </p:sp>
      <p:sp>
        <p:nvSpPr>
          <p:cNvPr id="7" name="Diagram shape"/>
          <p:cNvSpPr/>
          <p:nvPr/>
        </p:nvSpPr>
        <p:spPr>
          <a:xfrm>
            <a:off x="6515100" y="2562344"/>
            <a:ext cx="4381500" cy="2019300"/>
          </a:xfrm>
          <a:prstGeom prst="roundRect">
            <a:avLst>
              <a:gd name="adj" fmla="val 3774"/>
            </a:avLst>
          </a:prstGeom>
          <a:solidFill>
            <a:srgbClr val="FFF0EB"/>
          </a:solidFill>
          <a:ln w="12700">
            <a:solidFill>
              <a:srgbClr val="FFFFFF">
                <a:alpha val="0"/>
              </a:srgbClr>
            </a:solidFill>
            <a:prstDash val="solid"/>
          </a:ln>
        </p:spPr>
      </p:sp>
      <p:sp>
        <p:nvSpPr>
          <p:cNvPr id="8" name="text: Needs more evidence"/>
          <p:cNvSpPr txBox="1"/>
          <p:nvPr/>
        </p:nvSpPr>
        <p:spPr>
          <a:xfrm>
            <a:off x="6697980" y="2676644"/>
            <a:ext cx="2472571"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Needs more evidence</a:t>
            </a:r>
            <a:endParaRPr lang="en-US" sz="1800" dirty="0"/>
          </a:p>
        </p:txBody>
      </p:sp>
      <p:sp>
        <p:nvSpPr>
          <p:cNvPr id="9" name="text: Read a tiny controller code"/>
          <p:cNvSpPr txBox="1"/>
          <p:nvPr/>
        </p:nvSpPr>
        <p:spPr>
          <a:xfrm>
            <a:off x="6697980" y="3011924"/>
            <a:ext cx="220682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Read a tiny controller code</a:t>
            </a:r>
            <a:endParaRPr lang="en-US" sz="1380" dirty="0"/>
          </a:p>
        </p:txBody>
      </p:sp>
      <p:sp>
        <p:nvSpPr>
          <p:cNvPr id="10" name="text: Meaning appears in the caption"/>
          <p:cNvSpPr txBox="1"/>
          <p:nvPr/>
        </p:nvSpPr>
        <p:spPr>
          <a:xfrm>
            <a:off x="1562100" y="4033004"/>
            <a:ext cx="2886551"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08796F"/>
                </a:solidFill>
                <a:latin typeface="Arial" pitchFamily="34" charset="0"/>
                <a:ea typeface="Arial" pitchFamily="34" charset="-122"/>
                <a:cs typeface="Arial" pitchFamily="34" charset="-120"/>
              </a:rPr>
              <a:t>Meaning appears in the caption</a:t>
            </a:r>
            <a:endParaRPr lang="en-US" sz="1560" dirty="0"/>
          </a:p>
        </p:txBody>
      </p:sp>
      <p:sp>
        <p:nvSpPr>
          <p:cNvPr id="11" name="text: Check E17 against the pixels"/>
          <p:cNvSpPr txBox="1"/>
          <p:nvPr/>
        </p:nvSpPr>
        <p:spPr>
          <a:xfrm>
            <a:off x="6705600" y="4033004"/>
            <a:ext cx="2677001"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BF4938"/>
                </a:solidFill>
                <a:latin typeface="Arial" pitchFamily="34" charset="0"/>
                <a:ea typeface="Arial" pitchFamily="34" charset="-122"/>
                <a:cs typeface="Arial" pitchFamily="34" charset="-120"/>
              </a:rPr>
              <a:t>Check E17 against the pixels</a:t>
            </a:r>
            <a:endParaRPr lang="en-US" sz="156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14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14 / 42</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B · Put words beside pictures"/>
          <p:cNvSpPr txBox="1"/>
          <p:nvPr/>
        </p:nvSpPr>
        <p:spPr>
          <a:xfrm>
            <a:off x="731520" y="1165860"/>
            <a:ext cx="583025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B · Put words beside pictures</a:t>
            </a:r>
            <a:endParaRPr lang="en-US" sz="3420" dirty="0"/>
          </a:p>
        </p:txBody>
      </p:sp>
      <p:sp>
        <p:nvSpPr>
          <p:cNvPr id="4" name="P: Paired encoders learn compatible"/>
          <p:cNvSpPr txBox="1"/>
          <p:nvPr/>
        </p:nvSpPr>
        <p:spPr>
          <a:xfrm>
            <a:off x="731520" y="3174087"/>
            <a:ext cx="3641050"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Paired encoders learn compatible</a:t>
            </a:r>
            <a:endParaRPr lang="en-US" sz="1860" dirty="0"/>
          </a:p>
        </p:txBody>
      </p:sp>
      <p:sp>
        <p:nvSpPr>
          <p:cNvPr id="5" name="P: coordinates."/>
          <p:cNvSpPr txBox="1"/>
          <p:nvPr/>
        </p:nvSpPr>
        <p:spPr>
          <a:xfrm>
            <a:off x="731520" y="3492937"/>
            <a:ext cx="1408867"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coordinates.</a:t>
            </a:r>
            <a:endParaRPr lang="en-US" sz="1860" dirty="0"/>
          </a:p>
        </p:txBody>
      </p:sp>
      <p:sp>
        <p:nvSpPr>
          <p:cNvPr id="6" name="P: Offline color exercise ≠ pretrained CLIP."/>
          <p:cNvSpPr txBox="1"/>
          <p:nvPr/>
        </p:nvSpPr>
        <p:spPr>
          <a:xfrm>
            <a:off x="731520" y="4017526"/>
            <a:ext cx="3470196"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Offline color exercise ≠ pretrained CLIP.</a:t>
            </a:r>
            <a:endParaRPr lang="en-US" sz="1500" dirty="0"/>
          </a:p>
        </p:txBody>
      </p:sp>
      <p:sp>
        <p:nvSpPr>
          <p:cNvPr id="7" name="Diagram connector"/>
          <p:cNvSpPr/>
          <p:nvPr/>
        </p:nvSpPr>
        <p:spPr>
          <a:xfrm>
            <a:off x="6083618" y="4657844"/>
            <a:ext cx="4457700" cy="0"/>
          </a:xfrm>
          <a:prstGeom prst="line">
            <a:avLst/>
          </a:prstGeom>
          <a:noFill/>
          <a:ln w="22860">
            <a:solidFill>
              <a:srgbClr val="C9D5D2"/>
            </a:solidFill>
            <a:prstDash val="solid"/>
          </a:ln>
        </p:spPr>
      </p:sp>
      <p:sp>
        <p:nvSpPr>
          <p:cNvPr id="8" name="Diagram connector"/>
          <p:cNvSpPr/>
          <p:nvPr/>
        </p:nvSpPr>
        <p:spPr>
          <a:xfrm flipV="1">
            <a:off x="6083618" y="2333744"/>
            <a:ext cx="0" cy="2324100"/>
          </a:xfrm>
          <a:prstGeom prst="line">
            <a:avLst/>
          </a:prstGeom>
          <a:noFill/>
          <a:ln w="22860">
            <a:solidFill>
              <a:srgbClr val="C9D5D2"/>
            </a:solidFill>
            <a:prstDash val="solid"/>
          </a:ln>
        </p:spPr>
      </p:sp>
      <p:sp>
        <p:nvSpPr>
          <p:cNvPr id="9" name="Diagram shape"/>
          <p:cNvSpPr/>
          <p:nvPr/>
        </p:nvSpPr>
        <p:spPr>
          <a:xfrm>
            <a:off x="6274118" y="2173724"/>
            <a:ext cx="137160" cy="137160"/>
          </a:xfrm>
          <a:prstGeom prst="rect">
            <a:avLst/>
          </a:prstGeom>
          <a:solidFill>
            <a:srgbClr val="08796F"/>
          </a:solidFill>
          <a:ln w="12700">
            <a:solidFill>
              <a:srgbClr val="FFFFFF">
                <a:alpha val="0"/>
              </a:srgbClr>
            </a:solidFill>
            <a:prstDash val="solid"/>
          </a:ln>
        </p:spPr>
      </p:sp>
      <p:sp>
        <p:nvSpPr>
          <p:cNvPr id="10" name="Diagram point"/>
          <p:cNvSpPr/>
          <p:nvPr/>
        </p:nvSpPr>
        <p:spPr>
          <a:xfrm>
            <a:off x="7455217" y="2173724"/>
            <a:ext cx="137160" cy="137160"/>
          </a:xfrm>
          <a:prstGeom prst="ellipse">
            <a:avLst/>
          </a:prstGeom>
          <a:solidFill>
            <a:srgbClr val="BF4938"/>
          </a:solidFill>
          <a:ln w="12700">
            <a:solidFill>
              <a:srgbClr val="FFFFFF">
                <a:alpha val="0"/>
              </a:srgbClr>
            </a:solidFill>
            <a:prstDash val="solid"/>
          </a:ln>
        </p:spPr>
      </p:sp>
      <p:sp>
        <p:nvSpPr>
          <p:cNvPr id="11" name="text: image"/>
          <p:cNvSpPr txBox="1"/>
          <p:nvPr/>
        </p:nvSpPr>
        <p:spPr>
          <a:xfrm>
            <a:off x="6517958" y="2143244"/>
            <a:ext cx="620078"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image</a:t>
            </a:r>
            <a:endParaRPr lang="en-US" sz="1440" dirty="0"/>
          </a:p>
        </p:txBody>
      </p:sp>
      <p:sp>
        <p:nvSpPr>
          <p:cNvPr id="12" name="text: text"/>
          <p:cNvSpPr txBox="1"/>
          <p:nvPr/>
        </p:nvSpPr>
        <p:spPr>
          <a:xfrm>
            <a:off x="7683817" y="2143244"/>
            <a:ext cx="416719"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text</a:t>
            </a:r>
            <a:endParaRPr lang="en-US" sz="1440" dirty="0"/>
          </a:p>
        </p:txBody>
      </p:sp>
      <p:sp>
        <p:nvSpPr>
          <p:cNvPr id="13" name="Diagram shape"/>
          <p:cNvSpPr/>
          <p:nvPr/>
        </p:nvSpPr>
        <p:spPr>
          <a:xfrm>
            <a:off x="6716078" y="3956804"/>
            <a:ext cx="182880" cy="182880"/>
          </a:xfrm>
          <a:prstGeom prst="roundRect">
            <a:avLst>
              <a:gd name="adj" fmla="val 12500"/>
            </a:avLst>
          </a:prstGeom>
          <a:solidFill>
            <a:srgbClr val="08796F"/>
          </a:solidFill>
          <a:ln w="12700">
            <a:solidFill>
              <a:srgbClr val="FFFFFF">
                <a:alpha val="0"/>
              </a:srgbClr>
            </a:solidFill>
            <a:prstDash val="solid"/>
          </a:ln>
        </p:spPr>
      </p:sp>
      <p:sp>
        <p:nvSpPr>
          <p:cNvPr id="14" name="Diagram point"/>
          <p:cNvSpPr/>
          <p:nvPr/>
        </p:nvSpPr>
        <p:spPr>
          <a:xfrm>
            <a:off x="7249478" y="3613904"/>
            <a:ext cx="182880" cy="182880"/>
          </a:xfrm>
          <a:prstGeom prst="ellipse">
            <a:avLst/>
          </a:prstGeom>
          <a:solidFill>
            <a:srgbClr val="BF4938"/>
          </a:solidFill>
          <a:ln w="12700">
            <a:solidFill>
              <a:srgbClr val="FFFFFF">
                <a:alpha val="0"/>
              </a:srgbClr>
            </a:solidFill>
            <a:prstDash val="solid"/>
          </a:ln>
        </p:spPr>
      </p:sp>
      <p:sp>
        <p:nvSpPr>
          <p:cNvPr id="15" name="Diagram shape"/>
          <p:cNvSpPr/>
          <p:nvPr/>
        </p:nvSpPr>
        <p:spPr>
          <a:xfrm>
            <a:off x="9154478" y="2813804"/>
            <a:ext cx="182880" cy="182880"/>
          </a:xfrm>
          <a:prstGeom prst="roundRect">
            <a:avLst>
              <a:gd name="adj" fmla="val 12500"/>
            </a:avLst>
          </a:prstGeom>
          <a:solidFill>
            <a:srgbClr val="08796F"/>
          </a:solidFill>
          <a:ln w="12700">
            <a:solidFill>
              <a:srgbClr val="FFFFFF">
                <a:alpha val="0"/>
              </a:srgbClr>
            </a:solidFill>
            <a:prstDash val="solid"/>
          </a:ln>
        </p:spPr>
      </p:sp>
      <p:sp>
        <p:nvSpPr>
          <p:cNvPr id="16" name="Diagram point"/>
          <p:cNvSpPr/>
          <p:nvPr/>
        </p:nvSpPr>
        <p:spPr>
          <a:xfrm>
            <a:off x="9497378" y="3194804"/>
            <a:ext cx="182880" cy="182880"/>
          </a:xfrm>
          <a:prstGeom prst="ellipse">
            <a:avLst/>
          </a:prstGeom>
          <a:solidFill>
            <a:srgbClr val="BF4938"/>
          </a:solidFill>
          <a:ln w="12700">
            <a:solidFill>
              <a:srgbClr val="FFFFFF">
                <a:alpha val="0"/>
              </a:srgbClr>
            </a:solidFill>
            <a:prstDash val="solid"/>
          </a:ln>
        </p:spPr>
      </p:sp>
      <p:sp>
        <p:nvSpPr>
          <p:cNvPr id="17" name="text: Illustrative projection; not model output"/>
          <p:cNvSpPr txBox="1"/>
          <p:nvPr/>
        </p:nvSpPr>
        <p:spPr>
          <a:xfrm>
            <a:off x="6236018" y="4909304"/>
            <a:ext cx="2992041" cy="251460"/>
          </a:xfrm>
          <a:prstGeom prst="rect">
            <a:avLst/>
          </a:prstGeom>
          <a:noFill/>
          <a:ln/>
        </p:spPr>
        <p:txBody>
          <a:bodyPr wrap="square" lIns="0" tIns="0" rIns="0" bIns="0" rtlCol="0" anchor="t"/>
          <a:lstStyle/>
          <a:p>
            <a:pPr indent="0" marL="0">
              <a:lnSpc>
                <a:spcPct val="100000"/>
              </a:lnSpc>
              <a:buNone/>
            </a:pPr>
            <a:r>
              <a:rPr lang="en-US" altLang="en-US" sz="1320" dirty="0">
                <a:solidFill>
                  <a:srgbClr val="536164"/>
                </a:solidFill>
                <a:latin typeface="Arial" pitchFamily="34" charset="0"/>
                <a:ea typeface="Arial" pitchFamily="34" charset="-122"/>
                <a:cs typeface="Arial" pitchFamily="34" charset="-120"/>
              </a:rPr>
              <a:t>Illustrative projection; not model output</a:t>
            </a:r>
            <a:endParaRPr lang="en-US" sz="1320" dirty="0"/>
          </a:p>
        </p:txBody>
      </p:sp>
      <p:sp>
        <p:nvSpPr>
          <p:cNvPr id="18" name="text: solar panels"/>
          <p:cNvSpPr txBox="1"/>
          <p:nvPr/>
        </p:nvSpPr>
        <p:spPr>
          <a:xfrm>
            <a:off x="6617018" y="4269224"/>
            <a:ext cx="1149191"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202729"/>
                </a:solidFill>
                <a:latin typeface="Arial" pitchFamily="34" charset="0"/>
                <a:ea typeface="Arial" pitchFamily="34" charset="-122"/>
                <a:cs typeface="Arial" pitchFamily="34" charset="-120"/>
              </a:rPr>
              <a:t>solar panels</a:t>
            </a:r>
            <a:endParaRPr lang="en-US" sz="1500" dirty="0"/>
          </a:p>
        </p:txBody>
      </p:sp>
      <p:sp>
        <p:nvSpPr>
          <p:cNvPr id="19" name="text: controller screen"/>
          <p:cNvSpPr txBox="1"/>
          <p:nvPr/>
        </p:nvSpPr>
        <p:spPr>
          <a:xfrm>
            <a:off x="8674418" y="2379464"/>
            <a:ext cx="1530191"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202729"/>
                </a:solidFill>
                <a:latin typeface="Arial" pitchFamily="34" charset="0"/>
                <a:ea typeface="Arial" pitchFamily="34" charset="-122"/>
                <a:cs typeface="Arial" pitchFamily="34" charset="-120"/>
              </a:rPr>
              <a:t>controller screen</a:t>
            </a:r>
            <a:endParaRPr lang="en-US" sz="1500" dirty="0"/>
          </a:p>
        </p:txBody>
      </p:sp>
      <p:sp>
        <p:nvSpPr>
          <p:cNvPr id="20"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21" name="SPAN: 15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15 / 42</a:t>
            </a:r>
            <a:endParaRPr lang="en-US" sz="10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Training pulls matching pairs closer"/>
          <p:cNvSpPr txBox="1"/>
          <p:nvPr/>
        </p:nvSpPr>
        <p:spPr>
          <a:xfrm>
            <a:off x="731520" y="1165860"/>
            <a:ext cx="706207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Training pulls matching pairs closer</a:t>
            </a:r>
            <a:endParaRPr lang="en-US" sz="3420" dirty="0"/>
          </a:p>
        </p:txBody>
      </p:sp>
      <p:sp>
        <p:nvSpPr>
          <p:cNvPr id="4" name="Diagram shape"/>
          <p:cNvSpPr/>
          <p:nvPr/>
        </p:nvSpPr>
        <p:spPr>
          <a:xfrm>
            <a:off x="1409700" y="2448044"/>
            <a:ext cx="3048000" cy="914400"/>
          </a:xfrm>
          <a:prstGeom prst="roundRect">
            <a:avLst>
              <a:gd name="adj" fmla="val 8333"/>
            </a:avLst>
          </a:prstGeom>
          <a:solidFill>
            <a:srgbClr val="E9F6F2"/>
          </a:solidFill>
          <a:ln w="12700">
            <a:solidFill>
              <a:srgbClr val="FFFFFF">
                <a:alpha val="0"/>
              </a:srgbClr>
            </a:solidFill>
            <a:prstDash val="solid"/>
          </a:ln>
        </p:spPr>
      </p:sp>
      <p:sp>
        <p:nvSpPr>
          <p:cNvPr id="5" name="text: Solar panel photo"/>
          <p:cNvSpPr txBox="1"/>
          <p:nvPr/>
        </p:nvSpPr>
        <p:spPr>
          <a:xfrm>
            <a:off x="1592580" y="2775704"/>
            <a:ext cx="205251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Solar panel photo</a:t>
            </a:r>
            <a:endParaRPr lang="en-US" sz="1800" dirty="0"/>
          </a:p>
        </p:txBody>
      </p:sp>
      <p:sp>
        <p:nvSpPr>
          <p:cNvPr id="6" name="Diagram shape"/>
          <p:cNvSpPr/>
          <p:nvPr/>
        </p:nvSpPr>
        <p:spPr>
          <a:xfrm>
            <a:off x="7581900" y="2448044"/>
            <a:ext cx="3200400" cy="914400"/>
          </a:xfrm>
          <a:prstGeom prst="roundRect">
            <a:avLst>
              <a:gd name="adj" fmla="val 8333"/>
            </a:avLst>
          </a:prstGeom>
          <a:solidFill>
            <a:srgbClr val="E9F6F2"/>
          </a:solidFill>
          <a:ln w="12700">
            <a:solidFill>
              <a:srgbClr val="FFFFFF">
                <a:alpha val="0"/>
              </a:srgbClr>
            </a:solidFill>
            <a:prstDash val="solid"/>
          </a:ln>
        </p:spPr>
      </p:sp>
      <p:sp>
        <p:nvSpPr>
          <p:cNvPr id="7" name="text: “solar panel”"/>
          <p:cNvSpPr txBox="1"/>
          <p:nvPr/>
        </p:nvSpPr>
        <p:spPr>
          <a:xfrm>
            <a:off x="7764780" y="2775704"/>
            <a:ext cx="1557576"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“solar panel”</a:t>
            </a:r>
            <a:endParaRPr lang="en-US" sz="1800" dirty="0"/>
          </a:p>
        </p:txBody>
      </p:sp>
      <p:sp>
        <p:nvSpPr>
          <p:cNvPr id="8" name="Diagram connector"/>
          <p:cNvSpPr/>
          <p:nvPr/>
        </p:nvSpPr>
        <p:spPr>
          <a:xfrm>
            <a:off x="4533900" y="2905244"/>
            <a:ext cx="2933700" cy="0"/>
          </a:xfrm>
          <a:prstGeom prst="line">
            <a:avLst/>
          </a:prstGeom>
          <a:noFill/>
          <a:ln w="22860">
            <a:solidFill>
              <a:srgbClr val="08796F"/>
            </a:solidFill>
            <a:prstDash val="solid"/>
            <a:tailEnd type="arrow"/>
          </a:ln>
        </p:spPr>
      </p:sp>
      <p:sp>
        <p:nvSpPr>
          <p:cNvPr id="9" name="Diagram shape"/>
          <p:cNvSpPr/>
          <p:nvPr/>
        </p:nvSpPr>
        <p:spPr>
          <a:xfrm>
            <a:off x="1409700" y="4048244"/>
            <a:ext cx="3048000" cy="914400"/>
          </a:xfrm>
          <a:prstGeom prst="roundRect">
            <a:avLst>
              <a:gd name="adj" fmla="val 8333"/>
            </a:avLst>
          </a:prstGeom>
          <a:solidFill>
            <a:srgbClr val="FFF0EB"/>
          </a:solidFill>
          <a:ln w="12700">
            <a:solidFill>
              <a:srgbClr val="FFFFFF">
                <a:alpha val="0"/>
              </a:srgbClr>
            </a:solidFill>
            <a:prstDash val="solid"/>
          </a:ln>
        </p:spPr>
      </p:sp>
      <p:sp>
        <p:nvSpPr>
          <p:cNvPr id="10" name="text: Controller photo"/>
          <p:cNvSpPr txBox="1"/>
          <p:nvPr/>
        </p:nvSpPr>
        <p:spPr>
          <a:xfrm>
            <a:off x="1592580" y="4375904"/>
            <a:ext cx="1912382"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Controller photo</a:t>
            </a:r>
            <a:endParaRPr lang="en-US" sz="1800" dirty="0"/>
          </a:p>
        </p:txBody>
      </p:sp>
      <p:sp>
        <p:nvSpPr>
          <p:cNvPr id="11" name="Diagram shape"/>
          <p:cNvSpPr/>
          <p:nvPr/>
        </p:nvSpPr>
        <p:spPr>
          <a:xfrm>
            <a:off x="7581900" y="4048244"/>
            <a:ext cx="3200400" cy="914400"/>
          </a:xfrm>
          <a:prstGeom prst="roundRect">
            <a:avLst>
              <a:gd name="adj" fmla="val 8333"/>
            </a:avLst>
          </a:prstGeom>
          <a:solidFill>
            <a:srgbClr val="FFF0EB"/>
          </a:solidFill>
          <a:ln w="12700">
            <a:solidFill>
              <a:srgbClr val="FFFFFF">
                <a:alpha val="0"/>
              </a:srgbClr>
            </a:solidFill>
            <a:prstDash val="solid"/>
          </a:ln>
        </p:spPr>
      </p:sp>
      <p:sp>
        <p:nvSpPr>
          <p:cNvPr id="12" name="text: “controller”"/>
          <p:cNvSpPr txBox="1"/>
          <p:nvPr/>
        </p:nvSpPr>
        <p:spPr>
          <a:xfrm>
            <a:off x="7764780" y="4375904"/>
            <a:ext cx="140481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“controller”</a:t>
            </a:r>
            <a:endParaRPr lang="en-US" sz="1800" dirty="0"/>
          </a:p>
        </p:txBody>
      </p:sp>
      <p:sp>
        <p:nvSpPr>
          <p:cNvPr id="13" name="Diagram connector"/>
          <p:cNvSpPr/>
          <p:nvPr/>
        </p:nvSpPr>
        <p:spPr>
          <a:xfrm>
            <a:off x="4533900" y="4505444"/>
            <a:ext cx="2933700" cy="0"/>
          </a:xfrm>
          <a:prstGeom prst="line">
            <a:avLst/>
          </a:prstGeom>
          <a:noFill/>
          <a:ln w="22860">
            <a:solidFill>
              <a:srgbClr val="08796F"/>
            </a:solidFill>
            <a:prstDash val="solid"/>
            <a:tailEnd type="arrow"/>
          </a:ln>
        </p:spPr>
      </p:sp>
      <p:sp>
        <p:nvSpPr>
          <p:cNvPr id="14" name="text: Matched pairs"/>
          <p:cNvSpPr txBox="1"/>
          <p:nvPr/>
        </p:nvSpPr>
        <p:spPr>
          <a:xfrm>
            <a:off x="4724400" y="3583424"/>
            <a:ext cx="1607820" cy="304800"/>
          </a:xfrm>
          <a:prstGeom prst="rect">
            <a:avLst/>
          </a:prstGeom>
          <a:noFill/>
          <a:ln/>
        </p:spPr>
        <p:txBody>
          <a:bodyPr wrap="square" lIns="0" tIns="0" rIns="0" bIns="0" rtlCol="0" anchor="t"/>
          <a:lstStyle/>
          <a:p>
            <a:pPr indent="0" marL="0">
              <a:lnSpc>
                <a:spcPct val="100000"/>
              </a:lnSpc>
              <a:buNone/>
            </a:pPr>
            <a:r>
              <a:rPr lang="en-US" altLang="en-US" sz="1740" b="1" dirty="0">
                <a:solidFill>
                  <a:srgbClr val="08796F"/>
                </a:solidFill>
                <a:latin typeface="Arial" pitchFamily="34" charset="0"/>
                <a:ea typeface="Arial" pitchFamily="34" charset="-122"/>
                <a:cs typeface="Arial" pitchFamily="34" charset="-120"/>
              </a:rPr>
              <a:t>Matched pairs</a:t>
            </a:r>
            <a:endParaRPr lang="en-US" sz="1740" dirty="0"/>
          </a:p>
        </p:txBody>
      </p:sp>
      <p:sp>
        <p:nvSpPr>
          <p:cNvPr id="15"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6" name="SPAN: 16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16 / 42</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FastEmbed runs the paired towers"/>
          <p:cNvSpPr txBox="1"/>
          <p:nvPr/>
        </p:nvSpPr>
        <p:spPr>
          <a:xfrm>
            <a:off x="731520" y="1165860"/>
            <a:ext cx="680299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FastEmbed runs the paired towers</a:t>
            </a:r>
            <a:endParaRPr lang="en-US" sz="3420" dirty="0"/>
          </a:p>
        </p:txBody>
      </p:sp>
      <p:sp>
        <p:nvSpPr>
          <p:cNvPr id="4" name="Diagram shape"/>
          <p:cNvSpPr/>
          <p:nvPr/>
        </p:nvSpPr>
        <p:spPr>
          <a:xfrm>
            <a:off x="731520" y="2594253"/>
            <a:ext cx="5790605" cy="2222183"/>
          </a:xfrm>
          <a:prstGeom prst="roundRect">
            <a:avLst>
              <a:gd name="adj" fmla="val 3429"/>
            </a:avLst>
          </a:prstGeom>
          <a:solidFill>
            <a:srgbClr val="F2F6F4"/>
          </a:solidFill>
          <a:ln w="12700">
            <a:solidFill>
              <a:srgbClr val="FFFFFF">
                <a:alpha val="0"/>
              </a:srgbClr>
            </a:solidFill>
            <a:prstDash val="solid"/>
          </a:ln>
        </p:spPr>
      </p:sp>
      <p:sp>
        <p:nvSpPr>
          <p:cNvPr id="5" name="PRE: from fastembed import TextEmbedding, ImageEmbedding"/>
          <p:cNvSpPr txBox="1"/>
          <p:nvPr/>
        </p:nvSpPr>
        <p:spPr>
          <a:xfrm>
            <a:off x="944880" y="2876193"/>
            <a:ext cx="548580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from fastembed import TextEmbedding, ImageEmbedding</a:t>
            </a:r>
            <a:endParaRPr lang="en-US" sz="1380" dirty="0"/>
          </a:p>
        </p:txBody>
      </p:sp>
      <p:sp>
        <p:nvSpPr>
          <p:cNvPr id="6" name="PRE: text = TextEmbedding("/>
          <p:cNvSpPr txBox="1"/>
          <p:nvPr/>
        </p:nvSpPr>
        <p:spPr>
          <a:xfrm>
            <a:off x="944880" y="3165277"/>
            <a:ext cx="2330648"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text = TextEmbedding(</a:t>
            </a:r>
            <a:endParaRPr lang="en-US" sz="1380" dirty="0"/>
          </a:p>
        </p:txBody>
      </p:sp>
      <p:sp>
        <p:nvSpPr>
          <p:cNvPr id="7" name="PRE:     &amp;quot;Qdrant/clip-ViT-B-32-text&amp;quot;)"/>
          <p:cNvSpPr txBox="1"/>
          <p:nvPr/>
        </p:nvSpPr>
        <p:spPr>
          <a:xfrm>
            <a:off x="944880" y="3454360"/>
            <a:ext cx="348746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"Qdrant/clip-ViT-B-32-text")</a:t>
            </a:r>
            <a:endParaRPr lang="en-US" sz="1380" dirty="0"/>
          </a:p>
        </p:txBody>
      </p:sp>
      <p:sp>
        <p:nvSpPr>
          <p:cNvPr id="8" name="PRE: vision = ImageEmbedding("/>
          <p:cNvSpPr txBox="1"/>
          <p:nvPr/>
        </p:nvSpPr>
        <p:spPr>
          <a:xfrm>
            <a:off x="944880" y="3743444"/>
            <a:ext cx="264616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vision = ImageEmbedding(</a:t>
            </a:r>
            <a:endParaRPr lang="en-US" sz="1380" dirty="0"/>
          </a:p>
        </p:txBody>
      </p:sp>
      <p:sp>
        <p:nvSpPr>
          <p:cNvPr id="9" name="PRE:     &amp;quot;Qdrant/clip-ViT-B-32-vision&amp;quot;)"/>
          <p:cNvSpPr txBox="1"/>
          <p:nvPr/>
        </p:nvSpPr>
        <p:spPr>
          <a:xfrm>
            <a:off x="944880" y="4032528"/>
            <a:ext cx="369784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"Qdrant/clip-ViT-B-32-vision")</a:t>
            </a:r>
            <a:endParaRPr lang="en-US" sz="1380" dirty="0"/>
          </a:p>
        </p:txBody>
      </p:sp>
      <p:sp>
        <p:nvSpPr>
          <p:cNvPr id="10" name="PRE: qv = next(text.embed([question]))"/>
          <p:cNvSpPr txBox="1"/>
          <p:nvPr/>
        </p:nvSpPr>
        <p:spPr>
          <a:xfrm>
            <a:off x="944880" y="4321612"/>
            <a:ext cx="359271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qv = next(text.embed([question]))</a:t>
            </a:r>
            <a:endParaRPr lang="en-US" sz="1380" dirty="0"/>
          </a:p>
        </p:txBody>
      </p:sp>
      <p:sp>
        <p:nvSpPr>
          <p:cNvPr id="11" name="Diagram shape"/>
          <p:cNvSpPr/>
          <p:nvPr/>
        </p:nvSpPr>
        <p:spPr>
          <a:xfrm>
            <a:off x="7044154" y="2609572"/>
            <a:ext cx="4084240" cy="830130"/>
          </a:xfrm>
          <a:prstGeom prst="roundRect">
            <a:avLst>
              <a:gd name="adj" fmla="val 8000"/>
            </a:avLst>
          </a:prstGeom>
          <a:solidFill>
            <a:srgbClr val="E9F6F2"/>
          </a:solidFill>
          <a:ln w="12700">
            <a:solidFill>
              <a:srgbClr val="FFFFFF">
                <a:alpha val="0"/>
              </a:srgbClr>
            </a:solidFill>
            <a:prstDash val="solid"/>
          </a:ln>
        </p:spPr>
      </p:sp>
      <p:sp>
        <p:nvSpPr>
          <p:cNvPr id="12" name="text: Question → text tower"/>
          <p:cNvSpPr txBox="1"/>
          <p:nvPr/>
        </p:nvSpPr>
        <p:spPr>
          <a:xfrm>
            <a:off x="7203539" y="2908168"/>
            <a:ext cx="2238279" cy="289560"/>
          </a:xfrm>
          <a:prstGeom prst="rect">
            <a:avLst/>
          </a:prstGeom>
          <a:noFill/>
          <a:ln/>
        </p:spPr>
        <p:txBody>
          <a:bodyPr wrap="square" lIns="0" tIns="0" rIns="0" bIns="0" rtlCol="0" anchor="t"/>
          <a:lstStyle/>
          <a:p>
            <a:pPr indent="0" marL="0">
              <a:lnSpc>
                <a:spcPct val="100000"/>
              </a:lnSpc>
              <a:buNone/>
            </a:pPr>
            <a:r>
              <a:rPr lang="en-US" altLang="en-US" sz="1569" b="1" dirty="0">
                <a:solidFill>
                  <a:srgbClr val="202729"/>
                </a:solidFill>
                <a:latin typeface="Arial" pitchFamily="34" charset="0"/>
                <a:ea typeface="Arial" pitchFamily="34" charset="-122"/>
                <a:cs typeface="Arial" pitchFamily="34" charset="-120"/>
              </a:rPr>
              <a:t>Question → text tower</a:t>
            </a:r>
            <a:endParaRPr lang="en-US" sz="1569" dirty="0"/>
          </a:p>
        </p:txBody>
      </p:sp>
      <p:sp>
        <p:nvSpPr>
          <p:cNvPr id="13" name="Diagram shape"/>
          <p:cNvSpPr/>
          <p:nvPr/>
        </p:nvSpPr>
        <p:spPr>
          <a:xfrm>
            <a:off x="7044154" y="3838165"/>
            <a:ext cx="4084240" cy="830130"/>
          </a:xfrm>
          <a:prstGeom prst="roundRect">
            <a:avLst>
              <a:gd name="adj" fmla="val 8000"/>
            </a:avLst>
          </a:prstGeom>
          <a:solidFill>
            <a:srgbClr val="FFF0EB"/>
          </a:solidFill>
          <a:ln w="12700">
            <a:solidFill>
              <a:srgbClr val="FFFFFF">
                <a:alpha val="0"/>
              </a:srgbClr>
            </a:solidFill>
            <a:prstDash val="solid"/>
          </a:ln>
        </p:spPr>
      </p:sp>
      <p:sp>
        <p:nvSpPr>
          <p:cNvPr id="14" name="text: Pixels → vision tower"/>
          <p:cNvSpPr txBox="1"/>
          <p:nvPr/>
        </p:nvSpPr>
        <p:spPr>
          <a:xfrm>
            <a:off x="7203539" y="4136761"/>
            <a:ext cx="2172337" cy="289560"/>
          </a:xfrm>
          <a:prstGeom prst="rect">
            <a:avLst/>
          </a:prstGeom>
          <a:noFill/>
          <a:ln/>
        </p:spPr>
        <p:txBody>
          <a:bodyPr wrap="square" lIns="0" tIns="0" rIns="0" bIns="0" rtlCol="0" anchor="t"/>
          <a:lstStyle/>
          <a:p>
            <a:pPr indent="0" marL="0">
              <a:lnSpc>
                <a:spcPct val="100000"/>
              </a:lnSpc>
              <a:buNone/>
            </a:pPr>
            <a:r>
              <a:rPr lang="en-US" altLang="en-US" sz="1569" b="1" dirty="0">
                <a:solidFill>
                  <a:srgbClr val="202729"/>
                </a:solidFill>
                <a:latin typeface="Arial" pitchFamily="34" charset="0"/>
                <a:ea typeface="Arial" pitchFamily="34" charset="-122"/>
                <a:cs typeface="Arial" pitchFamily="34" charset="-120"/>
              </a:rPr>
              <a:t>Pixels → vision tower</a:t>
            </a:r>
            <a:endParaRPr lang="en-US" sz="1569" dirty="0"/>
          </a:p>
        </p:txBody>
      </p:sp>
      <p:sp>
        <p:nvSpPr>
          <p:cNvPr id="15"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6" name="SPAN: 17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17 / 42</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Normalize before a dot product"/>
          <p:cNvSpPr txBox="1"/>
          <p:nvPr/>
        </p:nvSpPr>
        <p:spPr>
          <a:xfrm>
            <a:off x="731520" y="1165860"/>
            <a:ext cx="612969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Normalize before a dot product</a:t>
            </a:r>
            <a:endParaRPr lang="en-US" sz="3420" dirty="0"/>
          </a:p>
        </p:txBody>
      </p:sp>
      <p:sp>
        <p:nvSpPr>
          <p:cNvPr id="4" name="Diagram shape"/>
          <p:cNvSpPr/>
          <p:nvPr/>
        </p:nvSpPr>
        <p:spPr>
          <a:xfrm>
            <a:off x="731520" y="2738795"/>
            <a:ext cx="4225409" cy="1933099"/>
          </a:xfrm>
          <a:prstGeom prst="roundRect">
            <a:avLst>
              <a:gd name="adj" fmla="val 3942"/>
            </a:avLst>
          </a:prstGeom>
          <a:solidFill>
            <a:srgbClr val="F2F6F4"/>
          </a:solidFill>
          <a:ln w="12700">
            <a:solidFill>
              <a:srgbClr val="FFFFFF">
                <a:alpha val="0"/>
              </a:srgbClr>
            </a:solidFill>
            <a:prstDash val="solid"/>
          </a:ln>
        </p:spPr>
      </p:sp>
      <p:sp>
        <p:nvSpPr>
          <p:cNvPr id="5" name="PRE: norm = np.linalg.norm(v)"/>
          <p:cNvSpPr txBox="1"/>
          <p:nvPr/>
        </p:nvSpPr>
        <p:spPr>
          <a:xfrm>
            <a:off x="944880" y="3020735"/>
            <a:ext cx="264616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norm = np.linalg.norm(v)</a:t>
            </a:r>
            <a:endParaRPr lang="en-US" sz="1380" dirty="0"/>
          </a:p>
        </p:txBody>
      </p:sp>
      <p:sp>
        <p:nvSpPr>
          <p:cNvPr id="6" name="PRE: if norm == 0:"/>
          <p:cNvSpPr txBox="1"/>
          <p:nvPr/>
        </p:nvSpPr>
        <p:spPr>
          <a:xfrm>
            <a:off x="944880" y="3309818"/>
            <a:ext cx="148923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if norm == 0:</a:t>
            </a:r>
            <a:endParaRPr lang="en-US" sz="1380" dirty="0"/>
          </a:p>
        </p:txBody>
      </p:sp>
      <p:sp>
        <p:nvSpPr>
          <p:cNvPr id="7" name="PRE:     raise ValueError(&amp;apos;Zero vector&amp;apos;)"/>
          <p:cNvSpPr txBox="1"/>
          <p:nvPr/>
        </p:nvSpPr>
        <p:spPr>
          <a:xfrm>
            <a:off x="944880" y="3598902"/>
            <a:ext cx="380309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raise ValueError('Zero vector')</a:t>
            </a:r>
            <a:endParaRPr lang="en-US" sz="1380" dirty="0"/>
          </a:p>
        </p:txBody>
      </p:sp>
      <p:sp>
        <p:nvSpPr>
          <p:cNvPr id="8" name="PRE: u = v / norm"/>
          <p:cNvSpPr txBox="1"/>
          <p:nvPr/>
        </p:nvSpPr>
        <p:spPr>
          <a:xfrm>
            <a:off x="944880" y="3887986"/>
            <a:ext cx="1384102"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u = v / norm</a:t>
            </a:r>
            <a:endParaRPr lang="en-US" sz="1380" dirty="0"/>
          </a:p>
        </p:txBody>
      </p:sp>
      <p:sp>
        <p:nvSpPr>
          <p:cNvPr id="9" name="PRE: score = float(u @ query_unit)"/>
          <p:cNvSpPr txBox="1"/>
          <p:nvPr/>
        </p:nvSpPr>
        <p:spPr>
          <a:xfrm>
            <a:off x="944880" y="4177070"/>
            <a:ext cx="317194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score = float(u @ query_unit)</a:t>
            </a:r>
            <a:endParaRPr lang="en-US" sz="1380" dirty="0"/>
          </a:p>
        </p:txBody>
      </p:sp>
      <p:sp>
        <p:nvSpPr>
          <p:cNvPr id="10" name="text: Length: √(3² + 4²) = 5"/>
          <p:cNvSpPr txBox="1"/>
          <p:nvPr/>
        </p:nvSpPr>
        <p:spPr>
          <a:xfrm>
            <a:off x="6113205" y="2552184"/>
            <a:ext cx="2471976" cy="342900"/>
          </a:xfrm>
          <a:prstGeom prst="rect">
            <a:avLst/>
          </a:prstGeom>
          <a:noFill/>
          <a:ln/>
        </p:spPr>
        <p:txBody>
          <a:bodyPr wrap="square" lIns="0" tIns="0" rIns="0" bIns="0" rtlCol="0" anchor="t"/>
          <a:lstStyle/>
          <a:p>
            <a:pPr indent="0" marL="0">
              <a:lnSpc>
                <a:spcPct val="100000"/>
              </a:lnSpc>
              <a:buNone/>
            </a:pPr>
            <a:r>
              <a:rPr lang="en-US" altLang="en-US" sz="1960" dirty="0">
                <a:solidFill>
                  <a:srgbClr val="202729"/>
                </a:solidFill>
                <a:latin typeface="Arial" pitchFamily="34" charset="0"/>
                <a:ea typeface="Arial" pitchFamily="34" charset="-122"/>
                <a:cs typeface="Arial" pitchFamily="34" charset="-120"/>
              </a:rPr>
              <a:t>Length: √(3² + 4²) = 5</a:t>
            </a:r>
            <a:endParaRPr lang="en-US" sz="1960" dirty="0"/>
          </a:p>
        </p:txBody>
      </p:sp>
      <p:sp>
        <p:nvSpPr>
          <p:cNvPr id="11" name="text: [3, 4] / 5 = [0.6, 0.8]"/>
          <p:cNvSpPr txBox="1"/>
          <p:nvPr/>
        </p:nvSpPr>
        <p:spPr>
          <a:xfrm>
            <a:off x="6113205" y="3298944"/>
            <a:ext cx="2328267" cy="342900"/>
          </a:xfrm>
          <a:prstGeom prst="rect">
            <a:avLst/>
          </a:prstGeom>
          <a:noFill/>
          <a:ln/>
        </p:spPr>
        <p:txBody>
          <a:bodyPr wrap="square" lIns="0" tIns="0" rIns="0" bIns="0" rtlCol="0" anchor="t"/>
          <a:lstStyle/>
          <a:p>
            <a:pPr indent="0" marL="0">
              <a:lnSpc>
                <a:spcPct val="100000"/>
              </a:lnSpc>
              <a:buNone/>
            </a:pPr>
            <a:r>
              <a:rPr lang="en-US" altLang="en-US" sz="1960" b="1" dirty="0">
                <a:solidFill>
                  <a:srgbClr val="08796F"/>
                </a:solidFill>
                <a:latin typeface="Arial" pitchFamily="34" charset="0"/>
                <a:ea typeface="Arial" pitchFamily="34" charset="-122"/>
                <a:cs typeface="Arial" pitchFamily="34" charset="-120"/>
              </a:rPr>
              <a:t>[3, 4] / 5 = [0.6, 0.8]</a:t>
            </a:r>
            <a:endParaRPr lang="en-US" sz="1960" dirty="0"/>
          </a:p>
        </p:txBody>
      </p:sp>
      <p:sp>
        <p:nvSpPr>
          <p:cNvPr id="12" name="text: Unit vectors: cosine = dot product"/>
          <p:cNvSpPr txBox="1"/>
          <p:nvPr/>
        </p:nvSpPr>
        <p:spPr>
          <a:xfrm>
            <a:off x="6113205" y="4126984"/>
            <a:ext cx="3187898" cy="289560"/>
          </a:xfrm>
          <a:prstGeom prst="rect">
            <a:avLst/>
          </a:prstGeom>
          <a:noFill/>
          <a:ln/>
        </p:spPr>
        <p:txBody>
          <a:bodyPr wrap="square" lIns="0" tIns="0" rIns="0" bIns="0" rtlCol="0" anchor="t"/>
          <a:lstStyle/>
          <a:p>
            <a:pPr indent="0" marL="0">
              <a:lnSpc>
                <a:spcPct val="100000"/>
              </a:lnSpc>
              <a:buNone/>
            </a:pPr>
            <a:r>
              <a:rPr lang="en-US" altLang="en-US" sz="1624" dirty="0">
                <a:solidFill>
                  <a:srgbClr val="536164"/>
                </a:solidFill>
                <a:latin typeface="Arial" pitchFamily="34" charset="0"/>
                <a:ea typeface="Arial" pitchFamily="34" charset="-122"/>
                <a:cs typeface="Arial" pitchFamily="34" charset="-120"/>
              </a:rPr>
              <a:t>Unit vectors: cosine = dot product</a:t>
            </a:r>
            <a:endParaRPr lang="en-US" sz="1624" dirty="0"/>
          </a:p>
        </p:txBody>
      </p:sp>
      <p:sp>
        <p:nvSpPr>
          <p:cNvPr id="13" name="text: Zero vectors need an explicit policy."/>
          <p:cNvSpPr txBox="1"/>
          <p:nvPr/>
        </p:nvSpPr>
        <p:spPr>
          <a:xfrm>
            <a:off x="6113205" y="4817864"/>
            <a:ext cx="3046928" cy="267504"/>
          </a:xfrm>
          <a:prstGeom prst="rect">
            <a:avLst/>
          </a:prstGeom>
          <a:noFill/>
          <a:ln/>
        </p:spPr>
        <p:txBody>
          <a:bodyPr wrap="square" lIns="0" tIns="0" rIns="0" bIns="0" rtlCol="0" anchor="t"/>
          <a:lstStyle/>
          <a:p>
            <a:pPr indent="0" marL="0">
              <a:lnSpc>
                <a:spcPct val="100000"/>
              </a:lnSpc>
              <a:buNone/>
            </a:pPr>
            <a:r>
              <a:rPr lang="en-US" altLang="en-US" sz="1456" dirty="0">
                <a:solidFill>
                  <a:srgbClr val="BF4938"/>
                </a:solidFill>
                <a:latin typeface="Arial" pitchFamily="34" charset="0"/>
                <a:ea typeface="Arial" pitchFamily="34" charset="-122"/>
                <a:cs typeface="Arial" pitchFamily="34" charset="-120"/>
              </a:rPr>
              <a:t>Zero vectors need an explicit policy.</a:t>
            </a:r>
            <a:endParaRPr lang="en-US" sz="1456" dirty="0"/>
          </a:p>
        </p:txBody>
      </p:sp>
      <p:sp>
        <p:nvSpPr>
          <p:cNvPr id="1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5" name="SPAN: 18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18 / 42</a:t>
            </a:r>
            <a:endParaRPr lang="en-US" sz="10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Finding a chart is not reading it"/>
          <p:cNvSpPr txBox="1"/>
          <p:nvPr/>
        </p:nvSpPr>
        <p:spPr>
          <a:xfrm>
            <a:off x="731520" y="1165860"/>
            <a:ext cx="6136481"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Finding a chart is not reading it</a:t>
            </a:r>
            <a:endParaRPr lang="en-US" sz="3420" dirty="0"/>
          </a:p>
        </p:txBody>
      </p:sp>
      <p:sp>
        <p:nvSpPr>
          <p:cNvPr id="4" name="P: Find the chart. Read 57"/>
          <p:cNvSpPr txBox="1"/>
          <p:nvPr/>
        </p:nvSpPr>
        <p:spPr>
          <a:xfrm>
            <a:off x="731520" y="3085624"/>
            <a:ext cx="3727013" cy="426720"/>
          </a:xfrm>
          <a:prstGeom prst="rect">
            <a:avLst/>
          </a:prstGeom>
          <a:noFill/>
          <a:ln/>
        </p:spPr>
        <p:txBody>
          <a:bodyPr wrap="square" lIns="0" tIns="0" rIns="0" bIns="0" rtlCol="0" anchor="t"/>
          <a:lstStyle/>
          <a:p>
            <a:pPr indent="0" marL="0">
              <a:lnSpc>
                <a:spcPct val="100000"/>
              </a:lnSpc>
              <a:buNone/>
            </a:pPr>
            <a:r>
              <a:rPr lang="en-US" altLang="en-US" sz="2580" b="1" dirty="0">
                <a:solidFill>
                  <a:srgbClr val="202729"/>
                </a:solidFill>
                <a:latin typeface="Arial" pitchFamily="34" charset="0"/>
                <a:ea typeface="Arial" pitchFamily="34" charset="-122"/>
                <a:cs typeface="Arial" pitchFamily="34" charset="-120"/>
              </a:rPr>
              <a:t>Find the chart. Read 57</a:t>
            </a:r>
            <a:endParaRPr lang="en-US" sz="2580" dirty="0"/>
          </a:p>
        </p:txBody>
      </p:sp>
      <p:sp>
        <p:nvSpPr>
          <p:cNvPr id="5" name="P: and 42."/>
          <p:cNvSpPr txBox="1"/>
          <p:nvPr/>
        </p:nvSpPr>
        <p:spPr>
          <a:xfrm>
            <a:off x="731520" y="3485317"/>
            <a:ext cx="1250990" cy="426720"/>
          </a:xfrm>
          <a:prstGeom prst="rect">
            <a:avLst/>
          </a:prstGeom>
          <a:noFill/>
          <a:ln/>
        </p:spPr>
        <p:txBody>
          <a:bodyPr wrap="square" lIns="0" tIns="0" rIns="0" bIns="0" rtlCol="0" anchor="t"/>
          <a:lstStyle/>
          <a:p>
            <a:pPr indent="0" marL="0">
              <a:lnSpc>
                <a:spcPct val="100000"/>
              </a:lnSpc>
              <a:buNone/>
            </a:pPr>
            <a:r>
              <a:rPr lang="en-US" altLang="en-US" sz="2580" b="1" dirty="0">
                <a:solidFill>
                  <a:srgbClr val="202729"/>
                </a:solidFill>
                <a:latin typeface="Arial" pitchFamily="34" charset="0"/>
                <a:ea typeface="Arial" pitchFamily="34" charset="-122"/>
                <a:cs typeface="Arial" pitchFamily="34" charset="-120"/>
              </a:rPr>
              <a:t>and 42.</a:t>
            </a:r>
            <a:endParaRPr lang="en-US" sz="2580" dirty="0"/>
          </a:p>
        </p:txBody>
      </p:sp>
      <p:sp>
        <p:nvSpPr>
          <p:cNvPr id="6" name="P: Then calculate: 57 − 42 = 15 kWh."/>
          <p:cNvSpPr txBox="1"/>
          <p:nvPr/>
        </p:nvSpPr>
        <p:spPr>
          <a:xfrm>
            <a:off x="731520" y="4098369"/>
            <a:ext cx="3023592"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Then calculate: 57 − 42 = 15 kWh.</a:t>
            </a:r>
            <a:endParaRPr lang="en-US" sz="1500" dirty="0"/>
          </a:p>
        </p:txBody>
      </p:sp>
      <p:sp>
        <p:nvSpPr>
          <p:cNvPr id="7" name="text: Solar energy"/>
          <p:cNvSpPr txBox="1"/>
          <p:nvPr/>
        </p:nvSpPr>
        <p:spPr>
          <a:xfrm>
            <a:off x="5893118" y="2257544"/>
            <a:ext cx="1414582"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Solar energy</a:t>
            </a:r>
            <a:endParaRPr lang="en-US" sz="1680" dirty="0"/>
          </a:p>
        </p:txBody>
      </p:sp>
      <p:graphicFrame>
        <p:nvGraphicFramePr>
          <p:cNvPr id="8" name="Solar energy — editable data chart" descr="Solar energy in kilowatt-hours: April 42, May 57, June 51. Fictional teaching data."/>
          <p:cNvGraphicFramePr/>
          <p:nvPr/>
        </p:nvGraphicFramePr>
        <p:xfrm>
          <a:off x="6088698" y="2658356"/>
          <a:ext cx="3809999" cy="2494788"/>
        </p:xfrm>
        <a:graphic xmlns:a="http://schemas.openxmlformats.org/drawingml/2006/main">
          <a:graphicData uri="http://schemas.openxmlformats.org/drawingml/2006/chart">
            <c:chart xmlns:c="http://schemas.openxmlformats.org/drawingml/2006/chart" r:id="rId1"/>
          </a:graphicData>
        </a:graphic>
      </p:graphicFrame>
      <p:sp>
        <p:nvSpPr>
          <p:cNvPr id="9" name="Diagram connector"/>
          <p:cNvSpPr/>
          <p:nvPr/>
        </p:nvSpPr>
        <p:spPr>
          <a:xfrm>
            <a:off x="6159818" y="2714744"/>
            <a:ext cx="0" cy="2019300"/>
          </a:xfrm>
          <a:prstGeom prst="line">
            <a:avLst/>
          </a:prstGeom>
          <a:noFill/>
          <a:ln w="15240">
            <a:solidFill>
              <a:srgbClr val="C9D5D2"/>
            </a:solidFill>
            <a:prstDash val="solid"/>
          </a:ln>
        </p:spPr>
      </p:sp>
      <p:sp>
        <p:nvSpPr>
          <p:cNvPr id="10" name="Diagram connector"/>
          <p:cNvSpPr/>
          <p:nvPr/>
        </p:nvSpPr>
        <p:spPr>
          <a:xfrm>
            <a:off x="6159818" y="4734044"/>
            <a:ext cx="4381500" cy="0"/>
          </a:xfrm>
          <a:prstGeom prst="line">
            <a:avLst/>
          </a:prstGeom>
          <a:noFill/>
          <a:ln w="15240">
            <a:solidFill>
              <a:srgbClr val="C9D5D2"/>
            </a:solidFill>
            <a:prstDash val="solid"/>
          </a:ln>
        </p:spPr>
      </p:sp>
      <p:sp>
        <p:nvSpPr>
          <p:cNvPr id="11" name="text: kWh"/>
          <p:cNvSpPr txBox="1"/>
          <p:nvPr/>
        </p:nvSpPr>
        <p:spPr>
          <a:xfrm>
            <a:off x="5694998" y="2638544"/>
            <a:ext cx="426720" cy="228600"/>
          </a:xfrm>
          <a:prstGeom prst="rect">
            <a:avLst/>
          </a:prstGeom>
          <a:noFill/>
          <a:ln/>
        </p:spPr>
        <p:txBody>
          <a:bodyPr wrap="square" lIns="0" tIns="0" rIns="0" bIns="0" rtlCol="0" anchor="t"/>
          <a:lstStyle/>
          <a:p>
            <a:pPr indent="0" marL="0">
              <a:lnSpc>
                <a:spcPct val="100000"/>
              </a:lnSpc>
              <a:buNone/>
            </a:pPr>
            <a:r>
              <a:rPr lang="en-US" altLang="en-US" sz="1200" dirty="0">
                <a:solidFill>
                  <a:srgbClr val="536164"/>
                </a:solidFill>
                <a:latin typeface="Arial" pitchFamily="34" charset="0"/>
                <a:ea typeface="Arial" pitchFamily="34" charset="-122"/>
                <a:cs typeface="Arial" pitchFamily="34" charset="-120"/>
              </a:rPr>
              <a:t>kWh</a:t>
            </a:r>
            <a:endParaRPr lang="en-US" sz="120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19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19 / 42</a:t>
            </a:r>
            <a:endParaRPr lang="en-US" sz="10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P: 03 · SHARED SPACE"/>
          <p:cNvSpPr txBox="1"/>
          <p:nvPr/>
        </p:nvSpPr>
        <p:spPr>
          <a:xfrm>
            <a:off x="731520" y="822960"/>
            <a:ext cx="177284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03 · SHARED SPACE</a:t>
            </a:r>
            <a:endParaRPr lang="en-US" sz="1140" dirty="0"/>
          </a:p>
        </p:txBody>
      </p:sp>
      <p:sp>
        <p:nvSpPr>
          <p:cNvPr id="3" name="H1: One space can favor one modality"/>
          <p:cNvSpPr txBox="1"/>
          <p:nvPr/>
        </p:nvSpPr>
        <p:spPr>
          <a:xfrm>
            <a:off x="731520" y="1165860"/>
            <a:ext cx="6731318"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One space can favor one modality</a:t>
            </a:r>
            <a:endParaRPr lang="en-US" sz="3420" dirty="0"/>
          </a:p>
        </p:txBody>
      </p:sp>
      <p:sp>
        <p:nvSpPr>
          <p:cNvPr id="4" name="Diagram shape"/>
          <p:cNvSpPr/>
          <p:nvPr/>
        </p:nvSpPr>
        <p:spPr>
          <a:xfrm>
            <a:off x="1371600" y="2486144"/>
            <a:ext cx="4343400" cy="2095500"/>
          </a:xfrm>
          <a:prstGeom prst="roundRect">
            <a:avLst>
              <a:gd name="adj" fmla="val 3636"/>
            </a:avLst>
          </a:prstGeom>
          <a:solidFill>
            <a:srgbClr val="FFF0EB"/>
          </a:solidFill>
          <a:ln w="12700">
            <a:solidFill>
              <a:srgbClr val="FFFFFF">
                <a:alpha val="0"/>
              </a:srgbClr>
            </a:solidFill>
            <a:prstDash val="solid"/>
          </a:ln>
        </p:spPr>
      </p:sp>
      <p:sp>
        <p:nvSpPr>
          <p:cNvPr id="5" name="text: One mixed ranking"/>
          <p:cNvSpPr txBox="1"/>
          <p:nvPr/>
        </p:nvSpPr>
        <p:spPr>
          <a:xfrm>
            <a:off x="1554480" y="2600444"/>
            <a:ext cx="2179915"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One mixed ranking</a:t>
            </a:r>
            <a:endParaRPr lang="en-US" sz="1800" dirty="0"/>
          </a:p>
        </p:txBody>
      </p:sp>
      <p:sp>
        <p:nvSpPr>
          <p:cNvPr id="6" name="text: Text may crowd out images"/>
          <p:cNvSpPr txBox="1"/>
          <p:nvPr/>
        </p:nvSpPr>
        <p:spPr>
          <a:xfrm>
            <a:off x="1554480" y="2935724"/>
            <a:ext cx="224540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Text may crowd out images</a:t>
            </a:r>
            <a:endParaRPr lang="en-US" sz="1380" dirty="0"/>
          </a:p>
        </p:txBody>
      </p:sp>
      <p:sp>
        <p:nvSpPr>
          <p:cNvPr id="7" name="Diagram shape"/>
          <p:cNvSpPr/>
          <p:nvPr/>
        </p:nvSpPr>
        <p:spPr>
          <a:xfrm>
            <a:off x="6553200" y="2486144"/>
            <a:ext cx="4343400" cy="2095500"/>
          </a:xfrm>
          <a:prstGeom prst="roundRect">
            <a:avLst>
              <a:gd name="adj" fmla="val 3636"/>
            </a:avLst>
          </a:prstGeom>
          <a:solidFill>
            <a:srgbClr val="E9F6F2"/>
          </a:solidFill>
          <a:ln w="12700">
            <a:solidFill>
              <a:srgbClr val="FFFFFF">
                <a:alpha val="0"/>
              </a:srgbClr>
            </a:solidFill>
            <a:prstDash val="solid"/>
          </a:ln>
        </p:spPr>
      </p:sp>
      <p:sp>
        <p:nvSpPr>
          <p:cNvPr id="8" name="text: Measure by evidence type"/>
          <p:cNvSpPr txBox="1"/>
          <p:nvPr/>
        </p:nvSpPr>
        <p:spPr>
          <a:xfrm>
            <a:off x="6736080" y="2600444"/>
            <a:ext cx="2955369"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Measure by evidence type</a:t>
            </a:r>
            <a:endParaRPr lang="en-US" sz="1800" dirty="0"/>
          </a:p>
        </p:txBody>
      </p:sp>
      <p:sp>
        <p:nvSpPr>
          <p:cNvPr id="9" name="text: Memo · chart · screenshot"/>
          <p:cNvSpPr txBox="1"/>
          <p:nvPr/>
        </p:nvSpPr>
        <p:spPr>
          <a:xfrm>
            <a:off x="6736080" y="2935724"/>
            <a:ext cx="216729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Memo · chart · screenshot</a:t>
            </a:r>
            <a:endParaRPr lang="en-US" sz="1380" dirty="0"/>
          </a:p>
        </p:txBody>
      </p:sp>
      <p:sp>
        <p:nvSpPr>
          <p:cNvPr id="10" name="text: Compatible does not mean calibrated"/>
          <p:cNvSpPr txBox="1"/>
          <p:nvPr/>
        </p:nvSpPr>
        <p:spPr>
          <a:xfrm>
            <a:off x="1562100" y="4063484"/>
            <a:ext cx="3277672"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BF4938"/>
                </a:solidFill>
                <a:latin typeface="Arial" pitchFamily="34" charset="0"/>
                <a:ea typeface="Arial" pitchFamily="34" charset="-122"/>
                <a:cs typeface="Arial" pitchFamily="34" charset="-120"/>
              </a:rPr>
              <a:t>Compatible does not mean calibrated</a:t>
            </a:r>
            <a:endParaRPr lang="en-US" sz="1500" dirty="0"/>
          </a:p>
        </p:txBody>
      </p:sp>
      <p:sp>
        <p:nvSpPr>
          <p:cNvPr id="11" name="text: Inspect who loses retrieval slots"/>
          <p:cNvSpPr txBox="1"/>
          <p:nvPr/>
        </p:nvSpPr>
        <p:spPr>
          <a:xfrm>
            <a:off x="6743700" y="4063484"/>
            <a:ext cx="2811304"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08796F"/>
                </a:solidFill>
                <a:latin typeface="Arial" pitchFamily="34" charset="0"/>
                <a:ea typeface="Arial" pitchFamily="34" charset="-122"/>
                <a:cs typeface="Arial" pitchFamily="34" charset="-120"/>
              </a:rPr>
              <a:t>Inspect who loses retrieval slots</a:t>
            </a:r>
            <a:endParaRPr lang="en-US" sz="150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20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20 / 42</a:t>
            </a:r>
            <a:endParaRPr lang="en-US" sz="10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P: 04 · FUSION"/>
          <p:cNvSpPr txBox="1"/>
          <p:nvPr/>
        </p:nvSpPr>
        <p:spPr>
          <a:xfrm>
            <a:off x="731520" y="822960"/>
            <a:ext cx="110192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FUSION</a:t>
            </a:r>
            <a:endParaRPr lang="en-US" sz="1140" dirty="0"/>
          </a:p>
        </p:txBody>
      </p:sp>
      <p:sp>
        <p:nvSpPr>
          <p:cNvPr id="3" name="H1: C · Let each specialist search"/>
          <p:cNvSpPr txBox="1"/>
          <p:nvPr/>
        </p:nvSpPr>
        <p:spPr>
          <a:xfrm>
            <a:off x="731520" y="1165860"/>
            <a:ext cx="5794058"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C · Let each specialist search</a:t>
            </a:r>
            <a:endParaRPr lang="en-US" sz="3420" dirty="0"/>
          </a:p>
        </p:txBody>
      </p:sp>
      <p:sp>
        <p:nvSpPr>
          <p:cNvPr id="4" name="Diagram shape"/>
          <p:cNvSpPr/>
          <p:nvPr/>
        </p:nvSpPr>
        <p:spPr>
          <a:xfrm>
            <a:off x="1257300" y="3133844"/>
            <a:ext cx="1752600" cy="952500"/>
          </a:xfrm>
          <a:prstGeom prst="roundRect">
            <a:avLst>
              <a:gd name="adj" fmla="val 8000"/>
            </a:avLst>
          </a:prstGeom>
          <a:solidFill>
            <a:srgbClr val="E9F6F2"/>
          </a:solidFill>
          <a:ln w="12700">
            <a:solidFill>
              <a:srgbClr val="FFFFFF">
                <a:alpha val="0"/>
              </a:srgbClr>
            </a:solidFill>
            <a:prstDash val="solid"/>
          </a:ln>
        </p:spPr>
      </p:sp>
      <p:sp>
        <p:nvSpPr>
          <p:cNvPr id="5" name="text: Question"/>
          <p:cNvSpPr txBox="1"/>
          <p:nvPr/>
        </p:nvSpPr>
        <p:spPr>
          <a:xfrm>
            <a:off x="1440180" y="3480554"/>
            <a:ext cx="1112639"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Question</a:t>
            </a:r>
            <a:endParaRPr lang="en-US" sz="1800" dirty="0"/>
          </a:p>
        </p:txBody>
      </p:sp>
      <p:sp>
        <p:nvSpPr>
          <p:cNvPr id="6" name="Diagram shape"/>
          <p:cNvSpPr/>
          <p:nvPr/>
        </p:nvSpPr>
        <p:spPr>
          <a:xfrm>
            <a:off x="3962400" y="2257544"/>
            <a:ext cx="2895600" cy="952500"/>
          </a:xfrm>
          <a:prstGeom prst="roundRect">
            <a:avLst>
              <a:gd name="adj" fmla="val 8000"/>
            </a:avLst>
          </a:prstGeom>
          <a:solidFill>
            <a:srgbClr val="E9F6F2"/>
          </a:solidFill>
          <a:ln w="12700">
            <a:solidFill>
              <a:srgbClr val="FFFFFF">
                <a:alpha val="0"/>
              </a:srgbClr>
            </a:solidFill>
            <a:prstDash val="solid"/>
          </a:ln>
        </p:spPr>
      </p:sp>
      <p:sp>
        <p:nvSpPr>
          <p:cNvPr id="7" name="text: Text retrieval"/>
          <p:cNvSpPr txBox="1"/>
          <p:nvPr/>
        </p:nvSpPr>
        <p:spPr>
          <a:xfrm>
            <a:off x="4145280" y="2604254"/>
            <a:ext cx="152816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Text retrieval</a:t>
            </a:r>
            <a:endParaRPr lang="en-US" sz="1800" dirty="0"/>
          </a:p>
        </p:txBody>
      </p:sp>
      <p:sp>
        <p:nvSpPr>
          <p:cNvPr id="8" name="Diagram shape"/>
          <p:cNvSpPr/>
          <p:nvPr/>
        </p:nvSpPr>
        <p:spPr>
          <a:xfrm>
            <a:off x="3962400" y="4124444"/>
            <a:ext cx="2895600" cy="952500"/>
          </a:xfrm>
          <a:prstGeom prst="roundRect">
            <a:avLst>
              <a:gd name="adj" fmla="val 8000"/>
            </a:avLst>
          </a:prstGeom>
          <a:solidFill>
            <a:srgbClr val="FFF0EB"/>
          </a:solidFill>
          <a:ln w="12700">
            <a:solidFill>
              <a:srgbClr val="FFFFFF">
                <a:alpha val="0"/>
              </a:srgbClr>
            </a:solidFill>
            <a:prstDash val="solid"/>
          </a:ln>
        </p:spPr>
      </p:sp>
      <p:sp>
        <p:nvSpPr>
          <p:cNvPr id="9" name="text: Image retrieval"/>
          <p:cNvSpPr txBox="1"/>
          <p:nvPr/>
        </p:nvSpPr>
        <p:spPr>
          <a:xfrm>
            <a:off x="4145280" y="4471154"/>
            <a:ext cx="1735812"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Image retrieval</a:t>
            </a:r>
            <a:endParaRPr lang="en-US" sz="1800" dirty="0"/>
          </a:p>
        </p:txBody>
      </p:sp>
      <p:sp>
        <p:nvSpPr>
          <p:cNvPr id="10" name="Diagram shape"/>
          <p:cNvSpPr/>
          <p:nvPr/>
        </p:nvSpPr>
        <p:spPr>
          <a:xfrm>
            <a:off x="8458200" y="3133844"/>
            <a:ext cx="2438400" cy="952500"/>
          </a:xfrm>
          <a:prstGeom prst="roundRect">
            <a:avLst>
              <a:gd name="adj" fmla="val 8000"/>
            </a:avLst>
          </a:prstGeom>
          <a:solidFill>
            <a:srgbClr val="E9F6F2"/>
          </a:solidFill>
          <a:ln w="12700">
            <a:solidFill>
              <a:srgbClr val="FFFFFF">
                <a:alpha val="0"/>
              </a:srgbClr>
            </a:solidFill>
            <a:prstDash val="solid"/>
          </a:ln>
        </p:spPr>
      </p:sp>
      <p:sp>
        <p:nvSpPr>
          <p:cNvPr id="11" name="text: Rank fusion"/>
          <p:cNvSpPr txBox="1"/>
          <p:nvPr/>
        </p:nvSpPr>
        <p:spPr>
          <a:xfrm>
            <a:off x="8641080" y="3480554"/>
            <a:ext cx="1430179"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Rank fusion</a:t>
            </a:r>
            <a:endParaRPr lang="en-US" sz="1800" dirty="0"/>
          </a:p>
        </p:txBody>
      </p:sp>
      <p:sp>
        <p:nvSpPr>
          <p:cNvPr id="12" name="Diagram connector"/>
          <p:cNvSpPr/>
          <p:nvPr/>
        </p:nvSpPr>
        <p:spPr>
          <a:xfrm>
            <a:off x="3048000" y="3606284"/>
            <a:ext cx="381000" cy="0"/>
          </a:xfrm>
          <a:prstGeom prst="line">
            <a:avLst/>
          </a:prstGeom>
          <a:noFill/>
          <a:ln w="22860">
            <a:solidFill>
              <a:srgbClr val="08796F"/>
            </a:solidFill>
            <a:prstDash val="solid"/>
          </a:ln>
        </p:spPr>
      </p:sp>
      <p:sp>
        <p:nvSpPr>
          <p:cNvPr id="13" name="Diagram connector"/>
          <p:cNvSpPr/>
          <p:nvPr/>
        </p:nvSpPr>
        <p:spPr>
          <a:xfrm flipV="1">
            <a:off x="3429000" y="2729984"/>
            <a:ext cx="0" cy="876300"/>
          </a:xfrm>
          <a:prstGeom prst="line">
            <a:avLst/>
          </a:prstGeom>
          <a:noFill/>
          <a:ln w="22860">
            <a:solidFill>
              <a:srgbClr val="08796F"/>
            </a:solidFill>
            <a:prstDash val="solid"/>
          </a:ln>
        </p:spPr>
      </p:sp>
      <p:sp>
        <p:nvSpPr>
          <p:cNvPr id="14" name="Diagram connector"/>
          <p:cNvSpPr/>
          <p:nvPr/>
        </p:nvSpPr>
        <p:spPr>
          <a:xfrm>
            <a:off x="3429000" y="2729984"/>
            <a:ext cx="419100" cy="0"/>
          </a:xfrm>
          <a:prstGeom prst="line">
            <a:avLst/>
          </a:prstGeom>
          <a:noFill/>
          <a:ln w="22860">
            <a:solidFill>
              <a:srgbClr val="08796F"/>
            </a:solidFill>
            <a:prstDash val="solid"/>
          </a:ln>
        </p:spPr>
      </p:sp>
      <p:sp>
        <p:nvSpPr>
          <p:cNvPr id="15" name="Diagram connector"/>
          <p:cNvSpPr/>
          <p:nvPr/>
        </p:nvSpPr>
        <p:spPr>
          <a:xfrm>
            <a:off x="3429000" y="3606284"/>
            <a:ext cx="0" cy="990600"/>
          </a:xfrm>
          <a:prstGeom prst="line">
            <a:avLst/>
          </a:prstGeom>
          <a:noFill/>
          <a:ln w="22860">
            <a:solidFill>
              <a:srgbClr val="08796F"/>
            </a:solidFill>
            <a:prstDash val="solid"/>
          </a:ln>
        </p:spPr>
      </p:sp>
      <p:sp>
        <p:nvSpPr>
          <p:cNvPr id="16" name="Diagram connector"/>
          <p:cNvSpPr/>
          <p:nvPr/>
        </p:nvSpPr>
        <p:spPr>
          <a:xfrm>
            <a:off x="3429000" y="4596884"/>
            <a:ext cx="419100" cy="0"/>
          </a:xfrm>
          <a:prstGeom prst="line">
            <a:avLst/>
          </a:prstGeom>
          <a:noFill/>
          <a:ln w="22860">
            <a:solidFill>
              <a:srgbClr val="08796F"/>
            </a:solidFill>
            <a:prstDash val="solid"/>
          </a:ln>
        </p:spPr>
      </p:sp>
      <p:sp>
        <p:nvSpPr>
          <p:cNvPr id="17" name="Diagram connector"/>
          <p:cNvSpPr/>
          <p:nvPr/>
        </p:nvSpPr>
        <p:spPr>
          <a:xfrm>
            <a:off x="6972300" y="2729984"/>
            <a:ext cx="723900" cy="0"/>
          </a:xfrm>
          <a:prstGeom prst="line">
            <a:avLst/>
          </a:prstGeom>
          <a:noFill/>
          <a:ln w="22860">
            <a:solidFill>
              <a:srgbClr val="08796F"/>
            </a:solidFill>
            <a:prstDash val="solid"/>
          </a:ln>
        </p:spPr>
      </p:sp>
      <p:sp>
        <p:nvSpPr>
          <p:cNvPr id="18" name="Diagram connector"/>
          <p:cNvSpPr/>
          <p:nvPr/>
        </p:nvSpPr>
        <p:spPr>
          <a:xfrm>
            <a:off x="7696200" y="2729984"/>
            <a:ext cx="0" cy="876300"/>
          </a:xfrm>
          <a:prstGeom prst="line">
            <a:avLst/>
          </a:prstGeom>
          <a:noFill/>
          <a:ln w="22860">
            <a:solidFill>
              <a:srgbClr val="08796F"/>
            </a:solidFill>
            <a:prstDash val="solid"/>
          </a:ln>
        </p:spPr>
      </p:sp>
      <p:sp>
        <p:nvSpPr>
          <p:cNvPr id="19" name="Diagram connector"/>
          <p:cNvSpPr/>
          <p:nvPr/>
        </p:nvSpPr>
        <p:spPr>
          <a:xfrm>
            <a:off x="7696200" y="3606284"/>
            <a:ext cx="647700" cy="0"/>
          </a:xfrm>
          <a:prstGeom prst="line">
            <a:avLst/>
          </a:prstGeom>
          <a:noFill/>
          <a:ln w="22860">
            <a:solidFill>
              <a:srgbClr val="08796F"/>
            </a:solidFill>
            <a:prstDash val="solid"/>
          </a:ln>
        </p:spPr>
      </p:sp>
      <p:sp>
        <p:nvSpPr>
          <p:cNvPr id="20" name="Diagram connector"/>
          <p:cNvSpPr/>
          <p:nvPr/>
        </p:nvSpPr>
        <p:spPr>
          <a:xfrm>
            <a:off x="6972300" y="4596884"/>
            <a:ext cx="723900" cy="0"/>
          </a:xfrm>
          <a:prstGeom prst="line">
            <a:avLst/>
          </a:prstGeom>
          <a:noFill/>
          <a:ln w="22860">
            <a:solidFill>
              <a:srgbClr val="08796F"/>
            </a:solidFill>
            <a:prstDash val="solid"/>
          </a:ln>
        </p:spPr>
      </p:sp>
      <p:sp>
        <p:nvSpPr>
          <p:cNvPr id="21" name="Diagram connector"/>
          <p:cNvSpPr/>
          <p:nvPr/>
        </p:nvSpPr>
        <p:spPr>
          <a:xfrm flipV="1">
            <a:off x="7696200" y="3606284"/>
            <a:ext cx="0" cy="990600"/>
          </a:xfrm>
          <a:prstGeom prst="line">
            <a:avLst/>
          </a:prstGeom>
          <a:noFill/>
          <a:ln w="22860">
            <a:solidFill>
              <a:srgbClr val="08796F"/>
            </a:solidFill>
            <a:prstDash val="solid"/>
          </a:ln>
        </p:spPr>
      </p:sp>
      <p:sp>
        <p:nvSpPr>
          <p:cNvPr id="2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23" name="SPAN: 21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21 / 42</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P: 04 · FUSION"/>
          <p:cNvSpPr txBox="1"/>
          <p:nvPr/>
        </p:nvSpPr>
        <p:spPr>
          <a:xfrm>
            <a:off x="731520" y="822960"/>
            <a:ext cx="110192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FUSION</a:t>
            </a:r>
            <a:endParaRPr lang="en-US" sz="1140" dirty="0"/>
          </a:p>
        </p:txBody>
      </p:sp>
      <p:sp>
        <p:nvSpPr>
          <p:cNvPr id="3" name="H1: Raw scores use different rulers"/>
          <p:cNvSpPr txBox="1"/>
          <p:nvPr/>
        </p:nvSpPr>
        <p:spPr>
          <a:xfrm>
            <a:off x="731520" y="1165860"/>
            <a:ext cx="6166128"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Raw scores use different rulers</a:t>
            </a:r>
            <a:endParaRPr lang="en-US" sz="3420" dirty="0"/>
          </a:p>
        </p:txBody>
      </p:sp>
      <p:sp>
        <p:nvSpPr>
          <p:cNvPr id="4" name="Diagram shape"/>
          <p:cNvSpPr/>
          <p:nvPr/>
        </p:nvSpPr>
        <p:spPr>
          <a:xfrm>
            <a:off x="1295400" y="2428994"/>
            <a:ext cx="3078480" cy="2514600"/>
          </a:xfrm>
          <a:prstGeom prst="roundRect">
            <a:avLst>
              <a:gd name="adj" fmla="val 3636"/>
            </a:avLst>
          </a:prstGeom>
          <a:solidFill>
            <a:srgbClr val="E9F6F2"/>
          </a:solidFill>
          <a:ln w="12700">
            <a:solidFill>
              <a:srgbClr val="FFFFFF">
                <a:alpha val="0"/>
              </a:srgbClr>
            </a:solidFill>
            <a:prstDash val="solid"/>
          </a:ln>
        </p:spPr>
      </p:sp>
      <p:sp>
        <p:nvSpPr>
          <p:cNvPr id="5" name="text: Text result"/>
          <p:cNvSpPr txBox="1"/>
          <p:nvPr/>
        </p:nvSpPr>
        <p:spPr>
          <a:xfrm>
            <a:off x="1508760" y="2642354"/>
            <a:ext cx="1185148"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Text result</a:t>
            </a:r>
            <a:endParaRPr lang="en-US" sz="1680" dirty="0"/>
          </a:p>
        </p:txBody>
      </p:sp>
      <p:sp>
        <p:nvSpPr>
          <p:cNvPr id="6" name="text: 0.82"/>
          <p:cNvSpPr txBox="1"/>
          <p:nvPr/>
        </p:nvSpPr>
        <p:spPr>
          <a:xfrm>
            <a:off x="1508760" y="3274814"/>
            <a:ext cx="1011793"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0.82</a:t>
            </a:r>
            <a:endParaRPr lang="en-US" sz="3600" dirty="0"/>
          </a:p>
        </p:txBody>
      </p:sp>
      <p:sp>
        <p:nvSpPr>
          <p:cNvPr id="7" name="text: Text encoder&amp;apos;s similarity"/>
          <p:cNvSpPr txBox="1"/>
          <p:nvPr/>
        </p:nvSpPr>
        <p:spPr>
          <a:xfrm>
            <a:off x="1508760" y="4318754"/>
            <a:ext cx="2057400"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Text encoder's similarity</a:t>
            </a:r>
            <a:endParaRPr lang="en-US" sz="1440" dirty="0"/>
          </a:p>
        </p:txBody>
      </p:sp>
      <p:sp>
        <p:nvSpPr>
          <p:cNvPr id="8" name="Diagram shape"/>
          <p:cNvSpPr/>
          <p:nvPr/>
        </p:nvSpPr>
        <p:spPr>
          <a:xfrm>
            <a:off x="4556760" y="2428994"/>
            <a:ext cx="3078480" cy="2514600"/>
          </a:xfrm>
          <a:prstGeom prst="roundRect">
            <a:avLst>
              <a:gd name="adj" fmla="val 3636"/>
            </a:avLst>
          </a:prstGeom>
          <a:solidFill>
            <a:srgbClr val="FFF0EB"/>
          </a:solidFill>
          <a:ln w="12700">
            <a:solidFill>
              <a:srgbClr val="FFFFFF">
                <a:alpha val="0"/>
              </a:srgbClr>
            </a:solidFill>
            <a:prstDash val="solid"/>
          </a:ln>
        </p:spPr>
      </p:sp>
      <p:sp>
        <p:nvSpPr>
          <p:cNvPr id="9" name="text: Image result"/>
          <p:cNvSpPr txBox="1"/>
          <p:nvPr/>
        </p:nvSpPr>
        <p:spPr>
          <a:xfrm>
            <a:off x="4770120" y="2642354"/>
            <a:ext cx="1378863"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Image result</a:t>
            </a:r>
            <a:endParaRPr lang="en-US" sz="1680" dirty="0"/>
          </a:p>
        </p:txBody>
      </p:sp>
      <p:sp>
        <p:nvSpPr>
          <p:cNvPr id="10" name="text: 0.31"/>
          <p:cNvSpPr txBox="1"/>
          <p:nvPr/>
        </p:nvSpPr>
        <p:spPr>
          <a:xfrm>
            <a:off x="4770120" y="3274814"/>
            <a:ext cx="1011793"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BF4938"/>
                </a:solidFill>
                <a:latin typeface="Arial" pitchFamily="34" charset="0"/>
                <a:ea typeface="Arial" pitchFamily="34" charset="-122"/>
                <a:cs typeface="Arial" pitchFamily="34" charset="-120"/>
              </a:rPr>
              <a:t>0.31</a:t>
            </a:r>
            <a:endParaRPr lang="en-US" sz="3600" dirty="0"/>
          </a:p>
        </p:txBody>
      </p:sp>
      <p:sp>
        <p:nvSpPr>
          <p:cNvPr id="11" name="text: Image encoder&amp;apos;s similarity"/>
          <p:cNvSpPr txBox="1"/>
          <p:nvPr/>
        </p:nvSpPr>
        <p:spPr>
          <a:xfrm>
            <a:off x="4770120" y="4318754"/>
            <a:ext cx="2230279"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Image encoder's similarity</a:t>
            </a:r>
            <a:endParaRPr lang="en-US" sz="1440" dirty="0"/>
          </a:p>
        </p:txBody>
      </p:sp>
      <p:sp>
        <p:nvSpPr>
          <p:cNvPr id="12" name="Diagram shape"/>
          <p:cNvSpPr/>
          <p:nvPr/>
        </p:nvSpPr>
        <p:spPr>
          <a:xfrm>
            <a:off x="7818120" y="2428994"/>
            <a:ext cx="3078480" cy="2514600"/>
          </a:xfrm>
          <a:prstGeom prst="roundRect">
            <a:avLst>
              <a:gd name="adj" fmla="val 3636"/>
            </a:avLst>
          </a:prstGeom>
          <a:solidFill>
            <a:srgbClr val="E9F6F2"/>
          </a:solidFill>
          <a:ln w="12700">
            <a:solidFill>
              <a:srgbClr val="FFFFFF">
                <a:alpha val="0"/>
              </a:srgbClr>
            </a:solidFill>
            <a:prstDash val="solid"/>
          </a:ln>
        </p:spPr>
      </p:sp>
      <p:sp>
        <p:nvSpPr>
          <p:cNvPr id="13" name="text: Conclusion"/>
          <p:cNvSpPr txBox="1"/>
          <p:nvPr/>
        </p:nvSpPr>
        <p:spPr>
          <a:xfrm>
            <a:off x="8031480" y="2642354"/>
            <a:ext cx="1283613"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Conclusion</a:t>
            </a:r>
            <a:endParaRPr lang="en-US" sz="1680" dirty="0"/>
          </a:p>
        </p:txBody>
      </p:sp>
      <p:sp>
        <p:nvSpPr>
          <p:cNvPr id="14" name="text: ?"/>
          <p:cNvSpPr txBox="1"/>
          <p:nvPr/>
        </p:nvSpPr>
        <p:spPr>
          <a:xfrm>
            <a:off x="8031480" y="3274814"/>
            <a:ext cx="401241"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a:t>
            </a:r>
            <a:endParaRPr lang="en-US" sz="3600" dirty="0"/>
          </a:p>
        </p:txBody>
      </p:sp>
      <p:sp>
        <p:nvSpPr>
          <p:cNvPr id="15" name="text: No common calibration"/>
          <p:cNvSpPr txBox="1"/>
          <p:nvPr/>
        </p:nvSpPr>
        <p:spPr>
          <a:xfrm>
            <a:off x="8031480" y="4318754"/>
            <a:ext cx="1992154"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No common calibration</a:t>
            </a:r>
            <a:endParaRPr lang="en-US" sz="14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22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22 / 42</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P: 04 · FUSION"/>
          <p:cNvSpPr txBox="1"/>
          <p:nvPr/>
        </p:nvSpPr>
        <p:spPr>
          <a:xfrm>
            <a:off x="731520" y="822960"/>
            <a:ext cx="110192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FUSION</a:t>
            </a:r>
            <a:endParaRPr lang="en-US" sz="1140" dirty="0"/>
          </a:p>
        </p:txBody>
      </p:sp>
      <p:sp>
        <p:nvSpPr>
          <p:cNvPr id="3" name="H1: RRF adds rewards for good ranks"/>
          <p:cNvSpPr txBox="1"/>
          <p:nvPr/>
        </p:nvSpPr>
        <p:spPr>
          <a:xfrm>
            <a:off x="731520" y="1165860"/>
            <a:ext cx="6671667"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RRF adds rewards for good ranks</a:t>
            </a:r>
            <a:endParaRPr lang="en-US" sz="3420" dirty="0"/>
          </a:p>
        </p:txBody>
      </p:sp>
      <p:sp>
        <p:nvSpPr>
          <p:cNvPr id="4" name="P: Use position when scores are"/>
          <p:cNvSpPr txBox="1"/>
          <p:nvPr/>
        </p:nvSpPr>
        <p:spPr>
          <a:xfrm>
            <a:off x="731520" y="3302675"/>
            <a:ext cx="3220641"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Use position when scores are</a:t>
            </a:r>
            <a:endParaRPr lang="en-US" sz="1860" dirty="0"/>
          </a:p>
        </p:txBody>
      </p:sp>
      <p:sp>
        <p:nvSpPr>
          <p:cNvPr id="5" name="P: incompatible."/>
          <p:cNvSpPr txBox="1"/>
          <p:nvPr/>
        </p:nvSpPr>
        <p:spPr>
          <a:xfrm>
            <a:off x="731520" y="3621524"/>
            <a:ext cx="1513761"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incompatible.</a:t>
            </a:r>
            <a:endParaRPr lang="en-US" sz="1860" dirty="0"/>
          </a:p>
        </p:txBody>
      </p:sp>
      <p:sp>
        <p:nvSpPr>
          <p:cNvPr id="6" name="text: score(d) = Σ 1 / (c + rank)"/>
          <p:cNvSpPr txBox="1"/>
          <p:nvPr/>
        </p:nvSpPr>
        <p:spPr>
          <a:xfrm>
            <a:off x="5433953" y="2478524"/>
            <a:ext cx="3726775" cy="399425"/>
          </a:xfrm>
          <a:prstGeom prst="rect">
            <a:avLst/>
          </a:prstGeom>
          <a:noFill/>
          <a:ln/>
        </p:spPr>
        <p:txBody>
          <a:bodyPr wrap="square" lIns="0" tIns="0" rIns="0" bIns="0" rtlCol="0" anchor="t"/>
          <a:lstStyle/>
          <a:p>
            <a:pPr indent="0" marL="0">
              <a:lnSpc>
                <a:spcPct val="100000"/>
              </a:lnSpc>
              <a:buNone/>
            </a:pPr>
            <a:r>
              <a:rPr lang="en-US" altLang="en-US" sz="2400" b="1" dirty="0">
                <a:solidFill>
                  <a:srgbClr val="08796F"/>
                </a:solidFill>
                <a:latin typeface="Arial" pitchFamily="34" charset="0"/>
                <a:ea typeface="Arial" pitchFamily="34" charset="-122"/>
                <a:cs typeface="Arial" pitchFamily="34" charset="-120"/>
              </a:rPr>
              <a:t>score(d) = Σ 1 / (c + rank)</a:t>
            </a:r>
            <a:endParaRPr lang="en-US" sz="2400" dirty="0"/>
          </a:p>
        </p:txBody>
      </p:sp>
      <p:sp>
        <p:nvSpPr>
          <p:cNvPr id="7" name="text: First place → 1 / (60 + 1)"/>
          <p:cNvSpPr txBox="1"/>
          <p:nvPr/>
        </p:nvSpPr>
        <p:spPr>
          <a:xfrm>
            <a:off x="5433953" y="3301484"/>
            <a:ext cx="2727841"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First place → 1 / (60 + 1)</a:t>
            </a:r>
            <a:endParaRPr lang="en-US" sz="1860" dirty="0"/>
          </a:p>
        </p:txBody>
      </p:sp>
      <p:sp>
        <p:nvSpPr>
          <p:cNvPr id="8" name="text: Second place → 1 / (60 + 2)"/>
          <p:cNvSpPr txBox="1"/>
          <p:nvPr/>
        </p:nvSpPr>
        <p:spPr>
          <a:xfrm>
            <a:off x="5433953" y="3911084"/>
            <a:ext cx="3069908"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Second place → 1 / (60 + 2)</a:t>
            </a:r>
            <a:endParaRPr lang="en-US" sz="1860" dirty="0"/>
          </a:p>
        </p:txBody>
      </p:sp>
      <p:sp>
        <p:nvSpPr>
          <p:cNvPr id="9" name="text: Missing from a list → no contribution"/>
          <p:cNvSpPr txBox="1"/>
          <p:nvPr/>
        </p:nvSpPr>
        <p:spPr>
          <a:xfrm>
            <a:off x="5433953" y="4779764"/>
            <a:ext cx="3315057"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536164"/>
                </a:solidFill>
                <a:latin typeface="Arial" pitchFamily="34" charset="0"/>
                <a:ea typeface="Arial" pitchFamily="34" charset="-122"/>
                <a:cs typeface="Arial" pitchFamily="34" charset="-120"/>
              </a:rPr>
              <a:t>Missing from a list → no contribution</a:t>
            </a:r>
            <a:endParaRPr lang="en-US" sz="1560" dirty="0"/>
          </a:p>
        </p:txBody>
      </p:sp>
      <p:sp>
        <p:nvSpPr>
          <p:cNvPr id="10"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1" name="SPAN: 23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23 / 42</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P: 04 · FUSION"/>
          <p:cNvSpPr txBox="1"/>
          <p:nvPr/>
        </p:nvSpPr>
        <p:spPr>
          <a:xfrm>
            <a:off x="731520" y="822960"/>
            <a:ext cx="110192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FUSION</a:t>
            </a:r>
            <a:endParaRPr lang="en-US" sz="1140" dirty="0"/>
          </a:p>
        </p:txBody>
      </p:sp>
      <p:sp>
        <p:nvSpPr>
          <p:cNvPr id="3" name="H1: Count each source once per list"/>
          <p:cNvSpPr txBox="1"/>
          <p:nvPr/>
        </p:nvSpPr>
        <p:spPr>
          <a:xfrm>
            <a:off x="731520" y="1165860"/>
            <a:ext cx="628590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Count each source once per list</a:t>
            </a:r>
            <a:endParaRPr lang="en-US" sz="3420" dirty="0"/>
          </a:p>
        </p:txBody>
      </p:sp>
      <p:sp>
        <p:nvSpPr>
          <p:cNvPr id="4" name="Diagram shape"/>
          <p:cNvSpPr/>
          <p:nvPr/>
        </p:nvSpPr>
        <p:spPr>
          <a:xfrm>
            <a:off x="731520" y="2594253"/>
            <a:ext cx="5468183" cy="2222183"/>
          </a:xfrm>
          <a:prstGeom prst="roundRect">
            <a:avLst>
              <a:gd name="adj" fmla="val 3429"/>
            </a:avLst>
          </a:prstGeom>
          <a:solidFill>
            <a:srgbClr val="F2F6F4"/>
          </a:solidFill>
          <a:ln w="12700">
            <a:solidFill>
              <a:srgbClr val="FFFFFF">
                <a:alpha val="0"/>
              </a:srgbClr>
            </a:solidFill>
            <a:prstDash val="solid"/>
          </a:ln>
        </p:spPr>
      </p:sp>
      <p:sp>
        <p:nvSpPr>
          <p:cNvPr id="5" name="PRE: for hits in ranked_lists:"/>
          <p:cNvSpPr txBox="1"/>
          <p:nvPr/>
        </p:nvSpPr>
        <p:spPr>
          <a:xfrm>
            <a:off x="944880" y="2876193"/>
            <a:ext cx="2751296"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for hits in ranked_lists:</a:t>
            </a:r>
            <a:endParaRPr lang="en-US" sz="1380" dirty="0"/>
          </a:p>
        </p:txBody>
      </p:sp>
      <p:sp>
        <p:nvSpPr>
          <p:cNvPr id="6" name="PRE:     ids = dedupe_sources(hits)"/>
          <p:cNvSpPr txBox="1"/>
          <p:nvPr/>
        </p:nvSpPr>
        <p:spPr>
          <a:xfrm>
            <a:off x="944880" y="3165277"/>
            <a:ext cx="327719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ids = dedupe_sources(hits)</a:t>
            </a:r>
            <a:endParaRPr lang="en-US" sz="1380" dirty="0"/>
          </a:p>
        </p:txBody>
      </p:sp>
      <p:sp>
        <p:nvSpPr>
          <p:cNvPr id="7" name="PRE:     for rank, source_id in enumerate(ids, 1):"/>
          <p:cNvSpPr txBox="1"/>
          <p:nvPr/>
        </p:nvSpPr>
        <p:spPr>
          <a:xfrm>
            <a:off x="944880" y="3454360"/>
            <a:ext cx="485477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for rank, source_id in enumerate(ids, 1):</a:t>
            </a:r>
            <a:endParaRPr lang="en-US" sz="1380" dirty="0"/>
          </a:p>
        </p:txBody>
      </p:sp>
      <p:sp>
        <p:nvSpPr>
          <p:cNvPr id="8" name="PRE:         scores[source_id] += 1 / (c + rank)"/>
          <p:cNvSpPr txBox="1"/>
          <p:nvPr/>
        </p:nvSpPr>
        <p:spPr>
          <a:xfrm>
            <a:off x="944880" y="3743444"/>
            <a:ext cx="464439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scores[source_id] += 1 / (c + rank)</a:t>
            </a:r>
            <a:endParaRPr lang="en-US" sz="1380" dirty="0"/>
          </a:p>
        </p:txBody>
      </p:sp>
      <p:sp>
        <p:nvSpPr>
          <p:cNvPr id="9" name="PRE: ranked = sorted(scores,"/>
          <p:cNvSpPr txBox="1"/>
          <p:nvPr/>
        </p:nvSpPr>
        <p:spPr>
          <a:xfrm>
            <a:off x="944880" y="4032528"/>
            <a:ext cx="254091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ranked = sorted(scores,</a:t>
            </a:r>
            <a:endParaRPr lang="en-US" sz="1380" dirty="0"/>
          </a:p>
        </p:txBody>
      </p:sp>
      <p:sp>
        <p:nvSpPr>
          <p:cNvPr id="10" name="PRE:                 key=scores.get, reverse=True)"/>
          <p:cNvSpPr txBox="1"/>
          <p:nvPr/>
        </p:nvSpPr>
        <p:spPr>
          <a:xfrm>
            <a:off x="944880" y="4321612"/>
            <a:ext cx="485477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key=scores.get, reverse=True)</a:t>
            </a:r>
            <a:endParaRPr lang="en-US" sz="1380" dirty="0"/>
          </a:p>
        </p:txBody>
      </p:sp>
      <p:sp>
        <p:nvSpPr>
          <p:cNvPr id="11" name="Diagram shape"/>
          <p:cNvSpPr/>
          <p:nvPr/>
        </p:nvSpPr>
        <p:spPr>
          <a:xfrm>
            <a:off x="6737842" y="2426982"/>
            <a:ext cx="4367534" cy="887710"/>
          </a:xfrm>
          <a:prstGeom prst="roundRect">
            <a:avLst>
              <a:gd name="adj" fmla="val 8000"/>
            </a:avLst>
          </a:prstGeom>
          <a:solidFill>
            <a:srgbClr val="E9F6F2"/>
          </a:solidFill>
          <a:ln w="12700">
            <a:solidFill>
              <a:srgbClr val="FFFFFF">
                <a:alpha val="0"/>
              </a:srgbClr>
            </a:solidFill>
            <a:prstDash val="solid"/>
          </a:ln>
        </p:spPr>
      </p:sp>
      <p:sp>
        <p:nvSpPr>
          <p:cNvPr id="12" name="text: chart_energy"/>
          <p:cNvSpPr txBox="1"/>
          <p:nvPr/>
        </p:nvSpPr>
        <p:spPr>
          <a:xfrm>
            <a:off x="6908283" y="2534752"/>
            <a:ext cx="1459706"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chart_energy</a:t>
            </a:r>
            <a:endParaRPr lang="en-US" sz="1678" dirty="0"/>
          </a:p>
        </p:txBody>
      </p:sp>
      <p:sp>
        <p:nvSpPr>
          <p:cNvPr id="13" name="text: Caption + original image"/>
          <p:cNvSpPr txBox="1"/>
          <p:nvPr/>
        </p:nvSpPr>
        <p:spPr>
          <a:xfrm>
            <a:off x="6908283" y="2850336"/>
            <a:ext cx="1887497" cy="243840"/>
          </a:xfrm>
          <a:prstGeom prst="rect">
            <a:avLst/>
          </a:prstGeom>
          <a:noFill/>
          <a:ln/>
        </p:spPr>
        <p:txBody>
          <a:bodyPr wrap="square" lIns="0" tIns="0" rIns="0" bIns="0" rtlCol="0" anchor="t"/>
          <a:lstStyle/>
          <a:p>
            <a:pPr indent="0" marL="0">
              <a:lnSpc>
                <a:spcPct val="100000"/>
              </a:lnSpc>
              <a:buNone/>
            </a:pPr>
            <a:r>
              <a:rPr lang="en-US" altLang="en-US" sz="1286" dirty="0">
                <a:solidFill>
                  <a:srgbClr val="536164"/>
                </a:solidFill>
                <a:latin typeface="Arial" pitchFamily="34" charset="0"/>
                <a:ea typeface="Arial" pitchFamily="34" charset="-122"/>
                <a:cs typeface="Arial" pitchFamily="34" charset="-120"/>
              </a:rPr>
              <a:t>Caption + original image</a:t>
            </a:r>
            <a:endParaRPr lang="en-US" sz="1286" dirty="0"/>
          </a:p>
        </p:txBody>
      </p:sp>
      <p:sp>
        <p:nvSpPr>
          <p:cNvPr id="14" name="Diagram connector"/>
          <p:cNvSpPr/>
          <p:nvPr/>
        </p:nvSpPr>
        <p:spPr>
          <a:xfrm>
            <a:off x="8903855" y="3385709"/>
            <a:ext cx="0" cy="532626"/>
          </a:xfrm>
          <a:prstGeom prst="line">
            <a:avLst/>
          </a:prstGeom>
          <a:noFill/>
          <a:ln w="21305">
            <a:solidFill>
              <a:srgbClr val="08796F"/>
            </a:solidFill>
            <a:prstDash val="solid"/>
            <a:tailEnd type="arrow"/>
          </a:ln>
        </p:spPr>
      </p:sp>
      <p:sp>
        <p:nvSpPr>
          <p:cNvPr id="15" name="Diagram shape"/>
          <p:cNvSpPr/>
          <p:nvPr/>
        </p:nvSpPr>
        <p:spPr>
          <a:xfrm>
            <a:off x="6737842" y="4060369"/>
            <a:ext cx="4367534" cy="816693"/>
          </a:xfrm>
          <a:prstGeom prst="roundRect">
            <a:avLst>
              <a:gd name="adj" fmla="val 8696"/>
            </a:avLst>
          </a:prstGeom>
          <a:solidFill>
            <a:srgbClr val="FFF0EB"/>
          </a:solidFill>
          <a:ln w="12700">
            <a:solidFill>
              <a:srgbClr val="FFFFFF">
                <a:alpha val="0"/>
              </a:srgbClr>
            </a:solidFill>
            <a:prstDash val="solid"/>
          </a:ln>
        </p:spPr>
      </p:sp>
      <p:sp>
        <p:nvSpPr>
          <p:cNvPr id="16" name="text: One source contribution"/>
          <p:cNvSpPr txBox="1"/>
          <p:nvPr/>
        </p:nvSpPr>
        <p:spPr>
          <a:xfrm>
            <a:off x="6908283" y="4349232"/>
            <a:ext cx="2595086"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One source contribution</a:t>
            </a:r>
            <a:endParaRPr lang="en-US" sz="1678"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24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24 / 42</a:t>
            </a:r>
            <a:endParaRPr lang="en-US" sz="10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P: 04 · FUSION"/>
          <p:cNvSpPr txBox="1"/>
          <p:nvPr/>
        </p:nvSpPr>
        <p:spPr>
          <a:xfrm>
            <a:off x="731520" y="822960"/>
            <a:ext cx="1101923"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FUSION</a:t>
            </a:r>
            <a:endParaRPr lang="en-US" sz="1140" dirty="0"/>
          </a:p>
        </p:txBody>
      </p:sp>
      <p:sp>
        <p:nvSpPr>
          <p:cNvPr id="3" name="H1: Work one fusion example by hand"/>
          <p:cNvSpPr txBox="1"/>
          <p:nvPr/>
        </p:nvSpPr>
        <p:spPr>
          <a:xfrm>
            <a:off x="731520" y="1165860"/>
            <a:ext cx="6735961"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Work one fusion example by hand</a:t>
            </a:r>
            <a:endParaRPr lang="en-US" sz="3420" dirty="0"/>
          </a:p>
        </p:txBody>
      </p:sp>
      <p:sp>
        <p:nvSpPr>
          <p:cNvPr id="4" name="Diagram shape"/>
          <p:cNvSpPr/>
          <p:nvPr/>
        </p:nvSpPr>
        <p:spPr>
          <a:xfrm>
            <a:off x="1333500" y="2371844"/>
            <a:ext cx="2895600" cy="2286000"/>
          </a:xfrm>
          <a:prstGeom prst="roundRect">
            <a:avLst>
              <a:gd name="adj" fmla="val 3333"/>
            </a:avLst>
          </a:prstGeom>
          <a:solidFill>
            <a:srgbClr val="E9F6F2"/>
          </a:solidFill>
          <a:ln w="12700">
            <a:solidFill>
              <a:srgbClr val="FFFFFF">
                <a:alpha val="0"/>
              </a:srgbClr>
            </a:solidFill>
            <a:prstDash val="solid"/>
          </a:ln>
        </p:spPr>
      </p:sp>
      <p:sp>
        <p:nvSpPr>
          <p:cNvPr id="5" name="text: Text ranking"/>
          <p:cNvSpPr txBox="1"/>
          <p:nvPr/>
        </p:nvSpPr>
        <p:spPr>
          <a:xfrm>
            <a:off x="1516380" y="2486144"/>
            <a:ext cx="1464231"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Text ranking</a:t>
            </a:r>
            <a:endParaRPr lang="en-US" sz="1800" dirty="0"/>
          </a:p>
        </p:txBody>
      </p:sp>
      <p:sp>
        <p:nvSpPr>
          <p:cNvPr id="6" name="text: 1 memo · 2 chart"/>
          <p:cNvSpPr txBox="1"/>
          <p:nvPr/>
        </p:nvSpPr>
        <p:spPr>
          <a:xfrm>
            <a:off x="1516380" y="2821424"/>
            <a:ext cx="1446609"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1 memo · 2 chart</a:t>
            </a:r>
            <a:endParaRPr lang="en-US" sz="1380" dirty="0"/>
          </a:p>
        </p:txBody>
      </p:sp>
      <p:sp>
        <p:nvSpPr>
          <p:cNvPr id="7" name="text: 3 screenshot"/>
          <p:cNvSpPr txBox="1"/>
          <p:nvPr/>
        </p:nvSpPr>
        <p:spPr>
          <a:xfrm>
            <a:off x="1524000" y="3293864"/>
            <a:ext cx="1256348"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202729"/>
                </a:solidFill>
                <a:latin typeface="Arial" pitchFamily="34" charset="0"/>
                <a:ea typeface="Arial" pitchFamily="34" charset="-122"/>
                <a:cs typeface="Arial" pitchFamily="34" charset="-120"/>
              </a:rPr>
              <a:t>3 screenshot</a:t>
            </a:r>
            <a:endParaRPr lang="en-US" sz="1560" dirty="0"/>
          </a:p>
        </p:txBody>
      </p:sp>
      <p:sp>
        <p:nvSpPr>
          <p:cNvPr id="8" name="Diagram shape"/>
          <p:cNvSpPr/>
          <p:nvPr/>
        </p:nvSpPr>
        <p:spPr>
          <a:xfrm>
            <a:off x="4648200" y="2371844"/>
            <a:ext cx="2895600" cy="2286000"/>
          </a:xfrm>
          <a:prstGeom prst="roundRect">
            <a:avLst>
              <a:gd name="adj" fmla="val 3333"/>
            </a:avLst>
          </a:prstGeom>
          <a:solidFill>
            <a:srgbClr val="FFF0EB"/>
          </a:solidFill>
          <a:ln w="12700">
            <a:solidFill>
              <a:srgbClr val="FFFFFF">
                <a:alpha val="0"/>
              </a:srgbClr>
            </a:solidFill>
            <a:prstDash val="solid"/>
          </a:ln>
        </p:spPr>
      </p:sp>
      <p:sp>
        <p:nvSpPr>
          <p:cNvPr id="9" name="text: Image ranking"/>
          <p:cNvSpPr txBox="1"/>
          <p:nvPr/>
        </p:nvSpPr>
        <p:spPr>
          <a:xfrm>
            <a:off x="4831080" y="2486144"/>
            <a:ext cx="1671876"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Image ranking</a:t>
            </a:r>
            <a:endParaRPr lang="en-US" sz="1800" dirty="0"/>
          </a:p>
        </p:txBody>
      </p:sp>
      <p:sp>
        <p:nvSpPr>
          <p:cNvPr id="10" name="text: 1 chart · 2 frame"/>
          <p:cNvSpPr txBox="1"/>
          <p:nvPr/>
        </p:nvSpPr>
        <p:spPr>
          <a:xfrm>
            <a:off x="4831080" y="2821424"/>
            <a:ext cx="1407676"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1 chart · 2 frame</a:t>
            </a:r>
            <a:endParaRPr lang="en-US" sz="1380" dirty="0"/>
          </a:p>
        </p:txBody>
      </p:sp>
      <p:sp>
        <p:nvSpPr>
          <p:cNvPr id="11" name="text: 3 screenshot"/>
          <p:cNvSpPr txBox="1"/>
          <p:nvPr/>
        </p:nvSpPr>
        <p:spPr>
          <a:xfrm>
            <a:off x="4838700" y="3293864"/>
            <a:ext cx="1256348"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202729"/>
                </a:solidFill>
                <a:latin typeface="Arial" pitchFamily="34" charset="0"/>
                <a:ea typeface="Arial" pitchFamily="34" charset="-122"/>
                <a:cs typeface="Arial" pitchFamily="34" charset="-120"/>
              </a:rPr>
              <a:t>3 screenshot</a:t>
            </a:r>
            <a:endParaRPr lang="en-US" sz="1560" dirty="0"/>
          </a:p>
        </p:txBody>
      </p:sp>
      <p:sp>
        <p:nvSpPr>
          <p:cNvPr id="12" name="Diagram shape"/>
          <p:cNvSpPr/>
          <p:nvPr/>
        </p:nvSpPr>
        <p:spPr>
          <a:xfrm>
            <a:off x="7962900" y="2371844"/>
            <a:ext cx="2895600" cy="2286000"/>
          </a:xfrm>
          <a:prstGeom prst="roundRect">
            <a:avLst>
              <a:gd name="adj" fmla="val 3333"/>
            </a:avLst>
          </a:prstGeom>
          <a:solidFill>
            <a:srgbClr val="E9F6F2"/>
          </a:solidFill>
          <a:ln w="12700">
            <a:solidFill>
              <a:srgbClr val="FFFFFF">
                <a:alpha val="0"/>
              </a:srgbClr>
            </a:solidFill>
            <a:prstDash val="solid"/>
          </a:ln>
        </p:spPr>
      </p:sp>
      <p:sp>
        <p:nvSpPr>
          <p:cNvPr id="13" name="text: Chart wins"/>
          <p:cNvSpPr txBox="1"/>
          <p:nvPr/>
        </p:nvSpPr>
        <p:spPr>
          <a:xfrm>
            <a:off x="8145780" y="2486144"/>
            <a:ext cx="129051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Chart wins</a:t>
            </a:r>
            <a:endParaRPr lang="en-US" sz="1800" dirty="0"/>
          </a:p>
        </p:txBody>
      </p:sp>
      <p:sp>
        <p:nvSpPr>
          <p:cNvPr id="14" name="text: 1/62 + 1/61"/>
          <p:cNvSpPr txBox="1"/>
          <p:nvPr/>
        </p:nvSpPr>
        <p:spPr>
          <a:xfrm>
            <a:off x="8145780" y="2821424"/>
            <a:ext cx="100393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1/62 + 1/61</a:t>
            </a:r>
            <a:endParaRPr lang="en-US" sz="1380" dirty="0"/>
          </a:p>
        </p:txBody>
      </p:sp>
      <p:sp>
        <p:nvSpPr>
          <p:cNvPr id="15" name="text: ≈ 0.03252"/>
          <p:cNvSpPr txBox="1"/>
          <p:nvPr/>
        </p:nvSpPr>
        <p:spPr>
          <a:xfrm>
            <a:off x="8153400" y="3408164"/>
            <a:ext cx="1408033" cy="381000"/>
          </a:xfrm>
          <a:prstGeom prst="rect">
            <a:avLst/>
          </a:prstGeom>
          <a:noFill/>
          <a:ln/>
        </p:spPr>
        <p:txBody>
          <a:bodyPr wrap="square" lIns="0" tIns="0" rIns="0" bIns="0" rtlCol="0" anchor="t"/>
          <a:lstStyle/>
          <a:p>
            <a:pPr indent="0" marL="0">
              <a:lnSpc>
                <a:spcPct val="100000"/>
              </a:lnSpc>
              <a:buNone/>
            </a:pPr>
            <a:r>
              <a:rPr lang="en-US" altLang="en-US" sz="2280" b="1" dirty="0">
                <a:solidFill>
                  <a:srgbClr val="08796F"/>
                </a:solidFill>
                <a:latin typeface="Arial" pitchFamily="34" charset="0"/>
                <a:ea typeface="Arial" pitchFamily="34" charset="-122"/>
                <a:cs typeface="Arial" pitchFamily="34" charset="-120"/>
              </a:rPr>
              <a:t>≈ 0.03252</a:t>
            </a:r>
            <a:endParaRPr lang="en-US" sz="2280" dirty="0"/>
          </a:p>
        </p:txBody>
      </p:sp>
      <p:sp>
        <p:nvSpPr>
          <p:cNvPr id="16" name="text: Caption variant; c = 60"/>
          <p:cNvSpPr txBox="1"/>
          <p:nvPr/>
        </p:nvSpPr>
        <p:spPr>
          <a:xfrm>
            <a:off x="1409700" y="5015984"/>
            <a:ext cx="2033349"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Caption variant; c = 60</a:t>
            </a:r>
            <a:endParaRPr lang="en-US" sz="1500"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25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25 / 42</a:t>
            </a:r>
            <a:endParaRPr lang="en-US" sz="10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P: 04 · READING"/>
          <p:cNvSpPr txBox="1"/>
          <p:nvPr/>
        </p:nvSpPr>
        <p:spPr>
          <a:xfrm>
            <a:off x="731520" y="822960"/>
            <a:ext cx="123563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READING</a:t>
            </a:r>
            <a:endParaRPr lang="en-US" sz="1140" dirty="0"/>
          </a:p>
        </p:txBody>
      </p:sp>
      <p:sp>
        <p:nvSpPr>
          <p:cNvPr id="3" name="H1: Narrow the evidence, then read"/>
          <p:cNvSpPr txBox="1"/>
          <p:nvPr/>
        </p:nvSpPr>
        <p:spPr>
          <a:xfrm>
            <a:off x="731520" y="1165860"/>
            <a:ext cx="615517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Narrow the evidence, then read</a:t>
            </a:r>
            <a:endParaRPr lang="en-US" sz="3420" dirty="0"/>
          </a:p>
        </p:txBody>
      </p:sp>
      <p:sp>
        <p:nvSpPr>
          <p:cNvPr id="4" name="Diagram shape"/>
          <p:cNvSpPr/>
          <p:nvPr/>
        </p:nvSpPr>
        <p:spPr>
          <a:xfrm>
            <a:off x="129540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5" name="text: Question"/>
          <p:cNvSpPr txBox="1"/>
          <p:nvPr/>
        </p:nvSpPr>
        <p:spPr>
          <a:xfrm>
            <a:off x="1478280" y="3442454"/>
            <a:ext cx="1112639"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Question</a:t>
            </a:r>
            <a:endParaRPr lang="en-US" sz="1800" dirty="0"/>
          </a:p>
        </p:txBody>
      </p:sp>
      <p:sp>
        <p:nvSpPr>
          <p:cNvPr id="6" name="Diagram connector"/>
          <p:cNvSpPr/>
          <p:nvPr/>
        </p:nvSpPr>
        <p:spPr>
          <a:xfrm>
            <a:off x="3425190" y="3568184"/>
            <a:ext cx="289560" cy="0"/>
          </a:xfrm>
          <a:prstGeom prst="line">
            <a:avLst/>
          </a:prstGeom>
          <a:noFill/>
          <a:ln w="22860">
            <a:solidFill>
              <a:srgbClr val="08796F"/>
            </a:solidFill>
            <a:prstDash val="solid"/>
            <a:tailEnd type="arrow"/>
          </a:ln>
        </p:spPr>
      </p:sp>
      <p:sp>
        <p:nvSpPr>
          <p:cNvPr id="7" name="Diagram shape"/>
          <p:cNvSpPr/>
          <p:nvPr/>
        </p:nvSpPr>
        <p:spPr>
          <a:xfrm>
            <a:off x="380619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8" name="text: Retrieve"/>
          <p:cNvSpPr txBox="1"/>
          <p:nvPr/>
        </p:nvSpPr>
        <p:spPr>
          <a:xfrm>
            <a:off x="3989070" y="3442454"/>
            <a:ext cx="1024176"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Retrieve</a:t>
            </a:r>
            <a:endParaRPr lang="en-US" sz="1800" dirty="0"/>
          </a:p>
        </p:txBody>
      </p:sp>
      <p:sp>
        <p:nvSpPr>
          <p:cNvPr id="9" name="Diagram connector"/>
          <p:cNvSpPr/>
          <p:nvPr/>
        </p:nvSpPr>
        <p:spPr>
          <a:xfrm>
            <a:off x="5935980" y="3568184"/>
            <a:ext cx="289560" cy="0"/>
          </a:xfrm>
          <a:prstGeom prst="line">
            <a:avLst/>
          </a:prstGeom>
          <a:noFill/>
          <a:ln w="22860">
            <a:solidFill>
              <a:srgbClr val="08796F"/>
            </a:solidFill>
            <a:prstDash val="solid"/>
            <a:tailEnd type="arrow"/>
          </a:ln>
        </p:spPr>
      </p:sp>
      <p:sp>
        <p:nvSpPr>
          <p:cNvPr id="10" name="Diagram shape"/>
          <p:cNvSpPr/>
          <p:nvPr/>
        </p:nvSpPr>
        <p:spPr>
          <a:xfrm>
            <a:off x="631698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1" name="text: Selected pixels"/>
          <p:cNvSpPr txBox="1"/>
          <p:nvPr/>
        </p:nvSpPr>
        <p:spPr>
          <a:xfrm>
            <a:off x="6499860" y="3442454"/>
            <a:ext cx="1773912"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Selected pixels</a:t>
            </a:r>
            <a:endParaRPr lang="en-US" sz="1800" dirty="0"/>
          </a:p>
        </p:txBody>
      </p:sp>
      <p:sp>
        <p:nvSpPr>
          <p:cNvPr id="12" name="Diagram connector"/>
          <p:cNvSpPr/>
          <p:nvPr/>
        </p:nvSpPr>
        <p:spPr>
          <a:xfrm>
            <a:off x="8446770" y="3568184"/>
            <a:ext cx="289560" cy="0"/>
          </a:xfrm>
          <a:prstGeom prst="line">
            <a:avLst/>
          </a:prstGeom>
          <a:noFill/>
          <a:ln w="22860">
            <a:solidFill>
              <a:srgbClr val="08796F"/>
            </a:solidFill>
            <a:prstDash val="solid"/>
            <a:tailEnd type="arrow"/>
          </a:ln>
        </p:spPr>
      </p:sp>
      <p:sp>
        <p:nvSpPr>
          <p:cNvPr id="13" name="Diagram shape"/>
          <p:cNvSpPr/>
          <p:nvPr/>
        </p:nvSpPr>
        <p:spPr>
          <a:xfrm>
            <a:off x="882777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4" name="text: Answer"/>
          <p:cNvSpPr txBox="1"/>
          <p:nvPr/>
        </p:nvSpPr>
        <p:spPr>
          <a:xfrm>
            <a:off x="9010650" y="3442454"/>
            <a:ext cx="95059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Answer</a:t>
            </a:r>
            <a:endParaRPr lang="en-US" sz="1800" dirty="0"/>
          </a:p>
        </p:txBody>
      </p:sp>
      <p:sp>
        <p:nvSpPr>
          <p:cNvPr id="15" name="text: Citations reconnect the answer to its sources."/>
          <p:cNvSpPr txBox="1"/>
          <p:nvPr/>
        </p:nvSpPr>
        <p:spPr>
          <a:xfrm>
            <a:off x="1295400" y="4535924"/>
            <a:ext cx="4580573" cy="304800"/>
          </a:xfrm>
          <a:prstGeom prst="rect">
            <a:avLst/>
          </a:prstGeom>
          <a:noFill/>
          <a:ln/>
        </p:spPr>
        <p:txBody>
          <a:bodyPr wrap="square" lIns="0" tIns="0" rIns="0" bIns="0" rtlCol="0" anchor="t"/>
          <a:lstStyle/>
          <a:p>
            <a:pPr indent="0" marL="0">
              <a:lnSpc>
                <a:spcPct val="100000"/>
              </a:lnSpc>
              <a:buNone/>
            </a:pPr>
            <a:r>
              <a:rPr lang="en-US" altLang="en-US" sz="1740" dirty="0">
                <a:solidFill>
                  <a:srgbClr val="536164"/>
                </a:solidFill>
                <a:latin typeface="Arial" pitchFamily="34" charset="0"/>
                <a:ea typeface="Arial" pitchFamily="34" charset="-122"/>
                <a:cs typeface="Arial" pitchFamily="34" charset="-120"/>
              </a:rPr>
              <a:t>Citations reconnect the answer to its sources.</a:t>
            </a:r>
            <a:endParaRPr lang="en-US" sz="17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26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26 / 42</a:t>
            </a:r>
            <a:endParaRPr lang="en-US" sz="10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P: 04 · READING"/>
          <p:cNvSpPr txBox="1"/>
          <p:nvPr/>
        </p:nvSpPr>
        <p:spPr>
          <a:xfrm>
            <a:off x="731520" y="822960"/>
            <a:ext cx="123563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READING</a:t>
            </a:r>
            <a:endParaRPr lang="en-US" sz="1140" dirty="0"/>
          </a:p>
        </p:txBody>
      </p:sp>
      <p:sp>
        <p:nvSpPr>
          <p:cNvPr id="3" name="H1: Send the source pixels explicitly"/>
          <p:cNvSpPr txBox="1"/>
          <p:nvPr/>
        </p:nvSpPr>
        <p:spPr>
          <a:xfrm>
            <a:off x="731520" y="1165860"/>
            <a:ext cx="637996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Send the source pixels explicitly</a:t>
            </a:r>
            <a:endParaRPr lang="en-US" sz="3420" dirty="0"/>
          </a:p>
        </p:txBody>
      </p:sp>
      <p:sp>
        <p:nvSpPr>
          <p:cNvPr id="4" name="Diagram shape"/>
          <p:cNvSpPr/>
          <p:nvPr/>
        </p:nvSpPr>
        <p:spPr>
          <a:xfrm>
            <a:off x="731520" y="2594253"/>
            <a:ext cx="5468183" cy="2222183"/>
          </a:xfrm>
          <a:prstGeom prst="roundRect">
            <a:avLst>
              <a:gd name="adj" fmla="val 3429"/>
            </a:avLst>
          </a:prstGeom>
          <a:solidFill>
            <a:srgbClr val="F2F6F4"/>
          </a:solidFill>
          <a:ln w="12700">
            <a:solidFill>
              <a:srgbClr val="FFFFFF">
                <a:alpha val="0"/>
              </a:srgbClr>
            </a:solidFill>
            <a:prstDash val="solid"/>
          </a:ln>
        </p:spPr>
      </p:sp>
      <p:sp>
        <p:nvSpPr>
          <p:cNvPr id="5" name="PRE: parts = [text_part(question)]"/>
          <p:cNvSpPr txBox="1"/>
          <p:nvPr/>
        </p:nvSpPr>
        <p:spPr>
          <a:xfrm>
            <a:off x="944880" y="2876193"/>
            <a:ext cx="317194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parts = [text_part(question)]</a:t>
            </a:r>
            <a:endParaRPr lang="en-US" sz="1380" dirty="0"/>
          </a:p>
        </p:txBody>
      </p:sp>
      <p:sp>
        <p:nvSpPr>
          <p:cNvPr id="6" name="PRE: parts += [text_part(&amp;quot;[chart_energy]&amp;quot;)]"/>
          <p:cNvSpPr txBox="1"/>
          <p:nvPr/>
        </p:nvSpPr>
        <p:spPr>
          <a:xfrm>
            <a:off x="944880" y="3165277"/>
            <a:ext cx="4118610"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parts += [text_part("[chart_energy]")]</a:t>
            </a:r>
            <a:endParaRPr lang="en-US" sz="1380" dirty="0"/>
          </a:p>
        </p:txBody>
      </p:sp>
      <p:sp>
        <p:nvSpPr>
          <p:cNvPr id="7" name="PRE: parts += [image_part(source_path)]"/>
          <p:cNvSpPr txBox="1"/>
          <p:nvPr/>
        </p:nvSpPr>
        <p:spPr>
          <a:xfrm>
            <a:off x="944880" y="3454360"/>
            <a:ext cx="369784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parts += [image_part(source_path)]</a:t>
            </a:r>
            <a:endParaRPr lang="en-US" sz="1380" dirty="0"/>
          </a:p>
        </p:txBody>
      </p:sp>
      <p:sp>
        <p:nvSpPr>
          <p:cNvPr id="8" name="PRE: reply = completion(model=VLM_MODEL,"/>
          <p:cNvSpPr txBox="1"/>
          <p:nvPr/>
        </p:nvSpPr>
        <p:spPr>
          <a:xfrm>
            <a:off x="944880" y="3743444"/>
            <a:ext cx="380309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reply = completion(model=VLM_MODEL,</a:t>
            </a:r>
            <a:endParaRPr lang="en-US" sz="1380" dirty="0"/>
          </a:p>
        </p:txBody>
      </p:sp>
      <p:sp>
        <p:nvSpPr>
          <p:cNvPr id="9" name="PRE:     messages=[{&amp;quot;role&amp;quot;: &amp;quot;user&amp;quot;,"/>
          <p:cNvSpPr txBox="1"/>
          <p:nvPr/>
        </p:nvSpPr>
        <p:spPr>
          <a:xfrm>
            <a:off x="944880" y="4032528"/>
            <a:ext cx="3277195"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messages=[{"role": "user",</a:t>
            </a:r>
            <a:endParaRPr lang="en-US" sz="1380" dirty="0"/>
          </a:p>
        </p:txBody>
      </p:sp>
      <p:sp>
        <p:nvSpPr>
          <p:cNvPr id="10" name="PRE:                &amp;quot;content&amp;quot;: parts}])"/>
          <p:cNvSpPr txBox="1"/>
          <p:nvPr/>
        </p:nvSpPr>
        <p:spPr>
          <a:xfrm>
            <a:off x="944880" y="4321612"/>
            <a:ext cx="369784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"content": parts}])</a:t>
            </a:r>
            <a:endParaRPr lang="en-US" sz="1380" dirty="0"/>
          </a:p>
        </p:txBody>
      </p:sp>
      <p:sp>
        <p:nvSpPr>
          <p:cNvPr id="11" name="Diagram shape"/>
          <p:cNvSpPr/>
          <p:nvPr/>
        </p:nvSpPr>
        <p:spPr>
          <a:xfrm>
            <a:off x="6737842" y="2569016"/>
            <a:ext cx="4367534" cy="887710"/>
          </a:xfrm>
          <a:prstGeom prst="roundRect">
            <a:avLst>
              <a:gd name="adj" fmla="val 8000"/>
            </a:avLst>
          </a:prstGeom>
          <a:solidFill>
            <a:srgbClr val="E9F6F2"/>
          </a:solidFill>
          <a:ln w="12700">
            <a:solidFill>
              <a:srgbClr val="FFFFFF">
                <a:alpha val="0"/>
              </a:srgbClr>
            </a:solidFill>
            <a:prstDash val="solid"/>
          </a:ln>
        </p:spPr>
      </p:sp>
      <p:sp>
        <p:nvSpPr>
          <p:cNvPr id="12" name="text: Text part"/>
          <p:cNvSpPr txBox="1"/>
          <p:nvPr/>
        </p:nvSpPr>
        <p:spPr>
          <a:xfrm>
            <a:off x="6908283" y="2676786"/>
            <a:ext cx="1005602"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Text part</a:t>
            </a:r>
            <a:endParaRPr lang="en-US" sz="1678" dirty="0"/>
          </a:p>
        </p:txBody>
      </p:sp>
      <p:sp>
        <p:nvSpPr>
          <p:cNvPr id="13" name="text: Question + source label"/>
          <p:cNvSpPr txBox="1"/>
          <p:nvPr/>
        </p:nvSpPr>
        <p:spPr>
          <a:xfrm>
            <a:off x="6908283" y="2992370"/>
            <a:ext cx="1842135" cy="243840"/>
          </a:xfrm>
          <a:prstGeom prst="rect">
            <a:avLst/>
          </a:prstGeom>
          <a:noFill/>
          <a:ln/>
        </p:spPr>
        <p:txBody>
          <a:bodyPr wrap="square" lIns="0" tIns="0" rIns="0" bIns="0" rtlCol="0" anchor="t"/>
          <a:lstStyle/>
          <a:p>
            <a:pPr indent="0" marL="0">
              <a:lnSpc>
                <a:spcPct val="100000"/>
              </a:lnSpc>
              <a:buNone/>
            </a:pPr>
            <a:r>
              <a:rPr lang="en-US" altLang="en-US" sz="1286" dirty="0">
                <a:solidFill>
                  <a:srgbClr val="536164"/>
                </a:solidFill>
                <a:latin typeface="Arial" pitchFamily="34" charset="0"/>
                <a:ea typeface="Arial" pitchFamily="34" charset="-122"/>
                <a:cs typeface="Arial" pitchFamily="34" charset="-120"/>
              </a:rPr>
              <a:t>Question + source label</a:t>
            </a:r>
            <a:endParaRPr lang="en-US" sz="1286" dirty="0"/>
          </a:p>
        </p:txBody>
      </p:sp>
      <p:sp>
        <p:nvSpPr>
          <p:cNvPr id="14" name="Diagram shape"/>
          <p:cNvSpPr/>
          <p:nvPr/>
        </p:nvSpPr>
        <p:spPr>
          <a:xfrm>
            <a:off x="6737842" y="3882827"/>
            <a:ext cx="4367534" cy="887710"/>
          </a:xfrm>
          <a:prstGeom prst="roundRect">
            <a:avLst>
              <a:gd name="adj" fmla="val 8000"/>
            </a:avLst>
          </a:prstGeom>
          <a:solidFill>
            <a:srgbClr val="FFF0EB"/>
          </a:solidFill>
          <a:ln w="12700">
            <a:solidFill>
              <a:srgbClr val="FFFFFF">
                <a:alpha val="0"/>
              </a:srgbClr>
            </a:solidFill>
            <a:prstDash val="solid"/>
          </a:ln>
        </p:spPr>
      </p:sp>
      <p:sp>
        <p:nvSpPr>
          <p:cNvPr id="15" name="text: Image part"/>
          <p:cNvSpPr txBox="1"/>
          <p:nvPr/>
        </p:nvSpPr>
        <p:spPr>
          <a:xfrm>
            <a:off x="6908283" y="3990597"/>
            <a:ext cx="1199078" cy="297180"/>
          </a:xfrm>
          <a:prstGeom prst="rect">
            <a:avLst/>
          </a:prstGeom>
          <a:noFill/>
          <a:ln/>
        </p:spPr>
        <p:txBody>
          <a:bodyPr wrap="square" lIns="0" tIns="0" rIns="0" bIns="0" rtlCol="0" anchor="t"/>
          <a:lstStyle/>
          <a:p>
            <a:pPr indent="0" marL="0">
              <a:lnSpc>
                <a:spcPct val="100000"/>
              </a:lnSpc>
              <a:buNone/>
            </a:pPr>
            <a:r>
              <a:rPr lang="en-US" altLang="en-US" sz="1678" b="1" dirty="0">
                <a:solidFill>
                  <a:srgbClr val="202729"/>
                </a:solidFill>
                <a:latin typeface="Arial" pitchFamily="34" charset="0"/>
                <a:ea typeface="Arial" pitchFamily="34" charset="-122"/>
                <a:cs typeface="Arial" pitchFamily="34" charset="-120"/>
              </a:rPr>
              <a:t>Image part</a:t>
            </a:r>
            <a:endParaRPr lang="en-US" sz="1678" dirty="0"/>
          </a:p>
        </p:txBody>
      </p:sp>
      <p:sp>
        <p:nvSpPr>
          <p:cNvPr id="16" name="text: Actual image bytes or URL"/>
          <p:cNvSpPr txBox="1"/>
          <p:nvPr/>
        </p:nvSpPr>
        <p:spPr>
          <a:xfrm>
            <a:off x="6908043" y="4306181"/>
            <a:ext cx="2064426" cy="243840"/>
          </a:xfrm>
          <a:prstGeom prst="rect">
            <a:avLst/>
          </a:prstGeom>
          <a:noFill/>
          <a:ln/>
        </p:spPr>
        <p:txBody>
          <a:bodyPr wrap="square" lIns="0" tIns="0" rIns="0" bIns="0" rtlCol="0" anchor="t"/>
          <a:lstStyle/>
          <a:p>
            <a:pPr indent="0" marL="0">
              <a:lnSpc>
                <a:spcPct val="100000"/>
              </a:lnSpc>
              <a:buNone/>
            </a:pPr>
            <a:r>
              <a:rPr lang="en-US" altLang="en-US" sz="1286" dirty="0">
                <a:solidFill>
                  <a:srgbClr val="536164"/>
                </a:solidFill>
                <a:latin typeface="Arial" pitchFamily="34" charset="0"/>
                <a:ea typeface="Arial" pitchFamily="34" charset="-122"/>
                <a:cs typeface="Arial" pitchFamily="34" charset="-120"/>
              </a:rPr>
              <a:t>Actual image bytes or URL</a:t>
            </a:r>
            <a:endParaRPr lang="en-US" sz="1286"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27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27 / 42</a:t>
            </a:r>
            <a:endParaRPr lang="en-US" sz="10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P: 04 · READING"/>
          <p:cNvSpPr txBox="1"/>
          <p:nvPr/>
        </p:nvSpPr>
        <p:spPr>
          <a:xfrm>
            <a:off x="731520" y="822960"/>
            <a:ext cx="1235631"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READING</a:t>
            </a:r>
            <a:endParaRPr lang="en-US" sz="1140" dirty="0"/>
          </a:p>
        </p:txBody>
      </p:sp>
      <p:sp>
        <p:nvSpPr>
          <p:cNvPr id="3" name="H1: Evidence sets the answer boundary"/>
          <p:cNvSpPr txBox="1"/>
          <p:nvPr/>
        </p:nvSpPr>
        <p:spPr>
          <a:xfrm>
            <a:off x="731520" y="1165860"/>
            <a:ext cx="705564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Evidence sets the answer boundary</a:t>
            </a:r>
            <a:endParaRPr lang="en-US" sz="3420" dirty="0"/>
          </a:p>
        </p:txBody>
      </p:sp>
      <p:sp>
        <p:nvSpPr>
          <p:cNvPr id="4" name="Diagram shape"/>
          <p:cNvSpPr/>
          <p:nvPr/>
        </p:nvSpPr>
        <p:spPr>
          <a:xfrm>
            <a:off x="1371600" y="2524244"/>
            <a:ext cx="4343400" cy="2095500"/>
          </a:xfrm>
          <a:prstGeom prst="roundRect">
            <a:avLst>
              <a:gd name="adj" fmla="val 3636"/>
            </a:avLst>
          </a:prstGeom>
          <a:solidFill>
            <a:srgbClr val="E9F6F2"/>
          </a:solidFill>
          <a:ln w="12700">
            <a:solidFill>
              <a:srgbClr val="FFFFFF">
                <a:alpha val="0"/>
              </a:srgbClr>
            </a:solidFill>
            <a:prstDash val="solid"/>
          </a:ln>
        </p:spPr>
      </p:sp>
      <p:sp>
        <p:nvSpPr>
          <p:cNvPr id="5" name="text: Supported"/>
          <p:cNvSpPr txBox="1"/>
          <p:nvPr/>
        </p:nvSpPr>
        <p:spPr>
          <a:xfrm>
            <a:off x="1554480" y="2638544"/>
            <a:ext cx="1264920"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Supported</a:t>
            </a:r>
            <a:endParaRPr lang="en-US" sz="1800" dirty="0"/>
          </a:p>
        </p:txBody>
      </p:sp>
      <p:sp>
        <p:nvSpPr>
          <p:cNvPr id="6" name="text: May produced 57 kWh"/>
          <p:cNvSpPr txBox="1"/>
          <p:nvPr/>
        </p:nvSpPr>
        <p:spPr>
          <a:xfrm>
            <a:off x="1554480" y="2973824"/>
            <a:ext cx="187547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May produced 57 kWh</a:t>
            </a:r>
            <a:endParaRPr lang="en-US" sz="1380" dirty="0"/>
          </a:p>
        </p:txBody>
      </p:sp>
      <p:sp>
        <p:nvSpPr>
          <p:cNvPr id="7" name="Diagram shape"/>
          <p:cNvSpPr/>
          <p:nvPr/>
        </p:nvSpPr>
        <p:spPr>
          <a:xfrm>
            <a:off x="6553200" y="2524244"/>
            <a:ext cx="4343400" cy="2095500"/>
          </a:xfrm>
          <a:prstGeom prst="roundRect">
            <a:avLst>
              <a:gd name="adj" fmla="val 3636"/>
            </a:avLst>
          </a:prstGeom>
          <a:solidFill>
            <a:srgbClr val="FFF0EB"/>
          </a:solidFill>
          <a:ln w="12700">
            <a:solidFill>
              <a:srgbClr val="FFFFFF">
                <a:alpha val="0"/>
              </a:srgbClr>
            </a:solidFill>
            <a:prstDash val="solid"/>
          </a:ln>
        </p:spPr>
      </p:sp>
      <p:sp>
        <p:nvSpPr>
          <p:cNvPr id="8" name="text: Unsupported"/>
          <p:cNvSpPr txBox="1"/>
          <p:nvPr/>
        </p:nvSpPr>
        <p:spPr>
          <a:xfrm>
            <a:off x="6736080" y="2638544"/>
            <a:ext cx="1544241"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Unsupported</a:t>
            </a:r>
            <a:endParaRPr lang="en-US" sz="1800" dirty="0"/>
          </a:p>
        </p:txBody>
      </p:sp>
      <p:sp>
        <p:nvSpPr>
          <p:cNvPr id="9" name="text: May had the most sunshine"/>
          <p:cNvSpPr txBox="1"/>
          <p:nvPr/>
        </p:nvSpPr>
        <p:spPr>
          <a:xfrm>
            <a:off x="6736080" y="2973824"/>
            <a:ext cx="226528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May had the most sunshine</a:t>
            </a:r>
            <a:endParaRPr lang="en-US" sz="1380" dirty="0"/>
          </a:p>
        </p:txBody>
      </p:sp>
      <p:sp>
        <p:nvSpPr>
          <p:cNvPr id="10" name="text: Visible bar and label"/>
          <p:cNvSpPr txBox="1"/>
          <p:nvPr/>
        </p:nvSpPr>
        <p:spPr>
          <a:xfrm>
            <a:off x="1562100" y="4017764"/>
            <a:ext cx="1902619"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08796F"/>
                </a:solidFill>
                <a:latin typeface="Arial" pitchFamily="34" charset="0"/>
                <a:ea typeface="Arial" pitchFamily="34" charset="-122"/>
                <a:cs typeface="Arial" pitchFamily="34" charset="-120"/>
              </a:rPr>
              <a:t>Visible bar and label</a:t>
            </a:r>
            <a:endParaRPr lang="en-US" sz="1560" dirty="0"/>
          </a:p>
        </p:txBody>
      </p:sp>
      <p:sp>
        <p:nvSpPr>
          <p:cNvPr id="11" name="text: Cause is not in this chart"/>
          <p:cNvSpPr txBox="1"/>
          <p:nvPr/>
        </p:nvSpPr>
        <p:spPr>
          <a:xfrm>
            <a:off x="6743700" y="4017764"/>
            <a:ext cx="2291358"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BF4938"/>
                </a:solidFill>
                <a:latin typeface="Arial" pitchFamily="34" charset="0"/>
                <a:ea typeface="Arial" pitchFamily="34" charset="-122"/>
                <a:cs typeface="Arial" pitchFamily="34" charset="-120"/>
              </a:rPr>
              <a:t>Cause is not in this chart</a:t>
            </a:r>
            <a:endParaRPr lang="en-US" sz="156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28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28 / 42</a:t>
            </a:r>
            <a:endParaRPr lang="en-US" sz="10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P: 04 · EVALUATION"/>
          <p:cNvSpPr txBox="1"/>
          <p:nvPr/>
        </p:nvSpPr>
        <p:spPr>
          <a:xfrm>
            <a:off x="731520" y="822960"/>
            <a:ext cx="1526738"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EVALUATION</a:t>
            </a:r>
            <a:endParaRPr lang="en-US" sz="1140" dirty="0"/>
          </a:p>
        </p:txBody>
      </p:sp>
      <p:sp>
        <p:nvSpPr>
          <p:cNvPr id="3" name="H1: Define success before changing the system"/>
          <p:cNvSpPr txBox="1"/>
          <p:nvPr/>
        </p:nvSpPr>
        <p:spPr>
          <a:xfrm>
            <a:off x="731520" y="1165860"/>
            <a:ext cx="861143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Define success before changing the system</a:t>
            </a:r>
            <a:endParaRPr lang="en-US" sz="3420" dirty="0"/>
          </a:p>
        </p:txBody>
      </p:sp>
      <p:sp>
        <p:nvSpPr>
          <p:cNvPr id="4" name="Diagram shape"/>
          <p:cNvSpPr/>
          <p:nvPr/>
        </p:nvSpPr>
        <p:spPr>
          <a:xfrm>
            <a:off x="129540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5" name="text: Question"/>
          <p:cNvSpPr txBox="1"/>
          <p:nvPr/>
        </p:nvSpPr>
        <p:spPr>
          <a:xfrm>
            <a:off x="1508760" y="2585204"/>
            <a:ext cx="1046559"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Question</a:t>
            </a:r>
            <a:endParaRPr lang="en-US" sz="1680" dirty="0"/>
          </a:p>
        </p:txBody>
      </p:sp>
      <p:sp>
        <p:nvSpPr>
          <p:cNvPr id="6" name="text: Query"/>
          <p:cNvSpPr txBox="1"/>
          <p:nvPr/>
        </p:nvSpPr>
        <p:spPr>
          <a:xfrm>
            <a:off x="1508760" y="3217664"/>
            <a:ext cx="1443395"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Query</a:t>
            </a:r>
            <a:endParaRPr lang="en-US" sz="3600" dirty="0"/>
          </a:p>
        </p:txBody>
      </p:sp>
      <p:sp>
        <p:nvSpPr>
          <p:cNvPr id="7" name="text: What should students ask?"/>
          <p:cNvSpPr txBox="1"/>
          <p:nvPr/>
        </p:nvSpPr>
        <p:spPr>
          <a:xfrm>
            <a:off x="1508760" y="4261604"/>
            <a:ext cx="2317790"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What should students ask?</a:t>
            </a:r>
            <a:endParaRPr lang="en-US" sz="1440" dirty="0"/>
          </a:p>
        </p:txBody>
      </p:sp>
      <p:sp>
        <p:nvSpPr>
          <p:cNvPr id="8" name="Diagram shape"/>
          <p:cNvSpPr/>
          <p:nvPr/>
        </p:nvSpPr>
        <p:spPr>
          <a:xfrm>
            <a:off x="4556760" y="2371844"/>
            <a:ext cx="3078480" cy="2514600"/>
          </a:xfrm>
          <a:prstGeom prst="roundRect">
            <a:avLst>
              <a:gd name="adj" fmla="val 3636"/>
            </a:avLst>
          </a:prstGeom>
          <a:solidFill>
            <a:srgbClr val="FFF0EB"/>
          </a:solidFill>
          <a:ln w="12700">
            <a:solidFill>
              <a:srgbClr val="FFFFFF">
                <a:alpha val="0"/>
              </a:srgbClr>
            </a:solidFill>
            <a:prstDash val="solid"/>
          </a:ln>
        </p:spPr>
      </p:sp>
      <p:sp>
        <p:nvSpPr>
          <p:cNvPr id="9" name="text: Evidence"/>
          <p:cNvSpPr txBox="1"/>
          <p:nvPr/>
        </p:nvSpPr>
        <p:spPr>
          <a:xfrm>
            <a:off x="4770120" y="2585204"/>
            <a:ext cx="1058823"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Evidence</a:t>
            </a:r>
            <a:endParaRPr lang="en-US" sz="1680" dirty="0"/>
          </a:p>
        </p:txBody>
      </p:sp>
      <p:sp>
        <p:nvSpPr>
          <p:cNvPr id="10" name="text: Gold IDs"/>
          <p:cNvSpPr txBox="1"/>
          <p:nvPr/>
        </p:nvSpPr>
        <p:spPr>
          <a:xfrm>
            <a:off x="4770120" y="3217664"/>
            <a:ext cx="2001679"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BF4938"/>
                </a:solidFill>
                <a:latin typeface="Arial" pitchFamily="34" charset="0"/>
                <a:ea typeface="Arial" pitchFamily="34" charset="-122"/>
                <a:cs typeface="Arial" pitchFamily="34" charset="-120"/>
              </a:rPr>
              <a:t>Gold IDs</a:t>
            </a:r>
            <a:endParaRPr lang="en-US" sz="3600" dirty="0"/>
          </a:p>
        </p:txBody>
      </p:sp>
      <p:sp>
        <p:nvSpPr>
          <p:cNvPr id="11" name="text: Which sources are relevant?"/>
          <p:cNvSpPr txBox="1"/>
          <p:nvPr/>
        </p:nvSpPr>
        <p:spPr>
          <a:xfrm>
            <a:off x="4770120" y="4261604"/>
            <a:ext cx="2439472"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Which sources are relevant?</a:t>
            </a:r>
            <a:endParaRPr lang="en-US" sz="1440" dirty="0"/>
          </a:p>
        </p:txBody>
      </p:sp>
      <p:sp>
        <p:nvSpPr>
          <p:cNvPr id="12" name="Diagram shape"/>
          <p:cNvSpPr/>
          <p:nvPr/>
        </p:nvSpPr>
        <p:spPr>
          <a:xfrm>
            <a:off x="781812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13" name="text: Budget"/>
          <p:cNvSpPr txBox="1"/>
          <p:nvPr/>
        </p:nvSpPr>
        <p:spPr>
          <a:xfrm>
            <a:off x="8031480" y="2585204"/>
            <a:ext cx="856774"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Budget</a:t>
            </a:r>
            <a:endParaRPr lang="en-US" sz="1680" dirty="0"/>
          </a:p>
        </p:txBody>
      </p:sp>
      <p:sp>
        <p:nvSpPr>
          <p:cNvPr id="14" name="text: Top k"/>
          <p:cNvSpPr txBox="1"/>
          <p:nvPr/>
        </p:nvSpPr>
        <p:spPr>
          <a:xfrm>
            <a:off x="8031480" y="3217664"/>
            <a:ext cx="1307187"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Top k</a:t>
            </a:r>
            <a:endParaRPr lang="en-US" sz="3600" dirty="0"/>
          </a:p>
        </p:txBody>
      </p:sp>
      <p:sp>
        <p:nvSpPr>
          <p:cNvPr id="15" name="text: How many sources fit?"/>
          <p:cNvSpPr txBox="1"/>
          <p:nvPr/>
        </p:nvSpPr>
        <p:spPr>
          <a:xfrm>
            <a:off x="8031480" y="4261604"/>
            <a:ext cx="1971794"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How many sources fit?</a:t>
            </a:r>
            <a:endParaRPr lang="en-US" sz="14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29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29 / 42</a:t>
            </a:r>
            <a:endParaRPr lang="en-US" sz="10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P: 04 · EVALUATION"/>
          <p:cNvSpPr txBox="1"/>
          <p:nvPr/>
        </p:nvSpPr>
        <p:spPr>
          <a:xfrm>
            <a:off x="731520" y="822960"/>
            <a:ext cx="1526738"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EVALUATION</a:t>
            </a:r>
            <a:endParaRPr lang="en-US" sz="1140" dirty="0"/>
          </a:p>
        </p:txBody>
      </p:sp>
      <p:sp>
        <p:nvSpPr>
          <p:cNvPr id="3" name="H1: Hit rate and recall ask different things"/>
          <p:cNvSpPr txBox="1"/>
          <p:nvPr/>
        </p:nvSpPr>
        <p:spPr>
          <a:xfrm>
            <a:off x="731520" y="1165860"/>
            <a:ext cx="734520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Hit rate and recall ask different things</a:t>
            </a:r>
            <a:endParaRPr lang="en-US" sz="3420" dirty="0"/>
          </a:p>
        </p:txBody>
      </p:sp>
      <p:sp>
        <p:nvSpPr>
          <p:cNvPr id="4" name="P: One found source may be"/>
          <p:cNvSpPr txBox="1"/>
          <p:nvPr/>
        </p:nvSpPr>
        <p:spPr>
          <a:xfrm>
            <a:off x="731520" y="3302675"/>
            <a:ext cx="2840117"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One found source may be</a:t>
            </a:r>
            <a:endParaRPr lang="en-US" sz="1860" dirty="0"/>
          </a:p>
        </p:txBody>
      </p:sp>
      <p:sp>
        <p:nvSpPr>
          <p:cNvPr id="5" name="P: insufficient."/>
          <p:cNvSpPr txBox="1"/>
          <p:nvPr/>
        </p:nvSpPr>
        <p:spPr>
          <a:xfrm>
            <a:off x="731520" y="3621524"/>
            <a:ext cx="1299329"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insufficient.</a:t>
            </a:r>
            <a:endParaRPr lang="en-US" sz="1860" dirty="0"/>
          </a:p>
        </p:txBody>
      </p:sp>
      <p:sp>
        <p:nvSpPr>
          <p:cNvPr id="6" name="text: Gold: {memo, chart}"/>
          <p:cNvSpPr txBox="1"/>
          <p:nvPr/>
        </p:nvSpPr>
        <p:spPr>
          <a:xfrm>
            <a:off x="5433953" y="2379464"/>
            <a:ext cx="2465903" cy="335280"/>
          </a:xfrm>
          <a:prstGeom prst="rect">
            <a:avLst/>
          </a:prstGeom>
          <a:noFill/>
          <a:ln/>
        </p:spPr>
        <p:txBody>
          <a:bodyPr wrap="square" lIns="0" tIns="0" rIns="0" bIns="0" rtlCol="0" anchor="t"/>
          <a:lstStyle/>
          <a:p>
            <a:pPr indent="0" marL="0">
              <a:lnSpc>
                <a:spcPct val="100000"/>
              </a:lnSpc>
              <a:buNone/>
            </a:pPr>
            <a:r>
              <a:rPr lang="en-US" altLang="en-US" sz="1920" b="1" dirty="0">
                <a:solidFill>
                  <a:srgbClr val="202729"/>
                </a:solidFill>
                <a:latin typeface="Arial" pitchFamily="34" charset="0"/>
                <a:ea typeface="Arial" pitchFamily="34" charset="-122"/>
                <a:cs typeface="Arial" pitchFamily="34" charset="-120"/>
              </a:rPr>
              <a:t>Gold: {memo, chart}</a:t>
            </a:r>
            <a:endParaRPr lang="en-US" sz="1920" dirty="0"/>
          </a:p>
        </p:txBody>
      </p:sp>
      <p:sp>
        <p:nvSpPr>
          <p:cNvPr id="7" name="text: Retrieved: {chart, frame}"/>
          <p:cNvSpPr txBox="1"/>
          <p:nvPr/>
        </p:nvSpPr>
        <p:spPr>
          <a:xfrm>
            <a:off x="5433953" y="3065264"/>
            <a:ext cx="2764750" cy="335280"/>
          </a:xfrm>
          <a:prstGeom prst="rect">
            <a:avLst/>
          </a:prstGeom>
          <a:noFill/>
          <a:ln/>
        </p:spPr>
        <p:txBody>
          <a:bodyPr wrap="square" lIns="0" tIns="0" rIns="0" bIns="0" rtlCol="0" anchor="t"/>
          <a:lstStyle/>
          <a:p>
            <a:pPr indent="0" marL="0">
              <a:lnSpc>
                <a:spcPct val="100000"/>
              </a:lnSpc>
              <a:buNone/>
            </a:pPr>
            <a:r>
              <a:rPr lang="en-US" altLang="en-US" sz="1920" dirty="0">
                <a:solidFill>
                  <a:srgbClr val="202729"/>
                </a:solidFill>
                <a:latin typeface="Arial" pitchFamily="34" charset="0"/>
                <a:ea typeface="Arial" pitchFamily="34" charset="-122"/>
                <a:cs typeface="Arial" pitchFamily="34" charset="-120"/>
              </a:rPr>
              <a:t>Retrieved: {chart, frame}</a:t>
            </a:r>
            <a:endParaRPr lang="en-US" sz="1920" dirty="0"/>
          </a:p>
        </p:txBody>
      </p:sp>
      <p:sp>
        <p:nvSpPr>
          <p:cNvPr id="8" name="text: Hit = 1"/>
          <p:cNvSpPr txBox="1"/>
          <p:nvPr/>
        </p:nvSpPr>
        <p:spPr>
          <a:xfrm>
            <a:off x="5433953" y="3834884"/>
            <a:ext cx="1229797" cy="464820"/>
          </a:xfrm>
          <a:prstGeom prst="rect">
            <a:avLst/>
          </a:prstGeom>
          <a:noFill/>
          <a:ln/>
        </p:spPr>
        <p:txBody>
          <a:bodyPr wrap="square" lIns="0" tIns="0" rIns="0" bIns="0" rtlCol="0" anchor="t"/>
          <a:lstStyle/>
          <a:p>
            <a:pPr indent="0" marL="0">
              <a:lnSpc>
                <a:spcPct val="100000"/>
              </a:lnSpc>
              <a:buNone/>
            </a:pPr>
            <a:r>
              <a:rPr lang="en-US" altLang="en-US" sz="2880" b="1" dirty="0">
                <a:solidFill>
                  <a:srgbClr val="08796F"/>
                </a:solidFill>
                <a:latin typeface="Arial" pitchFamily="34" charset="0"/>
                <a:ea typeface="Arial" pitchFamily="34" charset="-122"/>
                <a:cs typeface="Arial" pitchFamily="34" charset="-120"/>
              </a:rPr>
              <a:t>Hit = 1</a:t>
            </a:r>
            <a:endParaRPr lang="en-US" sz="2880" dirty="0"/>
          </a:p>
        </p:txBody>
      </p:sp>
      <p:sp>
        <p:nvSpPr>
          <p:cNvPr id="9" name="text: Recall = 1/2"/>
          <p:cNvSpPr txBox="1"/>
          <p:nvPr/>
        </p:nvSpPr>
        <p:spPr>
          <a:xfrm>
            <a:off x="7872353" y="3872984"/>
            <a:ext cx="1874520" cy="419100"/>
          </a:xfrm>
          <a:prstGeom prst="rect">
            <a:avLst/>
          </a:prstGeom>
          <a:noFill/>
          <a:ln/>
        </p:spPr>
        <p:txBody>
          <a:bodyPr wrap="square" lIns="0" tIns="0" rIns="0" bIns="0" rtlCol="0" anchor="t"/>
          <a:lstStyle/>
          <a:p>
            <a:pPr indent="0" marL="0">
              <a:lnSpc>
                <a:spcPct val="100000"/>
              </a:lnSpc>
              <a:buNone/>
            </a:pPr>
            <a:r>
              <a:rPr lang="en-US" altLang="en-US" sz="2520" b="1" dirty="0">
                <a:solidFill>
                  <a:srgbClr val="BF4938"/>
                </a:solidFill>
                <a:latin typeface="Arial" pitchFamily="34" charset="0"/>
                <a:ea typeface="Arial" pitchFamily="34" charset="-122"/>
                <a:cs typeface="Arial" pitchFamily="34" charset="-120"/>
              </a:rPr>
              <a:t>Recall = 1/2</a:t>
            </a:r>
            <a:endParaRPr lang="en-US" sz="2520" dirty="0"/>
          </a:p>
        </p:txBody>
      </p:sp>
      <p:sp>
        <p:nvSpPr>
          <p:cNvPr id="10" name="text: Average per-query values to summarize."/>
          <p:cNvSpPr txBox="1"/>
          <p:nvPr/>
        </p:nvSpPr>
        <p:spPr>
          <a:xfrm>
            <a:off x="5433663" y="4855964"/>
            <a:ext cx="3686346"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536164"/>
                </a:solidFill>
                <a:latin typeface="Arial" pitchFamily="34" charset="0"/>
                <a:ea typeface="Arial" pitchFamily="34" charset="-122"/>
                <a:cs typeface="Arial" pitchFamily="34" charset="-120"/>
              </a:rPr>
              <a:t>Average per-query values to summarize.</a:t>
            </a:r>
            <a:endParaRPr lang="en-US" sz="1560" dirty="0"/>
          </a:p>
        </p:txBody>
      </p:sp>
      <p:sp>
        <p:nvSpPr>
          <p:cNvPr id="11"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2" name="SPAN: 30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30 / 42</a:t>
            </a:r>
            <a:endParaRPr lang="en-US" sz="10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P: 04 · EVALUATION"/>
          <p:cNvSpPr txBox="1"/>
          <p:nvPr/>
        </p:nvSpPr>
        <p:spPr>
          <a:xfrm>
            <a:off x="731520" y="822960"/>
            <a:ext cx="1526738"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EVALUATION</a:t>
            </a:r>
            <a:endParaRPr lang="en-US" sz="1140" dirty="0"/>
          </a:p>
        </p:txBody>
      </p:sp>
      <p:sp>
        <p:nvSpPr>
          <p:cNvPr id="3" name="H1: Compare like with like"/>
          <p:cNvSpPr txBox="1"/>
          <p:nvPr/>
        </p:nvSpPr>
        <p:spPr>
          <a:xfrm>
            <a:off x="731520" y="1165860"/>
            <a:ext cx="438233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Compare like with like</a:t>
            </a:r>
            <a:endParaRPr lang="en-US" sz="3420" dirty="0"/>
          </a:p>
        </p:txBody>
      </p:sp>
      <p:sp>
        <p:nvSpPr>
          <p:cNvPr id="4" name="Diagram shape"/>
          <p:cNvSpPr/>
          <p:nvPr/>
        </p:nvSpPr>
        <p:spPr>
          <a:xfrm>
            <a:off x="1371600" y="2448044"/>
            <a:ext cx="2933700" cy="2247900"/>
          </a:xfrm>
          <a:prstGeom prst="roundRect">
            <a:avLst>
              <a:gd name="adj" fmla="val 3390"/>
            </a:avLst>
          </a:prstGeom>
          <a:solidFill>
            <a:srgbClr val="E9F6F2"/>
          </a:solidFill>
          <a:ln w="12700">
            <a:solidFill>
              <a:srgbClr val="FFFFFF">
                <a:alpha val="0"/>
              </a:srgbClr>
            </a:solidFill>
            <a:prstDash val="solid"/>
          </a:ln>
        </p:spPr>
      </p:sp>
      <p:sp>
        <p:nvSpPr>
          <p:cNvPr id="5" name="text: Hold constant"/>
          <p:cNvSpPr txBox="1"/>
          <p:nvPr/>
        </p:nvSpPr>
        <p:spPr>
          <a:xfrm>
            <a:off x="1554480" y="2562344"/>
            <a:ext cx="1645920"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Hold constant</a:t>
            </a:r>
            <a:endParaRPr lang="en-US" sz="1800" dirty="0"/>
          </a:p>
        </p:txBody>
      </p:sp>
      <p:sp>
        <p:nvSpPr>
          <p:cNvPr id="6" name="text: Corpus · questions · k"/>
          <p:cNvSpPr txBox="1"/>
          <p:nvPr/>
        </p:nvSpPr>
        <p:spPr>
          <a:xfrm>
            <a:off x="1554480" y="2897624"/>
            <a:ext cx="183630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Corpus · questions · k</a:t>
            </a:r>
            <a:endParaRPr lang="en-US" sz="1380" dirty="0"/>
          </a:p>
        </p:txBody>
      </p:sp>
      <p:sp>
        <p:nvSpPr>
          <p:cNvPr id="7" name="Diagram shape"/>
          <p:cNvSpPr/>
          <p:nvPr/>
        </p:nvSpPr>
        <p:spPr>
          <a:xfrm>
            <a:off x="4610100" y="2448044"/>
            <a:ext cx="2933700" cy="2247900"/>
          </a:xfrm>
          <a:prstGeom prst="roundRect">
            <a:avLst>
              <a:gd name="adj" fmla="val 3390"/>
            </a:avLst>
          </a:prstGeom>
          <a:solidFill>
            <a:srgbClr val="FFF0EB"/>
          </a:solidFill>
          <a:ln w="12700">
            <a:solidFill>
              <a:srgbClr val="FFFFFF">
                <a:alpha val="0"/>
              </a:srgbClr>
            </a:solidFill>
            <a:prstDash val="solid"/>
          </a:ln>
        </p:spPr>
      </p:sp>
      <p:sp>
        <p:nvSpPr>
          <p:cNvPr id="8" name="text: Report separately"/>
          <p:cNvSpPr txBox="1"/>
          <p:nvPr/>
        </p:nvSpPr>
        <p:spPr>
          <a:xfrm>
            <a:off x="4792980" y="2562344"/>
            <a:ext cx="2053114"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Report separately</a:t>
            </a:r>
            <a:endParaRPr lang="en-US" sz="1800" dirty="0"/>
          </a:p>
        </p:txBody>
      </p:sp>
      <p:sp>
        <p:nvSpPr>
          <p:cNvPr id="9" name="text: Fixture · live models"/>
          <p:cNvSpPr txBox="1"/>
          <p:nvPr/>
        </p:nvSpPr>
        <p:spPr>
          <a:xfrm>
            <a:off x="4792980" y="2897624"/>
            <a:ext cx="168997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Fixture · live models</a:t>
            </a:r>
            <a:endParaRPr lang="en-US" sz="1380" dirty="0"/>
          </a:p>
        </p:txBody>
      </p:sp>
      <p:sp>
        <p:nvSpPr>
          <p:cNvPr id="10" name="Diagram shape"/>
          <p:cNvSpPr/>
          <p:nvPr/>
        </p:nvSpPr>
        <p:spPr>
          <a:xfrm>
            <a:off x="7848600" y="2448044"/>
            <a:ext cx="2933700" cy="2247900"/>
          </a:xfrm>
          <a:prstGeom prst="roundRect">
            <a:avLst>
              <a:gd name="adj" fmla="val 3390"/>
            </a:avLst>
          </a:prstGeom>
          <a:solidFill>
            <a:srgbClr val="E9F6F2"/>
          </a:solidFill>
          <a:ln w="12700">
            <a:solidFill>
              <a:srgbClr val="FFFFFF">
                <a:alpha val="0"/>
              </a:srgbClr>
            </a:solidFill>
            <a:prstDash val="solid"/>
          </a:ln>
        </p:spPr>
      </p:sp>
      <p:sp>
        <p:nvSpPr>
          <p:cNvPr id="11" name="text: Measure both"/>
          <p:cNvSpPr txBox="1"/>
          <p:nvPr/>
        </p:nvSpPr>
        <p:spPr>
          <a:xfrm>
            <a:off x="8031480" y="2562344"/>
            <a:ext cx="160805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Measure both</a:t>
            </a:r>
            <a:endParaRPr lang="en-US" sz="1800" dirty="0"/>
          </a:p>
        </p:txBody>
      </p:sp>
      <p:sp>
        <p:nvSpPr>
          <p:cNvPr id="12" name="text: Retrieval · answer quality"/>
          <p:cNvSpPr txBox="1"/>
          <p:nvPr/>
        </p:nvSpPr>
        <p:spPr>
          <a:xfrm>
            <a:off x="8031480" y="2897624"/>
            <a:ext cx="2089547"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Retrieval · answer quality</a:t>
            </a:r>
            <a:endParaRPr lang="en-US" sz="1380" dirty="0"/>
          </a:p>
        </p:txBody>
      </p:sp>
      <p:sp>
        <p:nvSpPr>
          <p:cNvPr id="13"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4" name="SPAN: 31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31 / 42</a:t>
            </a:r>
            <a:endParaRPr lang="en-US" sz="10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P: 04 · EVALUATION"/>
          <p:cNvSpPr txBox="1"/>
          <p:nvPr/>
        </p:nvSpPr>
        <p:spPr>
          <a:xfrm>
            <a:off x="731520" y="822960"/>
            <a:ext cx="1526738"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04 · EVALUATION</a:t>
            </a:r>
            <a:endParaRPr lang="en-US" sz="1140" dirty="0"/>
          </a:p>
        </p:txBody>
      </p:sp>
      <p:sp>
        <p:nvSpPr>
          <p:cNvPr id="3" name="H1: Turn a failure into an experiment"/>
          <p:cNvSpPr txBox="1"/>
          <p:nvPr/>
        </p:nvSpPr>
        <p:spPr>
          <a:xfrm>
            <a:off x="731520" y="1165860"/>
            <a:ext cx="6370677"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Turn a failure into an experiment</a:t>
            </a:r>
            <a:endParaRPr lang="en-US" sz="3420" dirty="0"/>
          </a:p>
        </p:txBody>
      </p:sp>
      <p:sp>
        <p:nvSpPr>
          <p:cNvPr id="4" name="Diagram shape"/>
          <p:cNvSpPr/>
          <p:nvPr/>
        </p:nvSpPr>
        <p:spPr>
          <a:xfrm>
            <a:off x="1295400" y="3171944"/>
            <a:ext cx="2068830" cy="952500"/>
          </a:xfrm>
          <a:prstGeom prst="roundRect">
            <a:avLst>
              <a:gd name="adj" fmla="val 8000"/>
            </a:avLst>
          </a:prstGeom>
          <a:solidFill>
            <a:srgbClr val="E9F6F2"/>
          </a:solidFill>
          <a:ln w="12700">
            <a:solidFill>
              <a:srgbClr val="FFFFFF">
                <a:alpha val="0"/>
              </a:srgbClr>
            </a:solidFill>
            <a:prstDash val="solid"/>
          </a:ln>
        </p:spPr>
      </p:sp>
      <p:sp>
        <p:nvSpPr>
          <p:cNvPr id="5" name="text: Observe"/>
          <p:cNvSpPr txBox="1"/>
          <p:nvPr/>
        </p:nvSpPr>
        <p:spPr>
          <a:xfrm>
            <a:off x="1478280" y="3518654"/>
            <a:ext cx="103691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Observe</a:t>
            </a:r>
            <a:endParaRPr lang="en-US" sz="1800" dirty="0"/>
          </a:p>
        </p:txBody>
      </p:sp>
      <p:sp>
        <p:nvSpPr>
          <p:cNvPr id="6" name="Diagram connector"/>
          <p:cNvSpPr/>
          <p:nvPr/>
        </p:nvSpPr>
        <p:spPr>
          <a:xfrm>
            <a:off x="3425190" y="3644384"/>
            <a:ext cx="289560" cy="0"/>
          </a:xfrm>
          <a:prstGeom prst="line">
            <a:avLst/>
          </a:prstGeom>
          <a:noFill/>
          <a:ln w="22860">
            <a:solidFill>
              <a:srgbClr val="08796F"/>
            </a:solidFill>
            <a:prstDash val="solid"/>
            <a:tailEnd type="arrow"/>
          </a:ln>
        </p:spPr>
      </p:sp>
      <p:sp>
        <p:nvSpPr>
          <p:cNvPr id="7" name="Diagram shape"/>
          <p:cNvSpPr/>
          <p:nvPr/>
        </p:nvSpPr>
        <p:spPr>
          <a:xfrm>
            <a:off x="3806190" y="3171944"/>
            <a:ext cx="2068830" cy="952500"/>
          </a:xfrm>
          <a:prstGeom prst="roundRect">
            <a:avLst>
              <a:gd name="adj" fmla="val 8000"/>
            </a:avLst>
          </a:prstGeom>
          <a:solidFill>
            <a:srgbClr val="E9F6F2"/>
          </a:solidFill>
          <a:ln w="12700">
            <a:solidFill>
              <a:srgbClr val="FFFFFF">
                <a:alpha val="0"/>
              </a:srgbClr>
            </a:solidFill>
            <a:prstDash val="solid"/>
          </a:ln>
        </p:spPr>
      </p:sp>
      <p:sp>
        <p:nvSpPr>
          <p:cNvPr id="8" name="text: Hypothesize"/>
          <p:cNvSpPr txBox="1"/>
          <p:nvPr/>
        </p:nvSpPr>
        <p:spPr>
          <a:xfrm>
            <a:off x="3989070" y="3518654"/>
            <a:ext cx="1468517"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Hypothesize</a:t>
            </a:r>
            <a:endParaRPr lang="en-US" sz="1800" dirty="0"/>
          </a:p>
        </p:txBody>
      </p:sp>
      <p:sp>
        <p:nvSpPr>
          <p:cNvPr id="9" name="Diagram connector"/>
          <p:cNvSpPr/>
          <p:nvPr/>
        </p:nvSpPr>
        <p:spPr>
          <a:xfrm>
            <a:off x="5935980" y="3644384"/>
            <a:ext cx="289560" cy="0"/>
          </a:xfrm>
          <a:prstGeom prst="line">
            <a:avLst/>
          </a:prstGeom>
          <a:noFill/>
          <a:ln w="22860">
            <a:solidFill>
              <a:srgbClr val="08796F"/>
            </a:solidFill>
            <a:prstDash val="solid"/>
            <a:tailEnd type="arrow"/>
          </a:ln>
        </p:spPr>
      </p:sp>
      <p:sp>
        <p:nvSpPr>
          <p:cNvPr id="10" name="Diagram shape"/>
          <p:cNvSpPr/>
          <p:nvPr/>
        </p:nvSpPr>
        <p:spPr>
          <a:xfrm>
            <a:off x="6316980" y="3171944"/>
            <a:ext cx="2068830" cy="952500"/>
          </a:xfrm>
          <a:prstGeom prst="roundRect">
            <a:avLst>
              <a:gd name="adj" fmla="val 8000"/>
            </a:avLst>
          </a:prstGeom>
          <a:solidFill>
            <a:srgbClr val="E9F6F2"/>
          </a:solidFill>
          <a:ln w="12700">
            <a:solidFill>
              <a:srgbClr val="FFFFFF">
                <a:alpha val="0"/>
              </a:srgbClr>
            </a:solidFill>
            <a:prstDash val="solid"/>
          </a:ln>
        </p:spPr>
      </p:sp>
      <p:sp>
        <p:nvSpPr>
          <p:cNvPr id="11" name="text: Change one"/>
          <p:cNvSpPr txBox="1"/>
          <p:nvPr/>
        </p:nvSpPr>
        <p:spPr>
          <a:xfrm>
            <a:off x="6499860" y="3404354"/>
            <a:ext cx="1722120" cy="314809"/>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Change one</a:t>
            </a:r>
            <a:endParaRPr lang="en-US" sz="1680" dirty="0"/>
          </a:p>
        </p:txBody>
      </p:sp>
      <p:sp>
        <p:nvSpPr>
          <p:cNvPr id="12" name="text: thing"/>
          <p:cNvSpPr txBox="1"/>
          <p:nvPr/>
        </p:nvSpPr>
        <p:spPr>
          <a:xfrm>
            <a:off x="6499860" y="3648194"/>
            <a:ext cx="1722120" cy="314809"/>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thing</a:t>
            </a:r>
            <a:endParaRPr lang="en-US" sz="1680" dirty="0"/>
          </a:p>
        </p:txBody>
      </p:sp>
      <p:sp>
        <p:nvSpPr>
          <p:cNvPr id="13" name="Diagram connector"/>
          <p:cNvSpPr/>
          <p:nvPr/>
        </p:nvSpPr>
        <p:spPr>
          <a:xfrm>
            <a:off x="8446770" y="3644384"/>
            <a:ext cx="289560" cy="0"/>
          </a:xfrm>
          <a:prstGeom prst="line">
            <a:avLst/>
          </a:prstGeom>
          <a:noFill/>
          <a:ln w="22860">
            <a:solidFill>
              <a:srgbClr val="08796F"/>
            </a:solidFill>
            <a:prstDash val="solid"/>
            <a:tailEnd type="arrow"/>
          </a:ln>
        </p:spPr>
      </p:sp>
      <p:sp>
        <p:nvSpPr>
          <p:cNvPr id="14" name="Diagram shape"/>
          <p:cNvSpPr/>
          <p:nvPr/>
        </p:nvSpPr>
        <p:spPr>
          <a:xfrm>
            <a:off x="8827770" y="3171944"/>
            <a:ext cx="2068830" cy="952500"/>
          </a:xfrm>
          <a:prstGeom prst="roundRect">
            <a:avLst>
              <a:gd name="adj" fmla="val 8000"/>
            </a:avLst>
          </a:prstGeom>
          <a:solidFill>
            <a:srgbClr val="E9F6F2"/>
          </a:solidFill>
          <a:ln w="12700">
            <a:solidFill>
              <a:srgbClr val="FFFFFF">
                <a:alpha val="0"/>
              </a:srgbClr>
            </a:solidFill>
            <a:prstDash val="solid"/>
          </a:ln>
        </p:spPr>
      </p:sp>
      <p:sp>
        <p:nvSpPr>
          <p:cNvPr id="15" name="text: Retest"/>
          <p:cNvSpPr txBox="1"/>
          <p:nvPr/>
        </p:nvSpPr>
        <p:spPr>
          <a:xfrm>
            <a:off x="9010650" y="3518654"/>
            <a:ext cx="820698"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Retest</a:t>
            </a:r>
            <a:endParaRPr lang="en-US" sz="1800" dirty="0"/>
          </a:p>
        </p:txBody>
      </p:sp>
      <p:sp>
        <p:nvSpPr>
          <p:cNvPr id="16" name="text: Keep the failed example in your regression set."/>
          <p:cNvSpPr txBox="1"/>
          <p:nvPr/>
        </p:nvSpPr>
        <p:spPr>
          <a:xfrm>
            <a:off x="1295400" y="4612124"/>
            <a:ext cx="4728329" cy="305585"/>
          </a:xfrm>
          <a:prstGeom prst="rect">
            <a:avLst/>
          </a:prstGeom>
          <a:noFill/>
          <a:ln/>
        </p:spPr>
        <p:txBody>
          <a:bodyPr wrap="square" lIns="0" tIns="0" rIns="0" bIns="0" rtlCol="0" anchor="t"/>
          <a:lstStyle/>
          <a:p>
            <a:pPr indent="0" marL="0">
              <a:lnSpc>
                <a:spcPct val="100000"/>
              </a:lnSpc>
              <a:buNone/>
            </a:pPr>
            <a:r>
              <a:rPr lang="en-US" altLang="en-US" sz="1740" dirty="0">
                <a:solidFill>
                  <a:srgbClr val="536164"/>
                </a:solidFill>
                <a:latin typeface="Arial" pitchFamily="34" charset="0"/>
                <a:ea typeface="Arial" pitchFamily="34" charset="-122"/>
                <a:cs typeface="Arial" pitchFamily="34" charset="-120"/>
              </a:rPr>
              <a:t>Keep the failed example in your regression set.</a:t>
            </a:r>
            <a:endParaRPr lang="en-US" sz="1740"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32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32 / 42</a:t>
            </a:r>
            <a:endParaRPr lang="en-US" sz="10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P: 05 · PDFS AND VIDEO"/>
          <p:cNvSpPr txBox="1"/>
          <p:nvPr/>
        </p:nvSpPr>
        <p:spPr>
          <a:xfrm>
            <a:off x="731520" y="822960"/>
            <a:ext cx="1884640"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PDFS AND VIDEO</a:t>
            </a:r>
            <a:endParaRPr lang="en-US" sz="1140" dirty="0"/>
          </a:p>
        </p:txBody>
      </p:sp>
      <p:sp>
        <p:nvSpPr>
          <p:cNvPr id="3" name="H1: A PDF may need two routes"/>
          <p:cNvSpPr txBox="1"/>
          <p:nvPr/>
        </p:nvSpPr>
        <p:spPr>
          <a:xfrm>
            <a:off x="731520" y="1165860"/>
            <a:ext cx="5506998"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A PDF may need two routes</a:t>
            </a:r>
            <a:endParaRPr lang="en-US" sz="3420" dirty="0"/>
          </a:p>
        </p:txBody>
      </p:sp>
      <p:sp>
        <p:nvSpPr>
          <p:cNvPr id="4" name="Diagram shape"/>
          <p:cNvSpPr/>
          <p:nvPr/>
        </p:nvSpPr>
        <p:spPr>
          <a:xfrm>
            <a:off x="1371600" y="2448044"/>
            <a:ext cx="4343400" cy="2133600"/>
          </a:xfrm>
          <a:prstGeom prst="roundRect">
            <a:avLst>
              <a:gd name="adj" fmla="val 3571"/>
            </a:avLst>
          </a:prstGeom>
          <a:solidFill>
            <a:srgbClr val="E9F6F2"/>
          </a:solidFill>
          <a:ln w="12700">
            <a:solidFill>
              <a:srgbClr val="FFFFFF">
                <a:alpha val="0"/>
              </a:srgbClr>
            </a:solidFill>
            <a:prstDash val="solid"/>
          </a:ln>
        </p:spPr>
      </p:sp>
      <p:sp>
        <p:nvSpPr>
          <p:cNvPr id="5" name="text: Selectable text"/>
          <p:cNvSpPr txBox="1"/>
          <p:nvPr/>
        </p:nvSpPr>
        <p:spPr>
          <a:xfrm>
            <a:off x="1554480" y="2562344"/>
            <a:ext cx="1722953"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Selectable text</a:t>
            </a:r>
            <a:endParaRPr lang="en-US" sz="1800" dirty="0"/>
          </a:p>
        </p:txBody>
      </p:sp>
      <p:sp>
        <p:nvSpPr>
          <p:cNvPr id="6" name="text: Extract text → text search"/>
          <p:cNvSpPr txBox="1"/>
          <p:nvPr/>
        </p:nvSpPr>
        <p:spPr>
          <a:xfrm>
            <a:off x="1554480" y="2897624"/>
            <a:ext cx="212836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Extract text → text search</a:t>
            </a:r>
            <a:endParaRPr lang="en-US" sz="1380" dirty="0"/>
          </a:p>
        </p:txBody>
      </p:sp>
      <p:sp>
        <p:nvSpPr>
          <p:cNvPr id="7" name="Diagram shape"/>
          <p:cNvSpPr/>
          <p:nvPr/>
        </p:nvSpPr>
        <p:spPr>
          <a:xfrm>
            <a:off x="6553200" y="2448044"/>
            <a:ext cx="4343400" cy="2133600"/>
          </a:xfrm>
          <a:prstGeom prst="roundRect">
            <a:avLst>
              <a:gd name="adj" fmla="val 3571"/>
            </a:avLst>
          </a:prstGeom>
          <a:solidFill>
            <a:srgbClr val="FFF0EB"/>
          </a:solidFill>
          <a:ln w="12700">
            <a:solidFill>
              <a:srgbClr val="FFFFFF">
                <a:alpha val="0"/>
              </a:srgbClr>
            </a:solidFill>
            <a:prstDash val="solid"/>
          </a:ln>
        </p:spPr>
      </p:sp>
      <p:sp>
        <p:nvSpPr>
          <p:cNvPr id="8" name="text: Scanned or visual page"/>
          <p:cNvSpPr txBox="1"/>
          <p:nvPr/>
        </p:nvSpPr>
        <p:spPr>
          <a:xfrm>
            <a:off x="6736080" y="2562344"/>
            <a:ext cx="2675573"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Scanned or visual page</a:t>
            </a:r>
            <a:endParaRPr lang="en-US" sz="1800" dirty="0"/>
          </a:p>
        </p:txBody>
      </p:sp>
      <p:sp>
        <p:nvSpPr>
          <p:cNvPr id="9" name="text: Render → OCR or image search"/>
          <p:cNvSpPr txBox="1"/>
          <p:nvPr/>
        </p:nvSpPr>
        <p:spPr>
          <a:xfrm>
            <a:off x="6736080" y="2897624"/>
            <a:ext cx="266414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Render → OCR or image search</a:t>
            </a:r>
            <a:endParaRPr lang="en-US" sz="1380" dirty="0"/>
          </a:p>
        </p:txBody>
      </p:sp>
      <p:sp>
        <p:nvSpPr>
          <p:cNvPr id="10" name="text: Check reading order"/>
          <p:cNvSpPr txBox="1"/>
          <p:nvPr/>
        </p:nvSpPr>
        <p:spPr>
          <a:xfrm>
            <a:off x="1562100" y="4033004"/>
            <a:ext cx="1919704"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08796F"/>
                </a:solidFill>
                <a:latin typeface="Arial" pitchFamily="34" charset="0"/>
                <a:ea typeface="Arial" pitchFamily="34" charset="-122"/>
                <a:cs typeface="Arial" pitchFamily="34" charset="-120"/>
              </a:rPr>
              <a:t>Check reading order</a:t>
            </a:r>
            <a:endParaRPr lang="en-US" sz="1560" dirty="0"/>
          </a:p>
        </p:txBody>
      </p:sp>
      <p:sp>
        <p:nvSpPr>
          <p:cNvPr id="11" name="text: Keep the page pixels"/>
          <p:cNvSpPr txBox="1"/>
          <p:nvPr/>
        </p:nvSpPr>
        <p:spPr>
          <a:xfrm>
            <a:off x="6743700" y="4033004"/>
            <a:ext cx="1972508"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BF4938"/>
                </a:solidFill>
                <a:latin typeface="Arial" pitchFamily="34" charset="0"/>
                <a:ea typeface="Arial" pitchFamily="34" charset="-122"/>
                <a:cs typeface="Arial" pitchFamily="34" charset="-120"/>
              </a:rPr>
              <a:t>Keep the page pixels</a:t>
            </a:r>
            <a:endParaRPr lang="en-US" sz="156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33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33 / 42</a:t>
            </a:r>
            <a:endParaRPr lang="en-US" sz="10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P: 05 · PDFS AND VIDEO"/>
          <p:cNvSpPr txBox="1"/>
          <p:nvPr/>
        </p:nvSpPr>
        <p:spPr>
          <a:xfrm>
            <a:off x="731520" y="822960"/>
            <a:ext cx="1884640"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PDFS AND VIDEO</a:t>
            </a:r>
            <a:endParaRPr lang="en-US" sz="1140" dirty="0"/>
          </a:p>
        </p:txBody>
      </p:sp>
      <p:sp>
        <p:nvSpPr>
          <p:cNvPr id="3" name="H1: A useful PDF citation is inspectable"/>
          <p:cNvSpPr txBox="1"/>
          <p:nvPr/>
        </p:nvSpPr>
        <p:spPr>
          <a:xfrm>
            <a:off x="731520" y="1165860"/>
            <a:ext cx="697313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A useful PDF citation is inspectable</a:t>
            </a:r>
            <a:endParaRPr lang="en-US" sz="3420" dirty="0"/>
          </a:p>
        </p:txBody>
      </p:sp>
      <p:sp>
        <p:nvSpPr>
          <p:cNvPr id="4" name="P: Find the page. Preserve its context."/>
          <p:cNvSpPr txBox="1"/>
          <p:nvPr/>
        </p:nvSpPr>
        <p:spPr>
          <a:xfrm>
            <a:off x="731520" y="3462099"/>
            <a:ext cx="3837861" cy="327660"/>
          </a:xfrm>
          <a:prstGeom prst="rect">
            <a:avLst/>
          </a:prstGeom>
          <a:noFill/>
          <a:ln/>
        </p:spPr>
        <p:txBody>
          <a:bodyPr wrap="square" lIns="0" tIns="0" rIns="0" bIns="0" rtlCol="0" anchor="t"/>
          <a:lstStyle/>
          <a:p>
            <a:pPr indent="0" marL="0">
              <a:lnSpc>
                <a:spcPct val="100000"/>
              </a:lnSpc>
              <a:buNone/>
            </a:pPr>
            <a:r>
              <a:rPr lang="en-US" altLang="en-US" sz="1860" dirty="0">
                <a:solidFill>
                  <a:srgbClr val="202729"/>
                </a:solidFill>
                <a:latin typeface="Arial" pitchFamily="34" charset="0"/>
                <a:ea typeface="Arial" pitchFamily="34" charset="-122"/>
                <a:cs typeface="Arial" pitchFamily="34" charset="-120"/>
              </a:rPr>
              <a:t>Find the page. Preserve its context.</a:t>
            </a:r>
            <a:endParaRPr lang="en-US" sz="1860" dirty="0"/>
          </a:p>
        </p:txBody>
      </p:sp>
      <p:sp>
        <p:nvSpPr>
          <p:cNvPr id="5" name="Diagram shape"/>
          <p:cNvSpPr/>
          <p:nvPr/>
        </p:nvSpPr>
        <p:spPr>
          <a:xfrm>
            <a:off x="6176030" y="2246195"/>
            <a:ext cx="2918298" cy="2589990"/>
          </a:xfrm>
          <a:prstGeom prst="roundRect">
            <a:avLst>
              <a:gd name="adj" fmla="val 2535"/>
            </a:avLst>
          </a:prstGeom>
          <a:solidFill>
            <a:srgbClr val="E9F6F2"/>
          </a:solidFill>
          <a:ln w="12700">
            <a:solidFill>
              <a:srgbClr val="FFFFFF">
                <a:alpha val="0"/>
              </a:srgbClr>
            </a:solidFill>
            <a:prstDash val="solid"/>
          </a:ln>
        </p:spPr>
      </p:sp>
      <p:sp>
        <p:nvSpPr>
          <p:cNvPr id="6" name="text: Report · page 2"/>
          <p:cNvSpPr txBox="1"/>
          <p:nvPr/>
        </p:nvSpPr>
        <p:spPr>
          <a:xfrm>
            <a:off x="6351128" y="2391624"/>
            <a:ext cx="1608416" cy="289560"/>
          </a:xfrm>
          <a:prstGeom prst="rect">
            <a:avLst/>
          </a:prstGeom>
          <a:noFill/>
          <a:ln/>
        </p:spPr>
        <p:txBody>
          <a:bodyPr wrap="square" lIns="0" tIns="0" rIns="0" bIns="0" rtlCol="0" anchor="t"/>
          <a:lstStyle/>
          <a:p>
            <a:pPr indent="0" marL="0">
              <a:lnSpc>
                <a:spcPct val="100000"/>
              </a:lnSpc>
              <a:buNone/>
            </a:pPr>
            <a:r>
              <a:rPr lang="en-US" altLang="en-US" sz="1609" b="1" dirty="0">
                <a:solidFill>
                  <a:srgbClr val="202729"/>
                </a:solidFill>
                <a:latin typeface="Arial" pitchFamily="34" charset="0"/>
                <a:ea typeface="Arial" pitchFamily="34" charset="-122"/>
                <a:cs typeface="Arial" pitchFamily="34" charset="-120"/>
              </a:rPr>
              <a:t>Report · page 2</a:t>
            </a:r>
            <a:endParaRPr lang="en-US" sz="1609" dirty="0"/>
          </a:p>
        </p:txBody>
      </p:sp>
      <p:sp>
        <p:nvSpPr>
          <p:cNvPr id="7" name="Diagram shape"/>
          <p:cNvSpPr/>
          <p:nvPr/>
        </p:nvSpPr>
        <p:spPr>
          <a:xfrm>
            <a:off x="6351128" y="2829855"/>
            <a:ext cx="2568102" cy="51070"/>
          </a:xfrm>
          <a:prstGeom prst="roundRect">
            <a:avLst>
              <a:gd name="adj" fmla="val 42857"/>
            </a:avLst>
          </a:prstGeom>
          <a:solidFill>
            <a:srgbClr val="C9D5D2"/>
          </a:solidFill>
          <a:ln w="12700">
            <a:solidFill>
              <a:srgbClr val="FFFFFF">
                <a:alpha val="0"/>
              </a:srgbClr>
            </a:solidFill>
            <a:prstDash val="solid"/>
          </a:ln>
        </p:spPr>
      </p:sp>
      <p:sp>
        <p:nvSpPr>
          <p:cNvPr id="8" name="Diagram shape"/>
          <p:cNvSpPr/>
          <p:nvPr/>
        </p:nvSpPr>
        <p:spPr>
          <a:xfrm>
            <a:off x="6351128" y="3063319"/>
            <a:ext cx="2290863" cy="51070"/>
          </a:xfrm>
          <a:prstGeom prst="roundRect">
            <a:avLst>
              <a:gd name="adj" fmla="val 42857"/>
            </a:avLst>
          </a:prstGeom>
          <a:solidFill>
            <a:srgbClr val="C9D5D2"/>
          </a:solidFill>
          <a:ln w="12700">
            <a:solidFill>
              <a:srgbClr val="FFFFFF">
                <a:alpha val="0"/>
              </a:srgbClr>
            </a:solidFill>
            <a:prstDash val="solid"/>
          </a:ln>
        </p:spPr>
      </p:sp>
      <p:sp>
        <p:nvSpPr>
          <p:cNvPr id="9" name="Diagram shape"/>
          <p:cNvSpPr/>
          <p:nvPr/>
        </p:nvSpPr>
        <p:spPr>
          <a:xfrm>
            <a:off x="6351128" y="3296782"/>
            <a:ext cx="2568102" cy="51070"/>
          </a:xfrm>
          <a:prstGeom prst="roundRect">
            <a:avLst>
              <a:gd name="adj" fmla="val 42857"/>
            </a:avLst>
          </a:prstGeom>
          <a:solidFill>
            <a:srgbClr val="C9D5D2"/>
          </a:solidFill>
          <a:ln w="12700">
            <a:solidFill>
              <a:srgbClr val="FFFFFF">
                <a:alpha val="0"/>
              </a:srgbClr>
            </a:solidFill>
            <a:prstDash val="solid"/>
          </a:ln>
        </p:spPr>
      </p:sp>
      <p:sp>
        <p:nvSpPr>
          <p:cNvPr id="10" name="Diagram shape"/>
          <p:cNvSpPr/>
          <p:nvPr/>
        </p:nvSpPr>
        <p:spPr>
          <a:xfrm>
            <a:off x="6351128" y="3530246"/>
            <a:ext cx="2290863" cy="51070"/>
          </a:xfrm>
          <a:prstGeom prst="roundRect">
            <a:avLst>
              <a:gd name="adj" fmla="val 42857"/>
            </a:avLst>
          </a:prstGeom>
          <a:solidFill>
            <a:srgbClr val="C9D5D2"/>
          </a:solidFill>
          <a:ln w="12700">
            <a:solidFill>
              <a:srgbClr val="FFFFFF">
                <a:alpha val="0"/>
              </a:srgbClr>
            </a:solidFill>
            <a:prstDash val="solid"/>
          </a:ln>
        </p:spPr>
      </p:sp>
      <p:sp>
        <p:nvSpPr>
          <p:cNvPr id="11" name="Diagram shape"/>
          <p:cNvSpPr/>
          <p:nvPr/>
        </p:nvSpPr>
        <p:spPr>
          <a:xfrm>
            <a:off x="6358424" y="3522951"/>
            <a:ext cx="2553510" cy="984925"/>
          </a:xfrm>
          <a:prstGeom prst="roundRect">
            <a:avLst>
              <a:gd name="adj" fmla="val 3704"/>
            </a:avLst>
          </a:prstGeom>
          <a:solidFill>
            <a:srgbClr val="FFF0EB"/>
          </a:solidFill>
          <a:ln w="21887">
            <a:solidFill>
              <a:srgbClr val="BF4938"/>
            </a:solidFill>
            <a:prstDash val="solid"/>
          </a:ln>
        </p:spPr>
      </p:sp>
      <p:sp>
        <p:nvSpPr>
          <p:cNvPr id="12" name="text: Chart region"/>
          <p:cNvSpPr txBox="1"/>
          <p:nvPr/>
        </p:nvSpPr>
        <p:spPr>
          <a:xfrm>
            <a:off x="6518930" y="3843153"/>
            <a:ext cx="1379458" cy="297180"/>
          </a:xfrm>
          <a:prstGeom prst="rect">
            <a:avLst/>
          </a:prstGeom>
          <a:noFill/>
          <a:ln/>
        </p:spPr>
        <p:txBody>
          <a:bodyPr wrap="square" lIns="0" tIns="0" rIns="0" bIns="0" rtlCol="0" anchor="t"/>
          <a:lstStyle/>
          <a:p>
            <a:pPr indent="0" marL="0">
              <a:lnSpc>
                <a:spcPct val="100000"/>
              </a:lnSpc>
              <a:buNone/>
            </a:pPr>
            <a:r>
              <a:rPr lang="en-US" altLang="en-US" sz="1666" b="1" dirty="0">
                <a:solidFill>
                  <a:srgbClr val="BF4938"/>
                </a:solidFill>
                <a:latin typeface="Arial" pitchFamily="34" charset="0"/>
                <a:ea typeface="Arial" pitchFamily="34" charset="-122"/>
                <a:cs typeface="Arial" pitchFamily="34" charset="-120"/>
              </a:rPr>
              <a:t>Chart region</a:t>
            </a:r>
            <a:endParaRPr lang="en-US" sz="1666" dirty="0"/>
          </a:p>
        </p:txBody>
      </p:sp>
      <p:sp>
        <p:nvSpPr>
          <p:cNvPr id="13" name="text: Document + page + optional region"/>
          <p:cNvSpPr txBox="1"/>
          <p:nvPr/>
        </p:nvSpPr>
        <p:spPr>
          <a:xfrm>
            <a:off x="6066594" y="4989233"/>
            <a:ext cx="3199208" cy="277673"/>
          </a:xfrm>
          <a:prstGeom prst="rect">
            <a:avLst/>
          </a:prstGeom>
          <a:noFill/>
          <a:ln/>
        </p:spPr>
        <p:txBody>
          <a:bodyPr wrap="square" lIns="0" tIns="0" rIns="0" bIns="0" rtlCol="0" anchor="t"/>
          <a:lstStyle/>
          <a:p>
            <a:pPr indent="0" marL="0">
              <a:lnSpc>
                <a:spcPct val="100000"/>
              </a:lnSpc>
              <a:buNone/>
            </a:pPr>
            <a:r>
              <a:rPr lang="en-US" altLang="en-US" sz="1551" dirty="0">
                <a:solidFill>
                  <a:srgbClr val="536164"/>
                </a:solidFill>
                <a:latin typeface="Arial" pitchFamily="34" charset="0"/>
                <a:ea typeface="Arial" pitchFamily="34" charset="-122"/>
                <a:cs typeface="Arial" pitchFamily="34" charset="-120"/>
              </a:rPr>
              <a:t>Document + page + optional region</a:t>
            </a:r>
            <a:endParaRPr lang="en-US" sz="1551" dirty="0"/>
          </a:p>
        </p:txBody>
      </p:sp>
      <p:sp>
        <p:nvSpPr>
          <p:cNvPr id="1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5" name="SPAN: 34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34 / 42</a:t>
            </a:r>
            <a:endParaRPr lang="en-US" sz="10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P: 05 · PDFS AND VIDEO"/>
          <p:cNvSpPr txBox="1"/>
          <p:nvPr/>
        </p:nvSpPr>
        <p:spPr>
          <a:xfrm>
            <a:off x="731520" y="822960"/>
            <a:ext cx="1884640"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PDFS AND VIDEO</a:t>
            </a:r>
            <a:endParaRPr lang="en-US" sz="1140" dirty="0"/>
          </a:p>
        </p:txBody>
      </p:sp>
      <p:sp>
        <p:nvSpPr>
          <p:cNvPr id="3" name="H1: Video aligns two evidence streams"/>
          <p:cNvSpPr txBox="1"/>
          <p:nvPr/>
        </p:nvSpPr>
        <p:spPr>
          <a:xfrm>
            <a:off x="731520" y="1165860"/>
            <a:ext cx="685478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Video aligns two evidence streams</a:t>
            </a:r>
            <a:endParaRPr lang="en-US" sz="3420" dirty="0"/>
          </a:p>
        </p:txBody>
      </p:sp>
      <p:sp>
        <p:nvSpPr>
          <p:cNvPr id="4" name="text: Companion text"/>
          <p:cNvSpPr txBox="1"/>
          <p:nvPr/>
        </p:nvSpPr>
        <p:spPr>
          <a:xfrm>
            <a:off x="1333500" y="2219444"/>
            <a:ext cx="1734026"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Companion text</a:t>
            </a:r>
            <a:endParaRPr lang="en-US" sz="1680" dirty="0"/>
          </a:p>
        </p:txBody>
      </p:sp>
      <p:sp>
        <p:nvSpPr>
          <p:cNvPr id="5" name="text: Sampled frames"/>
          <p:cNvSpPr txBox="1"/>
          <p:nvPr/>
        </p:nvSpPr>
        <p:spPr>
          <a:xfrm>
            <a:off x="1333500" y="3705344"/>
            <a:ext cx="1770340"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Sampled frames</a:t>
            </a:r>
            <a:endParaRPr lang="en-US" sz="1680" dirty="0"/>
          </a:p>
        </p:txBody>
      </p:sp>
      <p:sp>
        <p:nvSpPr>
          <p:cNvPr id="6" name="Diagram shape"/>
          <p:cNvSpPr/>
          <p:nvPr/>
        </p:nvSpPr>
        <p:spPr>
          <a:xfrm>
            <a:off x="1333500" y="2600444"/>
            <a:ext cx="2895600" cy="800100"/>
          </a:xfrm>
          <a:prstGeom prst="roundRect">
            <a:avLst>
              <a:gd name="adj" fmla="val 9524"/>
            </a:avLst>
          </a:prstGeom>
          <a:solidFill>
            <a:srgbClr val="E9F6F2"/>
          </a:solidFill>
          <a:ln w="12700">
            <a:solidFill>
              <a:srgbClr val="FFFFFF">
                <a:alpha val="0"/>
              </a:srgbClr>
            </a:solidFill>
            <a:prstDash val="solid"/>
          </a:ln>
        </p:spPr>
      </p:sp>
      <p:sp>
        <p:nvSpPr>
          <p:cNvPr id="7" name="text: Energy · 0–4 s"/>
          <p:cNvSpPr txBox="1"/>
          <p:nvPr/>
        </p:nvSpPr>
        <p:spPr>
          <a:xfrm>
            <a:off x="1516380" y="2870954"/>
            <a:ext cx="1672114"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Energy · 0–4 s</a:t>
            </a:r>
            <a:endParaRPr lang="en-US" sz="1800" dirty="0"/>
          </a:p>
        </p:txBody>
      </p:sp>
      <p:sp>
        <p:nvSpPr>
          <p:cNvPr id="8" name="Diagram shape"/>
          <p:cNvSpPr/>
          <p:nvPr/>
        </p:nvSpPr>
        <p:spPr>
          <a:xfrm>
            <a:off x="4610100" y="2600444"/>
            <a:ext cx="2895600" cy="800100"/>
          </a:xfrm>
          <a:prstGeom prst="roundRect">
            <a:avLst>
              <a:gd name="adj" fmla="val 9524"/>
            </a:avLst>
          </a:prstGeom>
          <a:solidFill>
            <a:srgbClr val="E9F6F2"/>
          </a:solidFill>
          <a:ln w="12700">
            <a:solidFill>
              <a:srgbClr val="FFFFFF">
                <a:alpha val="0"/>
              </a:srgbClr>
            </a:solidFill>
            <a:prstDash val="solid"/>
          </a:ln>
        </p:spPr>
      </p:sp>
      <p:sp>
        <p:nvSpPr>
          <p:cNvPr id="9" name="text: Controller · 4–8 s"/>
          <p:cNvSpPr txBox="1"/>
          <p:nvPr/>
        </p:nvSpPr>
        <p:spPr>
          <a:xfrm>
            <a:off x="4792980" y="2870954"/>
            <a:ext cx="198941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Controller · 4–8 s</a:t>
            </a:r>
            <a:endParaRPr lang="en-US" sz="1800" dirty="0"/>
          </a:p>
        </p:txBody>
      </p:sp>
      <p:sp>
        <p:nvSpPr>
          <p:cNvPr id="10" name="Diagram shape"/>
          <p:cNvSpPr/>
          <p:nvPr/>
        </p:nvSpPr>
        <p:spPr>
          <a:xfrm>
            <a:off x="7886700" y="2600444"/>
            <a:ext cx="2895600" cy="800100"/>
          </a:xfrm>
          <a:prstGeom prst="roundRect">
            <a:avLst>
              <a:gd name="adj" fmla="val 9524"/>
            </a:avLst>
          </a:prstGeom>
          <a:solidFill>
            <a:srgbClr val="E9F6F2"/>
          </a:solidFill>
          <a:ln w="12700">
            <a:solidFill>
              <a:srgbClr val="FFFFFF">
                <a:alpha val="0"/>
              </a:srgbClr>
            </a:solidFill>
            <a:prstDash val="solid"/>
          </a:ln>
        </p:spPr>
      </p:sp>
      <p:sp>
        <p:nvSpPr>
          <p:cNvPr id="11" name="text: Temperature · 8–12 s"/>
          <p:cNvSpPr txBox="1"/>
          <p:nvPr/>
        </p:nvSpPr>
        <p:spPr>
          <a:xfrm>
            <a:off x="8069580" y="2870954"/>
            <a:ext cx="239208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Temperature · 8–12 s</a:t>
            </a:r>
            <a:endParaRPr lang="en-US" sz="1800" dirty="0"/>
          </a:p>
        </p:txBody>
      </p:sp>
      <p:sp>
        <p:nvSpPr>
          <p:cNvPr id="12" name="Diagram shape"/>
          <p:cNvSpPr/>
          <p:nvPr/>
        </p:nvSpPr>
        <p:spPr>
          <a:xfrm>
            <a:off x="1333500" y="4124444"/>
            <a:ext cx="2895600" cy="800100"/>
          </a:xfrm>
          <a:prstGeom prst="roundRect">
            <a:avLst>
              <a:gd name="adj" fmla="val 9524"/>
            </a:avLst>
          </a:prstGeom>
          <a:solidFill>
            <a:srgbClr val="FFF0EB"/>
          </a:solidFill>
          <a:ln w="12700">
            <a:solidFill>
              <a:srgbClr val="FFFFFF">
                <a:alpha val="0"/>
              </a:srgbClr>
            </a:solidFill>
            <a:prstDash val="solid"/>
          </a:ln>
        </p:spPr>
      </p:sp>
      <p:sp>
        <p:nvSpPr>
          <p:cNvPr id="13" name="text: Energy frame"/>
          <p:cNvSpPr txBox="1"/>
          <p:nvPr/>
        </p:nvSpPr>
        <p:spPr>
          <a:xfrm>
            <a:off x="1516380" y="4394954"/>
            <a:ext cx="1583055"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Energy frame</a:t>
            </a:r>
            <a:endParaRPr lang="en-US" sz="1800" dirty="0"/>
          </a:p>
        </p:txBody>
      </p:sp>
      <p:sp>
        <p:nvSpPr>
          <p:cNvPr id="14" name="Diagram shape"/>
          <p:cNvSpPr/>
          <p:nvPr/>
        </p:nvSpPr>
        <p:spPr>
          <a:xfrm>
            <a:off x="4610100" y="4124444"/>
            <a:ext cx="2895600" cy="800100"/>
          </a:xfrm>
          <a:prstGeom prst="roundRect">
            <a:avLst>
              <a:gd name="adj" fmla="val 9524"/>
            </a:avLst>
          </a:prstGeom>
          <a:solidFill>
            <a:srgbClr val="FFF0EB"/>
          </a:solidFill>
          <a:ln w="12700">
            <a:solidFill>
              <a:srgbClr val="FFFFFF">
                <a:alpha val="0"/>
              </a:srgbClr>
            </a:solidFill>
            <a:prstDash val="solid"/>
          </a:ln>
        </p:spPr>
      </p:sp>
      <p:sp>
        <p:nvSpPr>
          <p:cNvPr id="15" name="text: Controller frame"/>
          <p:cNvSpPr txBox="1"/>
          <p:nvPr/>
        </p:nvSpPr>
        <p:spPr>
          <a:xfrm>
            <a:off x="4792980" y="4394954"/>
            <a:ext cx="190035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Controller frame</a:t>
            </a:r>
            <a:endParaRPr lang="en-US" sz="1800" dirty="0"/>
          </a:p>
        </p:txBody>
      </p:sp>
      <p:sp>
        <p:nvSpPr>
          <p:cNvPr id="16" name="Diagram shape"/>
          <p:cNvSpPr/>
          <p:nvPr/>
        </p:nvSpPr>
        <p:spPr>
          <a:xfrm>
            <a:off x="7886700" y="4124444"/>
            <a:ext cx="2895600" cy="800100"/>
          </a:xfrm>
          <a:prstGeom prst="roundRect">
            <a:avLst>
              <a:gd name="adj" fmla="val 9524"/>
            </a:avLst>
          </a:prstGeom>
          <a:solidFill>
            <a:srgbClr val="FFF0EB"/>
          </a:solidFill>
          <a:ln w="12700">
            <a:solidFill>
              <a:srgbClr val="FFFFFF">
                <a:alpha val="0"/>
              </a:srgbClr>
            </a:solidFill>
            <a:prstDash val="solid"/>
          </a:ln>
        </p:spPr>
      </p:sp>
      <p:sp>
        <p:nvSpPr>
          <p:cNvPr id="17" name="text: Temperature frame"/>
          <p:cNvSpPr txBox="1"/>
          <p:nvPr/>
        </p:nvSpPr>
        <p:spPr>
          <a:xfrm>
            <a:off x="8069580" y="4394954"/>
            <a:ext cx="217586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Temperature frame</a:t>
            </a:r>
            <a:endParaRPr lang="en-US" sz="1800" dirty="0"/>
          </a:p>
        </p:txBody>
      </p:sp>
      <p:sp>
        <p:nvSpPr>
          <p:cNvPr id="18"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9" name="SPAN: 35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35 / 42</a:t>
            </a:r>
            <a:endParaRPr lang="en-US" sz="10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P: 05 · PDFS AND VIDEO"/>
          <p:cNvSpPr txBox="1"/>
          <p:nvPr/>
        </p:nvSpPr>
        <p:spPr>
          <a:xfrm>
            <a:off x="731520" y="822960"/>
            <a:ext cx="1884640"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PDFS AND VIDEO</a:t>
            </a:r>
            <a:endParaRPr lang="en-US" sz="1140" dirty="0"/>
          </a:p>
        </p:txBody>
      </p:sp>
      <p:sp>
        <p:nvSpPr>
          <p:cNvPr id="3" name="H1: Sampling saves work and loses moments"/>
          <p:cNvSpPr txBox="1"/>
          <p:nvPr/>
        </p:nvSpPr>
        <p:spPr>
          <a:xfrm>
            <a:off x="731520" y="1165860"/>
            <a:ext cx="8207812"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Sampling saves work and loses moments</a:t>
            </a:r>
            <a:endParaRPr lang="en-US" sz="3420" dirty="0"/>
          </a:p>
        </p:txBody>
      </p:sp>
      <p:sp>
        <p:nvSpPr>
          <p:cNvPr id="4" name="Diagram shape"/>
          <p:cNvSpPr/>
          <p:nvPr/>
        </p:nvSpPr>
        <p:spPr>
          <a:xfrm>
            <a:off x="731520" y="2594253"/>
            <a:ext cx="5468183" cy="2222183"/>
          </a:xfrm>
          <a:prstGeom prst="roundRect">
            <a:avLst>
              <a:gd name="adj" fmla="val 3429"/>
            </a:avLst>
          </a:prstGeom>
          <a:solidFill>
            <a:srgbClr val="F2F6F4"/>
          </a:solidFill>
          <a:ln w="12700">
            <a:solidFill>
              <a:srgbClr val="FFFFFF">
                <a:alpha val="0"/>
              </a:srgbClr>
            </a:solidFill>
            <a:prstDash val="solid"/>
          </a:ln>
        </p:spPr>
      </p:sp>
      <p:sp>
        <p:nvSpPr>
          <p:cNvPr id="5" name="PRE: cap.set(cv2.CAP_PROP_POS_MSEC, t * 1000)"/>
          <p:cNvSpPr txBox="1"/>
          <p:nvPr/>
        </p:nvSpPr>
        <p:spPr>
          <a:xfrm>
            <a:off x="944880" y="2876193"/>
            <a:ext cx="4328874"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cap.set(cv2.CAP_PROP_POS_MSEC, t * 1000)</a:t>
            </a:r>
            <a:endParaRPr lang="en-US" sz="1380" dirty="0"/>
          </a:p>
        </p:txBody>
      </p:sp>
      <p:sp>
        <p:nvSpPr>
          <p:cNvPr id="6" name="PRE: ok, frame = cap.read()"/>
          <p:cNvSpPr txBox="1"/>
          <p:nvPr/>
        </p:nvSpPr>
        <p:spPr>
          <a:xfrm>
            <a:off x="944880" y="3165277"/>
            <a:ext cx="243578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ok, frame = cap.read()</a:t>
            </a:r>
            <a:endParaRPr lang="en-US" sz="1380" dirty="0"/>
          </a:p>
        </p:txBody>
      </p:sp>
      <p:sp>
        <p:nvSpPr>
          <p:cNvPr id="7" name="PRE: if not ok:"/>
          <p:cNvSpPr txBox="1"/>
          <p:nvPr/>
        </p:nvSpPr>
        <p:spPr>
          <a:xfrm>
            <a:off x="944880" y="3454360"/>
            <a:ext cx="1173718"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if not ok:</a:t>
            </a:r>
            <a:endParaRPr lang="en-US" sz="1380" dirty="0"/>
          </a:p>
        </p:txBody>
      </p:sp>
      <p:sp>
        <p:nvSpPr>
          <p:cNvPr id="8" name="PRE:     raise RuntimeError(&amp;apos;No frame&amp;apos;)"/>
          <p:cNvSpPr txBox="1"/>
          <p:nvPr/>
        </p:nvSpPr>
        <p:spPr>
          <a:xfrm>
            <a:off x="944880" y="3743444"/>
            <a:ext cx="369784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    raise RuntimeError('No frame')</a:t>
            </a:r>
            <a:endParaRPr lang="en-US" sz="1380" dirty="0"/>
          </a:p>
        </p:txBody>
      </p:sp>
      <p:sp>
        <p:nvSpPr>
          <p:cNvPr id="9" name="PRE: rgb = cv2.cvtColor(frame, cv2.COLOR_BGR2RGB)"/>
          <p:cNvSpPr txBox="1"/>
          <p:nvPr/>
        </p:nvSpPr>
        <p:spPr>
          <a:xfrm>
            <a:off x="944880" y="4032528"/>
            <a:ext cx="4749641"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rgb = cv2.cvtColor(frame, cv2.COLOR_BGR2RGB)</a:t>
            </a:r>
            <a:endParaRPr lang="en-US" sz="1380" dirty="0"/>
          </a:p>
        </p:txBody>
      </p:sp>
      <p:sp>
        <p:nvSpPr>
          <p:cNvPr id="10" name="PRE: image = Image.fromarray(rgb)"/>
          <p:cNvSpPr txBox="1"/>
          <p:nvPr/>
        </p:nvSpPr>
        <p:spPr>
          <a:xfrm>
            <a:off x="944880" y="4321612"/>
            <a:ext cx="3066812"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202729"/>
                </a:solidFill>
                <a:latin typeface="Courier New" pitchFamily="34" charset="0"/>
                <a:ea typeface="Courier New" pitchFamily="34" charset="-122"/>
                <a:cs typeface="Courier New" pitchFamily="34" charset="-120"/>
              </a:rPr>
              <a:t>image = Image.fromarray(rgb)</a:t>
            </a:r>
            <a:endParaRPr lang="en-US" sz="1380" dirty="0"/>
          </a:p>
        </p:txBody>
      </p:sp>
      <p:sp>
        <p:nvSpPr>
          <p:cNvPr id="11" name="Diagram connector"/>
          <p:cNvSpPr/>
          <p:nvPr/>
        </p:nvSpPr>
        <p:spPr>
          <a:xfrm>
            <a:off x="6773351" y="3811810"/>
            <a:ext cx="4332026" cy="0"/>
          </a:xfrm>
          <a:prstGeom prst="line">
            <a:avLst/>
          </a:prstGeom>
          <a:noFill/>
          <a:ln w="28407">
            <a:solidFill>
              <a:srgbClr val="C9D5D2"/>
            </a:solidFill>
            <a:prstDash val="solid"/>
          </a:ln>
        </p:spPr>
      </p:sp>
      <p:sp>
        <p:nvSpPr>
          <p:cNvPr id="12" name="Diagram point"/>
          <p:cNvSpPr/>
          <p:nvPr/>
        </p:nvSpPr>
        <p:spPr>
          <a:xfrm>
            <a:off x="6879876" y="3705285"/>
            <a:ext cx="213050" cy="213050"/>
          </a:xfrm>
          <a:prstGeom prst="ellipse">
            <a:avLst/>
          </a:prstGeom>
          <a:solidFill>
            <a:srgbClr val="08796F"/>
          </a:solidFill>
          <a:ln w="21305">
            <a:solidFill>
              <a:srgbClr val="08796F"/>
            </a:solidFill>
            <a:prstDash val="solid"/>
          </a:ln>
        </p:spPr>
      </p:sp>
      <p:sp>
        <p:nvSpPr>
          <p:cNvPr id="13" name="text: 0 s"/>
          <p:cNvSpPr txBox="1"/>
          <p:nvPr/>
        </p:nvSpPr>
        <p:spPr>
          <a:xfrm>
            <a:off x="6867993" y="4042382"/>
            <a:ext cx="358735" cy="259080"/>
          </a:xfrm>
          <a:prstGeom prst="rect">
            <a:avLst/>
          </a:prstGeom>
          <a:noFill/>
          <a:ln/>
        </p:spPr>
        <p:txBody>
          <a:bodyPr wrap="square" lIns="0" tIns="0" rIns="0" bIns="0" rtlCol="0" anchor="t"/>
          <a:lstStyle/>
          <a:p>
            <a:pPr indent="0" marL="0">
              <a:lnSpc>
                <a:spcPct val="100000"/>
              </a:lnSpc>
              <a:buNone/>
            </a:pPr>
            <a:r>
              <a:rPr lang="en-US" altLang="en-US" sz="1398" dirty="0">
                <a:solidFill>
                  <a:srgbClr val="202729"/>
                </a:solidFill>
                <a:latin typeface="Arial" pitchFamily="34" charset="0"/>
                <a:ea typeface="Arial" pitchFamily="34" charset="-122"/>
                <a:cs typeface="Arial" pitchFamily="34" charset="-120"/>
              </a:rPr>
              <a:t>0 s</a:t>
            </a:r>
            <a:endParaRPr lang="en-US" sz="1398" dirty="0"/>
          </a:p>
        </p:txBody>
      </p:sp>
      <p:sp>
        <p:nvSpPr>
          <p:cNvPr id="14" name="Diagram point"/>
          <p:cNvSpPr/>
          <p:nvPr/>
        </p:nvSpPr>
        <p:spPr>
          <a:xfrm>
            <a:off x="8158178" y="3705285"/>
            <a:ext cx="213050" cy="213050"/>
          </a:xfrm>
          <a:prstGeom prst="ellipse">
            <a:avLst/>
          </a:prstGeom>
          <a:solidFill>
            <a:srgbClr val="08796F"/>
          </a:solidFill>
          <a:ln w="21305">
            <a:solidFill>
              <a:srgbClr val="08796F"/>
            </a:solidFill>
            <a:prstDash val="solid"/>
          </a:ln>
        </p:spPr>
      </p:sp>
      <p:sp>
        <p:nvSpPr>
          <p:cNvPr id="15" name="text: 4 s"/>
          <p:cNvSpPr txBox="1"/>
          <p:nvPr/>
        </p:nvSpPr>
        <p:spPr>
          <a:xfrm>
            <a:off x="8146295" y="4042382"/>
            <a:ext cx="358735" cy="259080"/>
          </a:xfrm>
          <a:prstGeom prst="rect">
            <a:avLst/>
          </a:prstGeom>
          <a:noFill/>
          <a:ln/>
        </p:spPr>
        <p:txBody>
          <a:bodyPr wrap="square" lIns="0" tIns="0" rIns="0" bIns="0" rtlCol="0" anchor="t"/>
          <a:lstStyle/>
          <a:p>
            <a:pPr indent="0" marL="0">
              <a:lnSpc>
                <a:spcPct val="100000"/>
              </a:lnSpc>
              <a:buNone/>
            </a:pPr>
            <a:r>
              <a:rPr lang="en-US" altLang="en-US" sz="1398" dirty="0">
                <a:solidFill>
                  <a:srgbClr val="202729"/>
                </a:solidFill>
                <a:latin typeface="Arial" pitchFamily="34" charset="0"/>
                <a:ea typeface="Arial" pitchFamily="34" charset="-122"/>
                <a:cs typeface="Arial" pitchFamily="34" charset="-120"/>
              </a:rPr>
              <a:t>4 s</a:t>
            </a:r>
            <a:endParaRPr lang="en-US" sz="1398" dirty="0"/>
          </a:p>
        </p:txBody>
      </p:sp>
      <p:sp>
        <p:nvSpPr>
          <p:cNvPr id="16" name="Diagram point"/>
          <p:cNvSpPr/>
          <p:nvPr/>
        </p:nvSpPr>
        <p:spPr>
          <a:xfrm>
            <a:off x="9436481" y="3705285"/>
            <a:ext cx="213051" cy="213050"/>
          </a:xfrm>
          <a:prstGeom prst="ellipse">
            <a:avLst/>
          </a:prstGeom>
          <a:solidFill>
            <a:srgbClr val="08796F"/>
          </a:solidFill>
          <a:ln w="21305">
            <a:solidFill>
              <a:srgbClr val="08796F"/>
            </a:solidFill>
            <a:prstDash val="solid"/>
          </a:ln>
        </p:spPr>
      </p:sp>
      <p:sp>
        <p:nvSpPr>
          <p:cNvPr id="17" name="text: 8 s"/>
          <p:cNvSpPr txBox="1"/>
          <p:nvPr/>
        </p:nvSpPr>
        <p:spPr>
          <a:xfrm>
            <a:off x="9424599" y="4042382"/>
            <a:ext cx="358735" cy="259080"/>
          </a:xfrm>
          <a:prstGeom prst="rect">
            <a:avLst/>
          </a:prstGeom>
          <a:noFill/>
          <a:ln/>
        </p:spPr>
        <p:txBody>
          <a:bodyPr wrap="square" lIns="0" tIns="0" rIns="0" bIns="0" rtlCol="0" anchor="t"/>
          <a:lstStyle/>
          <a:p>
            <a:pPr indent="0" marL="0">
              <a:lnSpc>
                <a:spcPct val="100000"/>
              </a:lnSpc>
              <a:buNone/>
            </a:pPr>
            <a:r>
              <a:rPr lang="en-US" altLang="en-US" sz="1398" dirty="0">
                <a:solidFill>
                  <a:srgbClr val="202729"/>
                </a:solidFill>
                <a:latin typeface="Arial" pitchFamily="34" charset="0"/>
                <a:ea typeface="Arial" pitchFamily="34" charset="-122"/>
                <a:cs typeface="Arial" pitchFamily="34" charset="-120"/>
              </a:rPr>
              <a:t>8 s</a:t>
            </a:r>
            <a:endParaRPr lang="en-US" sz="1398" dirty="0"/>
          </a:p>
        </p:txBody>
      </p:sp>
      <p:sp>
        <p:nvSpPr>
          <p:cNvPr id="18" name="Diagram point"/>
          <p:cNvSpPr/>
          <p:nvPr/>
        </p:nvSpPr>
        <p:spPr>
          <a:xfrm>
            <a:off x="10714784" y="3705285"/>
            <a:ext cx="213049" cy="213050"/>
          </a:xfrm>
          <a:prstGeom prst="ellipse">
            <a:avLst/>
          </a:prstGeom>
          <a:solidFill>
            <a:srgbClr val="FFFFFF"/>
          </a:solidFill>
          <a:ln w="21305">
            <a:solidFill>
              <a:srgbClr val="08796F"/>
            </a:solidFill>
            <a:prstDash val="solid"/>
          </a:ln>
        </p:spPr>
      </p:sp>
      <p:sp>
        <p:nvSpPr>
          <p:cNvPr id="19" name="text: 12 s end"/>
          <p:cNvSpPr txBox="1"/>
          <p:nvPr/>
        </p:nvSpPr>
        <p:spPr>
          <a:xfrm>
            <a:off x="10480850" y="4042382"/>
            <a:ext cx="802838" cy="259080"/>
          </a:xfrm>
          <a:prstGeom prst="rect">
            <a:avLst/>
          </a:prstGeom>
          <a:noFill/>
          <a:ln/>
        </p:spPr>
        <p:txBody>
          <a:bodyPr wrap="square" lIns="0" tIns="0" rIns="0" bIns="0" rtlCol="0" anchor="t"/>
          <a:lstStyle/>
          <a:p>
            <a:pPr indent="0" marL="0">
              <a:lnSpc>
                <a:spcPct val="100000"/>
              </a:lnSpc>
              <a:buNone/>
            </a:pPr>
            <a:r>
              <a:rPr lang="en-US" altLang="en-US" sz="1398" dirty="0">
                <a:solidFill>
                  <a:srgbClr val="202729"/>
                </a:solidFill>
                <a:latin typeface="Arial" pitchFamily="34" charset="0"/>
                <a:ea typeface="Arial" pitchFamily="34" charset="-122"/>
                <a:cs typeface="Arial" pitchFamily="34" charset="-120"/>
              </a:rPr>
              <a:t>12 s end</a:t>
            </a:r>
            <a:endParaRPr lang="en-US" sz="1398" dirty="0"/>
          </a:p>
        </p:txBody>
      </p:sp>
      <p:sp>
        <p:nvSpPr>
          <p:cNvPr id="20" name="Diagram shape"/>
          <p:cNvSpPr/>
          <p:nvPr/>
        </p:nvSpPr>
        <p:spPr>
          <a:xfrm>
            <a:off x="8761821" y="3030625"/>
            <a:ext cx="298270" cy="781185"/>
          </a:xfrm>
          <a:prstGeom prst="rect">
            <a:avLst/>
          </a:prstGeom>
          <a:solidFill>
            <a:srgbClr val="FFF0EB"/>
          </a:solidFill>
          <a:ln w="14203">
            <a:solidFill>
              <a:srgbClr val="BF4938"/>
            </a:solidFill>
            <a:prstDash val="solid"/>
          </a:ln>
        </p:spPr>
      </p:sp>
      <p:sp>
        <p:nvSpPr>
          <p:cNvPr id="21" name="text: Brief event between samples"/>
          <p:cNvSpPr txBox="1"/>
          <p:nvPr/>
        </p:nvSpPr>
        <p:spPr>
          <a:xfrm>
            <a:off x="8158178" y="2543409"/>
            <a:ext cx="2492693" cy="266700"/>
          </a:xfrm>
          <a:prstGeom prst="rect">
            <a:avLst/>
          </a:prstGeom>
          <a:noFill/>
          <a:ln/>
        </p:spPr>
        <p:txBody>
          <a:bodyPr wrap="square" lIns="0" tIns="0" rIns="0" bIns="0" rtlCol="0" anchor="t"/>
          <a:lstStyle/>
          <a:p>
            <a:pPr indent="0" marL="0">
              <a:lnSpc>
                <a:spcPct val="100000"/>
              </a:lnSpc>
              <a:buNone/>
            </a:pPr>
            <a:r>
              <a:rPr lang="en-US" altLang="en-US" sz="1454" dirty="0">
                <a:solidFill>
                  <a:srgbClr val="BF4938"/>
                </a:solidFill>
                <a:latin typeface="Arial" pitchFamily="34" charset="0"/>
                <a:ea typeface="Arial" pitchFamily="34" charset="-122"/>
                <a:cs typeface="Arial" pitchFamily="34" charset="-120"/>
              </a:rPr>
              <a:t>Brief event between samples</a:t>
            </a:r>
            <a:endParaRPr lang="en-US" sz="1454" dirty="0"/>
          </a:p>
        </p:txBody>
      </p:sp>
      <p:sp>
        <p:nvSpPr>
          <p:cNvPr id="22" name="P: Alternative seek sketch; notebook samples sequentially."/>
          <p:cNvSpPr txBox="1"/>
          <p:nvPr/>
        </p:nvSpPr>
        <p:spPr>
          <a:xfrm>
            <a:off x="731520" y="5648444"/>
            <a:ext cx="4830604"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Alternative seek sketch; notebook samples sequentially.</a:t>
            </a:r>
            <a:endParaRPr lang="en-US" sz="1500" dirty="0"/>
          </a:p>
        </p:txBody>
      </p:sp>
      <p:sp>
        <p:nvSpPr>
          <p:cNvPr id="23"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24" name="SPAN: 36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36 / 42</a:t>
            </a:r>
            <a:endParaRPr lang="en-US" sz="10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P: 05 · PDFS AND VIDEO"/>
          <p:cNvSpPr txBox="1"/>
          <p:nvPr/>
        </p:nvSpPr>
        <p:spPr>
          <a:xfrm>
            <a:off x="731520" y="822960"/>
            <a:ext cx="1884640"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PDFS AND VIDEO</a:t>
            </a:r>
            <a:endParaRPr lang="en-US" sz="1140" dirty="0"/>
          </a:p>
        </p:txBody>
      </p:sp>
      <p:sp>
        <p:nvSpPr>
          <p:cNvPr id="3" name="H1: A time window is not event proof"/>
          <p:cNvSpPr txBox="1"/>
          <p:nvPr/>
        </p:nvSpPr>
        <p:spPr>
          <a:xfrm>
            <a:off x="731520" y="1165860"/>
            <a:ext cx="6471761"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A time window is not event proof</a:t>
            </a:r>
            <a:endParaRPr lang="en-US" sz="3420" dirty="0"/>
          </a:p>
        </p:txBody>
      </p:sp>
      <p:sp>
        <p:nvSpPr>
          <p:cNvPr id="4" name="P: “Shown within 4–8"/>
          <p:cNvSpPr txBox="1"/>
          <p:nvPr/>
        </p:nvSpPr>
        <p:spPr>
          <a:xfrm>
            <a:off x="731520" y="3214211"/>
            <a:ext cx="3034784" cy="426720"/>
          </a:xfrm>
          <a:prstGeom prst="rect">
            <a:avLst/>
          </a:prstGeom>
          <a:noFill/>
          <a:ln/>
        </p:spPr>
        <p:txBody>
          <a:bodyPr wrap="square" lIns="0" tIns="0" rIns="0" bIns="0" rtlCol="0" anchor="t"/>
          <a:lstStyle/>
          <a:p>
            <a:pPr indent="0" marL="0">
              <a:lnSpc>
                <a:spcPct val="100000"/>
              </a:lnSpc>
              <a:buNone/>
            </a:pPr>
            <a:r>
              <a:rPr lang="en-US" altLang="en-US" sz="2580" b="1" dirty="0">
                <a:solidFill>
                  <a:srgbClr val="202729"/>
                </a:solidFill>
                <a:latin typeface="Arial" pitchFamily="34" charset="0"/>
                <a:ea typeface="Arial" pitchFamily="34" charset="-122"/>
                <a:cs typeface="Arial" pitchFamily="34" charset="-120"/>
              </a:rPr>
              <a:t>“Shown within 4–8</a:t>
            </a:r>
            <a:endParaRPr lang="en-US" sz="2580" dirty="0"/>
          </a:p>
        </p:txBody>
      </p:sp>
      <p:sp>
        <p:nvSpPr>
          <p:cNvPr id="5" name="P: seconds”"/>
          <p:cNvSpPr txBox="1"/>
          <p:nvPr/>
        </p:nvSpPr>
        <p:spPr>
          <a:xfrm>
            <a:off x="731520" y="3613904"/>
            <a:ext cx="1615202" cy="426720"/>
          </a:xfrm>
          <a:prstGeom prst="rect">
            <a:avLst/>
          </a:prstGeom>
          <a:noFill/>
          <a:ln/>
        </p:spPr>
        <p:txBody>
          <a:bodyPr wrap="square" lIns="0" tIns="0" rIns="0" bIns="0" rtlCol="0" anchor="t"/>
          <a:lstStyle/>
          <a:p>
            <a:pPr indent="0" marL="0">
              <a:lnSpc>
                <a:spcPct val="100000"/>
              </a:lnSpc>
              <a:buNone/>
            </a:pPr>
            <a:r>
              <a:rPr lang="en-US" altLang="en-US" sz="2580" b="1" dirty="0">
                <a:solidFill>
                  <a:srgbClr val="202729"/>
                </a:solidFill>
                <a:latin typeface="Arial" pitchFamily="34" charset="0"/>
                <a:ea typeface="Arial" pitchFamily="34" charset="-122"/>
                <a:cs typeface="Arial" pitchFamily="34" charset="-120"/>
              </a:rPr>
              <a:t>seconds”</a:t>
            </a:r>
            <a:endParaRPr lang="en-US" sz="2580" dirty="0"/>
          </a:p>
        </p:txBody>
      </p:sp>
      <p:sp>
        <p:nvSpPr>
          <p:cNvPr id="6" name="Diagram shape"/>
          <p:cNvSpPr/>
          <p:nvPr/>
        </p:nvSpPr>
        <p:spPr>
          <a:xfrm>
            <a:off x="5855018" y="2448044"/>
            <a:ext cx="4724400" cy="2209800"/>
          </a:xfrm>
          <a:prstGeom prst="roundRect">
            <a:avLst>
              <a:gd name="adj" fmla="val 3448"/>
            </a:avLst>
          </a:prstGeom>
          <a:solidFill>
            <a:srgbClr val="E9F6F2"/>
          </a:solidFill>
          <a:ln w="12700">
            <a:solidFill>
              <a:srgbClr val="FFFFFF">
                <a:alpha val="0"/>
              </a:srgbClr>
            </a:solidFill>
            <a:prstDash val="solid"/>
          </a:ln>
        </p:spPr>
      </p:sp>
      <p:sp>
        <p:nvSpPr>
          <p:cNvPr id="7" name="text: Retrieved window: 4–8 s"/>
          <p:cNvSpPr txBox="1"/>
          <p:nvPr/>
        </p:nvSpPr>
        <p:spPr>
          <a:xfrm>
            <a:off x="6037898" y="2562344"/>
            <a:ext cx="2777133"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Retrieved window: 4–8 s</a:t>
            </a:r>
            <a:endParaRPr lang="en-US" sz="1800" dirty="0"/>
          </a:p>
        </p:txBody>
      </p:sp>
      <p:sp>
        <p:nvSpPr>
          <p:cNvPr id="8" name="text: A frame shows the controller"/>
          <p:cNvSpPr txBox="1"/>
          <p:nvPr/>
        </p:nvSpPr>
        <p:spPr>
          <a:xfrm>
            <a:off x="6037641" y="2897624"/>
            <a:ext cx="2335776"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A frame shows the controller</a:t>
            </a:r>
            <a:endParaRPr lang="en-US" sz="1380" dirty="0"/>
          </a:p>
        </p:txBody>
      </p:sp>
      <p:sp>
        <p:nvSpPr>
          <p:cNvPr id="9" name="text: Inspect nearby frames for onset."/>
          <p:cNvSpPr txBox="1"/>
          <p:nvPr/>
        </p:nvSpPr>
        <p:spPr>
          <a:xfrm>
            <a:off x="6045518" y="3850124"/>
            <a:ext cx="3290888" cy="305585"/>
          </a:xfrm>
          <a:prstGeom prst="rect">
            <a:avLst/>
          </a:prstGeom>
          <a:noFill/>
          <a:ln/>
        </p:spPr>
        <p:txBody>
          <a:bodyPr wrap="square" lIns="0" tIns="0" rIns="0" bIns="0" rtlCol="0" anchor="t"/>
          <a:lstStyle/>
          <a:p>
            <a:pPr indent="0" marL="0">
              <a:lnSpc>
                <a:spcPct val="100000"/>
              </a:lnSpc>
              <a:buNone/>
            </a:pPr>
            <a:r>
              <a:rPr lang="en-US" altLang="en-US" sz="1740" dirty="0">
                <a:solidFill>
                  <a:srgbClr val="BF4938"/>
                </a:solidFill>
                <a:latin typeface="Arial" pitchFamily="34" charset="0"/>
                <a:ea typeface="Arial" pitchFamily="34" charset="-122"/>
                <a:cs typeface="Arial" pitchFamily="34" charset="-120"/>
              </a:rPr>
              <a:t>Inspect nearby frames for onset.</a:t>
            </a:r>
            <a:endParaRPr lang="en-US" sz="1740" dirty="0"/>
          </a:p>
        </p:txBody>
      </p:sp>
      <p:sp>
        <p:nvSpPr>
          <p:cNvPr id="10" name="text: Cite the window you actually observed."/>
          <p:cNvSpPr txBox="1"/>
          <p:nvPr/>
        </p:nvSpPr>
        <p:spPr>
          <a:xfrm>
            <a:off x="5893118" y="5008364"/>
            <a:ext cx="3546872" cy="289560"/>
          </a:xfrm>
          <a:prstGeom prst="rect">
            <a:avLst/>
          </a:prstGeom>
          <a:noFill/>
          <a:ln/>
        </p:spPr>
        <p:txBody>
          <a:bodyPr wrap="square" lIns="0" tIns="0" rIns="0" bIns="0" rtlCol="0" anchor="t"/>
          <a:lstStyle/>
          <a:p>
            <a:pPr indent="0" marL="0">
              <a:lnSpc>
                <a:spcPct val="100000"/>
              </a:lnSpc>
              <a:buNone/>
            </a:pPr>
            <a:r>
              <a:rPr lang="en-US" altLang="en-US" sz="1560" dirty="0">
                <a:solidFill>
                  <a:srgbClr val="536164"/>
                </a:solidFill>
                <a:latin typeface="Arial" pitchFamily="34" charset="0"/>
                <a:ea typeface="Arial" pitchFamily="34" charset="-122"/>
                <a:cs typeface="Arial" pitchFamily="34" charset="-120"/>
              </a:rPr>
              <a:t>Cite the window you actually observed.</a:t>
            </a:r>
            <a:endParaRPr lang="en-US" sz="1560" dirty="0"/>
          </a:p>
        </p:txBody>
      </p:sp>
      <p:sp>
        <p:nvSpPr>
          <p:cNvPr id="11"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2" name="SPAN: 37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37 / 42</a:t>
            </a:r>
            <a:endParaRPr lang="en-US" sz="10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P: 05 · FEATURE STORES"/>
          <p:cNvSpPr txBox="1"/>
          <p:nvPr/>
        </p:nvSpPr>
        <p:spPr>
          <a:xfrm>
            <a:off x="731520" y="822960"/>
            <a:ext cx="1965127"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FEATURE STORES</a:t>
            </a:r>
            <a:endParaRPr lang="en-US" sz="1140" dirty="0"/>
          </a:p>
        </p:txBody>
      </p:sp>
      <p:sp>
        <p:nvSpPr>
          <p:cNvPr id="3" name="H1: Features need a lifecycle too"/>
          <p:cNvSpPr txBox="1"/>
          <p:nvPr/>
        </p:nvSpPr>
        <p:spPr>
          <a:xfrm>
            <a:off x="731520" y="1165860"/>
            <a:ext cx="5662493"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Features need a lifecycle too</a:t>
            </a:r>
            <a:endParaRPr lang="en-US" sz="3420" dirty="0"/>
          </a:p>
        </p:txBody>
      </p:sp>
      <p:sp>
        <p:nvSpPr>
          <p:cNvPr id="4" name="Diagram shape"/>
          <p:cNvSpPr/>
          <p:nvPr/>
        </p:nvSpPr>
        <p:spPr>
          <a:xfrm>
            <a:off x="129540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5" name="text: Source"/>
          <p:cNvSpPr txBox="1"/>
          <p:nvPr/>
        </p:nvSpPr>
        <p:spPr>
          <a:xfrm>
            <a:off x="1478280" y="3442454"/>
            <a:ext cx="89701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Source</a:t>
            </a:r>
            <a:endParaRPr lang="en-US" sz="1800" dirty="0"/>
          </a:p>
        </p:txBody>
      </p:sp>
      <p:sp>
        <p:nvSpPr>
          <p:cNvPr id="6" name="Diagram connector"/>
          <p:cNvSpPr/>
          <p:nvPr/>
        </p:nvSpPr>
        <p:spPr>
          <a:xfrm>
            <a:off x="3425190" y="3568184"/>
            <a:ext cx="289560" cy="0"/>
          </a:xfrm>
          <a:prstGeom prst="line">
            <a:avLst/>
          </a:prstGeom>
          <a:noFill/>
          <a:ln w="22860">
            <a:solidFill>
              <a:srgbClr val="08796F"/>
            </a:solidFill>
            <a:prstDash val="solid"/>
            <a:tailEnd type="arrow"/>
          </a:ln>
        </p:spPr>
      </p:sp>
      <p:sp>
        <p:nvSpPr>
          <p:cNvPr id="7" name="Diagram shape"/>
          <p:cNvSpPr/>
          <p:nvPr/>
        </p:nvSpPr>
        <p:spPr>
          <a:xfrm>
            <a:off x="380619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8" name="text: Versioned"/>
          <p:cNvSpPr txBox="1"/>
          <p:nvPr/>
        </p:nvSpPr>
        <p:spPr>
          <a:xfrm>
            <a:off x="3988958" y="3328154"/>
            <a:ext cx="1722120" cy="31242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Versioned</a:t>
            </a:r>
            <a:endParaRPr lang="en-US" sz="1680" dirty="0"/>
          </a:p>
        </p:txBody>
      </p:sp>
      <p:sp>
        <p:nvSpPr>
          <p:cNvPr id="9" name="text: features"/>
          <p:cNvSpPr txBox="1"/>
          <p:nvPr/>
        </p:nvSpPr>
        <p:spPr>
          <a:xfrm>
            <a:off x="3988958" y="3571994"/>
            <a:ext cx="1722120" cy="31242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features</a:t>
            </a:r>
            <a:endParaRPr lang="en-US" sz="1680" dirty="0"/>
          </a:p>
        </p:txBody>
      </p:sp>
      <p:sp>
        <p:nvSpPr>
          <p:cNvPr id="10" name="Diagram connector"/>
          <p:cNvSpPr/>
          <p:nvPr/>
        </p:nvSpPr>
        <p:spPr>
          <a:xfrm>
            <a:off x="5935980" y="3568184"/>
            <a:ext cx="289560" cy="0"/>
          </a:xfrm>
          <a:prstGeom prst="line">
            <a:avLst/>
          </a:prstGeom>
          <a:noFill/>
          <a:ln w="22860">
            <a:solidFill>
              <a:srgbClr val="08796F"/>
            </a:solidFill>
            <a:prstDash val="solid"/>
            <a:tailEnd type="arrow"/>
          </a:ln>
        </p:spPr>
      </p:sp>
      <p:sp>
        <p:nvSpPr>
          <p:cNvPr id="11" name="Diagram shape"/>
          <p:cNvSpPr/>
          <p:nvPr/>
        </p:nvSpPr>
        <p:spPr>
          <a:xfrm>
            <a:off x="631698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2" name="text: Search index"/>
          <p:cNvSpPr txBox="1"/>
          <p:nvPr/>
        </p:nvSpPr>
        <p:spPr>
          <a:xfrm>
            <a:off x="6499860" y="3442454"/>
            <a:ext cx="1545074"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Search index</a:t>
            </a:r>
            <a:endParaRPr lang="en-US" sz="1800" dirty="0"/>
          </a:p>
        </p:txBody>
      </p:sp>
      <p:sp>
        <p:nvSpPr>
          <p:cNvPr id="13" name="Diagram connector"/>
          <p:cNvSpPr/>
          <p:nvPr/>
        </p:nvSpPr>
        <p:spPr>
          <a:xfrm>
            <a:off x="8446770" y="3568184"/>
            <a:ext cx="289560" cy="0"/>
          </a:xfrm>
          <a:prstGeom prst="line">
            <a:avLst/>
          </a:prstGeom>
          <a:noFill/>
          <a:ln w="22860">
            <a:solidFill>
              <a:srgbClr val="08796F"/>
            </a:solidFill>
            <a:prstDash val="solid"/>
            <a:tailEnd type="arrow"/>
          </a:ln>
        </p:spPr>
      </p:sp>
      <p:sp>
        <p:nvSpPr>
          <p:cNvPr id="14" name="Diagram shape"/>
          <p:cNvSpPr/>
          <p:nvPr/>
        </p:nvSpPr>
        <p:spPr>
          <a:xfrm>
            <a:off x="8827770" y="3095744"/>
            <a:ext cx="2068830" cy="952500"/>
          </a:xfrm>
          <a:prstGeom prst="roundRect">
            <a:avLst>
              <a:gd name="adj" fmla="val 8000"/>
            </a:avLst>
          </a:prstGeom>
          <a:solidFill>
            <a:srgbClr val="E9F6F2"/>
          </a:solidFill>
          <a:ln w="12700">
            <a:solidFill>
              <a:srgbClr val="FFFFFF">
                <a:alpha val="0"/>
              </a:srgbClr>
            </a:solidFill>
            <a:prstDash val="solid"/>
          </a:ln>
        </p:spPr>
      </p:sp>
      <p:sp>
        <p:nvSpPr>
          <p:cNvPr id="15" name="text: Evidence"/>
          <p:cNvSpPr txBox="1"/>
          <p:nvPr/>
        </p:nvSpPr>
        <p:spPr>
          <a:xfrm>
            <a:off x="9010650" y="3442454"/>
            <a:ext cx="1125736"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Evidence</a:t>
            </a:r>
            <a:endParaRPr lang="en-US" sz="1800" dirty="0"/>
          </a:p>
        </p:txBody>
      </p:sp>
      <p:sp>
        <p:nvSpPr>
          <p:cNvPr id="16" name="text: A feature store and vector index have different jobs."/>
          <p:cNvSpPr txBox="1"/>
          <p:nvPr/>
        </p:nvSpPr>
        <p:spPr>
          <a:xfrm>
            <a:off x="1295076" y="4535924"/>
            <a:ext cx="5167041" cy="305585"/>
          </a:xfrm>
          <a:prstGeom prst="rect">
            <a:avLst/>
          </a:prstGeom>
          <a:noFill/>
          <a:ln/>
        </p:spPr>
        <p:txBody>
          <a:bodyPr wrap="square" lIns="0" tIns="0" rIns="0" bIns="0" rtlCol="0" anchor="t"/>
          <a:lstStyle/>
          <a:p>
            <a:pPr indent="0" marL="0">
              <a:lnSpc>
                <a:spcPct val="100000"/>
              </a:lnSpc>
              <a:buNone/>
            </a:pPr>
            <a:r>
              <a:rPr lang="en-US" altLang="en-US" sz="1740" dirty="0">
                <a:solidFill>
                  <a:srgbClr val="536164"/>
                </a:solidFill>
                <a:latin typeface="Arial" pitchFamily="34" charset="0"/>
                <a:ea typeface="Arial" pitchFamily="34" charset="-122"/>
                <a:cs typeface="Arial" pitchFamily="34" charset="-120"/>
              </a:rPr>
              <a:t>A feature store and vector index have different jobs.</a:t>
            </a:r>
            <a:endParaRPr lang="en-US" sz="1740" dirty="0"/>
          </a:p>
        </p:txBody>
      </p:sp>
      <p:sp>
        <p:nvSpPr>
          <p:cNvPr id="17"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8" name="SPAN: 38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38 / 42</a:t>
            </a:r>
            <a:endParaRPr lang="en-US" sz="10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P: 05 · FEATURE STORES"/>
          <p:cNvSpPr txBox="1"/>
          <p:nvPr/>
        </p:nvSpPr>
        <p:spPr>
          <a:xfrm>
            <a:off x="731520" y="822960"/>
            <a:ext cx="1965127"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FEATURE STORES</a:t>
            </a:r>
            <a:endParaRPr lang="en-US" sz="1140" dirty="0"/>
          </a:p>
        </p:txBody>
      </p:sp>
      <p:sp>
        <p:nvSpPr>
          <p:cNvPr id="3" name="H1: Reproduce what was known then"/>
          <p:cNvSpPr txBox="1"/>
          <p:nvPr/>
        </p:nvSpPr>
        <p:spPr>
          <a:xfrm>
            <a:off x="731520" y="1165860"/>
            <a:ext cx="6577965"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Reproduce what was known then</a:t>
            </a:r>
            <a:endParaRPr lang="en-US" sz="3420" dirty="0"/>
          </a:p>
        </p:txBody>
      </p:sp>
      <p:sp>
        <p:nvSpPr>
          <p:cNvPr id="4" name="Diagram shape"/>
          <p:cNvSpPr/>
          <p:nvPr/>
        </p:nvSpPr>
        <p:spPr>
          <a:xfrm>
            <a:off x="1333500" y="2524244"/>
            <a:ext cx="2933700" cy="1981200"/>
          </a:xfrm>
          <a:prstGeom prst="roundRect">
            <a:avLst>
              <a:gd name="adj" fmla="val 3846"/>
            </a:avLst>
          </a:prstGeom>
          <a:solidFill>
            <a:srgbClr val="E9F6F2"/>
          </a:solidFill>
          <a:ln w="12700">
            <a:solidFill>
              <a:srgbClr val="FFFFFF">
                <a:alpha val="0"/>
              </a:srgbClr>
            </a:solidFill>
            <a:prstDash val="solid"/>
          </a:ln>
        </p:spPr>
      </p:sp>
      <p:sp>
        <p:nvSpPr>
          <p:cNvPr id="5" name="text: Source event"/>
          <p:cNvSpPr txBox="1"/>
          <p:nvPr/>
        </p:nvSpPr>
        <p:spPr>
          <a:xfrm>
            <a:off x="1516380" y="2638544"/>
            <a:ext cx="1557695"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Source event</a:t>
            </a:r>
            <a:endParaRPr lang="en-US" sz="1800" dirty="0"/>
          </a:p>
        </p:txBody>
      </p:sp>
      <p:sp>
        <p:nvSpPr>
          <p:cNvPr id="6" name="text: Observation time"/>
          <p:cNvSpPr txBox="1"/>
          <p:nvPr/>
        </p:nvSpPr>
        <p:spPr>
          <a:xfrm>
            <a:off x="1516380" y="2973824"/>
            <a:ext cx="1446728"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Observation time</a:t>
            </a:r>
            <a:endParaRPr lang="en-US" sz="1380" dirty="0"/>
          </a:p>
        </p:txBody>
      </p:sp>
      <p:sp>
        <p:nvSpPr>
          <p:cNvPr id="7" name="Diagram shape"/>
          <p:cNvSpPr/>
          <p:nvPr/>
        </p:nvSpPr>
        <p:spPr>
          <a:xfrm>
            <a:off x="4610100" y="2829044"/>
            <a:ext cx="2933700" cy="1981200"/>
          </a:xfrm>
          <a:prstGeom prst="roundRect">
            <a:avLst>
              <a:gd name="adj" fmla="val 3846"/>
            </a:avLst>
          </a:prstGeom>
          <a:solidFill>
            <a:srgbClr val="FFF0EB"/>
          </a:solidFill>
          <a:ln w="12700">
            <a:solidFill>
              <a:srgbClr val="FFFFFF">
                <a:alpha val="0"/>
              </a:srgbClr>
            </a:solidFill>
            <a:prstDash val="solid"/>
          </a:ln>
        </p:spPr>
      </p:sp>
      <p:sp>
        <p:nvSpPr>
          <p:cNvPr id="8" name="text: Feature available"/>
          <p:cNvSpPr txBox="1"/>
          <p:nvPr/>
        </p:nvSpPr>
        <p:spPr>
          <a:xfrm>
            <a:off x="4792980" y="2943344"/>
            <a:ext cx="1977152"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Feature available</a:t>
            </a:r>
            <a:endParaRPr lang="en-US" sz="1800" dirty="0"/>
          </a:p>
        </p:txBody>
      </p:sp>
      <p:sp>
        <p:nvSpPr>
          <p:cNvPr id="9" name="text: Processing finished"/>
          <p:cNvSpPr txBox="1"/>
          <p:nvPr/>
        </p:nvSpPr>
        <p:spPr>
          <a:xfrm>
            <a:off x="4792980" y="3278624"/>
            <a:ext cx="164175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Processing finished</a:t>
            </a:r>
            <a:endParaRPr lang="en-US" sz="1380" dirty="0"/>
          </a:p>
        </p:txBody>
      </p:sp>
      <p:sp>
        <p:nvSpPr>
          <p:cNvPr id="10" name="Diagram shape"/>
          <p:cNvSpPr/>
          <p:nvPr/>
        </p:nvSpPr>
        <p:spPr>
          <a:xfrm>
            <a:off x="7886700" y="2524244"/>
            <a:ext cx="2933700" cy="1981200"/>
          </a:xfrm>
          <a:prstGeom prst="roundRect">
            <a:avLst>
              <a:gd name="adj" fmla="val 3846"/>
            </a:avLst>
          </a:prstGeom>
          <a:solidFill>
            <a:srgbClr val="E9F6F2"/>
          </a:solidFill>
          <a:ln w="12700">
            <a:solidFill>
              <a:srgbClr val="FFFFFF">
                <a:alpha val="0"/>
              </a:srgbClr>
            </a:solidFill>
            <a:prstDash val="solid"/>
          </a:ln>
        </p:spPr>
      </p:sp>
      <p:sp>
        <p:nvSpPr>
          <p:cNvPr id="11" name="text: Historical query"/>
          <p:cNvSpPr txBox="1"/>
          <p:nvPr/>
        </p:nvSpPr>
        <p:spPr>
          <a:xfrm>
            <a:off x="8069580" y="2638544"/>
            <a:ext cx="1849755" cy="314809"/>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Historical query</a:t>
            </a:r>
            <a:endParaRPr lang="en-US" sz="1800" dirty="0"/>
          </a:p>
        </p:txBody>
      </p:sp>
      <p:sp>
        <p:nvSpPr>
          <p:cNvPr id="12" name="text: Use available evidence"/>
          <p:cNvSpPr txBox="1"/>
          <p:nvPr/>
        </p:nvSpPr>
        <p:spPr>
          <a:xfrm>
            <a:off x="8069580" y="2973824"/>
            <a:ext cx="1924407"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Use available evidence</a:t>
            </a:r>
            <a:endParaRPr lang="en-US" sz="1380" dirty="0"/>
          </a:p>
        </p:txBody>
      </p:sp>
      <p:sp>
        <p:nvSpPr>
          <p:cNvPr id="13" name="text: Future features must not leak into historical tests."/>
          <p:cNvSpPr txBox="1"/>
          <p:nvPr/>
        </p:nvSpPr>
        <p:spPr>
          <a:xfrm>
            <a:off x="1371600" y="5122664"/>
            <a:ext cx="4604504" cy="289560"/>
          </a:xfrm>
          <a:prstGeom prst="rect">
            <a:avLst/>
          </a:prstGeom>
          <a:noFill/>
          <a:ln/>
        </p:spPr>
        <p:txBody>
          <a:bodyPr wrap="square" lIns="0" tIns="0" rIns="0" bIns="0" rtlCol="0" anchor="t"/>
          <a:lstStyle/>
          <a:p>
            <a:pPr indent="0" marL="0">
              <a:lnSpc>
                <a:spcPct val="100000"/>
              </a:lnSpc>
              <a:buNone/>
            </a:pPr>
            <a:r>
              <a:rPr lang="en-US" altLang="en-US" sz="1620" dirty="0">
                <a:solidFill>
                  <a:srgbClr val="BF4938"/>
                </a:solidFill>
                <a:latin typeface="Arial" pitchFamily="34" charset="0"/>
                <a:ea typeface="Arial" pitchFamily="34" charset="-122"/>
                <a:cs typeface="Arial" pitchFamily="34" charset="-120"/>
              </a:rPr>
              <a:t>Future features must not leak into historical tests.</a:t>
            </a:r>
            <a:endParaRPr lang="en-US" sz="1620" dirty="0"/>
          </a:p>
        </p:txBody>
      </p:sp>
      <p:sp>
        <p:nvSpPr>
          <p:cNvPr id="1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5" name="SPAN: 39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39 / 42</a:t>
            </a:r>
            <a:endParaRPr lang="en-US" sz="10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P: 05 · FEATURE STORES"/>
          <p:cNvSpPr txBox="1"/>
          <p:nvPr/>
        </p:nvSpPr>
        <p:spPr>
          <a:xfrm>
            <a:off x="731520" y="822960"/>
            <a:ext cx="1965127"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05 · FEATURE STORES</a:t>
            </a:r>
            <a:endParaRPr lang="en-US" sz="1140" dirty="0"/>
          </a:p>
        </p:txBody>
      </p:sp>
      <p:sp>
        <p:nvSpPr>
          <p:cNvPr id="3" name="H1: Changing an encoder changes the index"/>
          <p:cNvSpPr txBox="1"/>
          <p:nvPr/>
        </p:nvSpPr>
        <p:spPr>
          <a:xfrm>
            <a:off x="731520" y="1165860"/>
            <a:ext cx="7964924"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Changing an encoder changes the index</a:t>
            </a:r>
            <a:endParaRPr lang="en-US" sz="3420" dirty="0"/>
          </a:p>
        </p:txBody>
      </p:sp>
      <p:sp>
        <p:nvSpPr>
          <p:cNvPr id="4" name="Diagram shape"/>
          <p:cNvSpPr/>
          <p:nvPr/>
        </p:nvSpPr>
        <p:spPr>
          <a:xfrm>
            <a:off x="1371600" y="2524244"/>
            <a:ext cx="4343400" cy="2095500"/>
          </a:xfrm>
          <a:prstGeom prst="roundRect">
            <a:avLst>
              <a:gd name="adj" fmla="val 3636"/>
            </a:avLst>
          </a:prstGeom>
          <a:solidFill>
            <a:srgbClr val="E9F6F2"/>
          </a:solidFill>
          <a:ln w="12700">
            <a:solidFill>
              <a:srgbClr val="FFFFFF">
                <a:alpha val="0"/>
              </a:srgbClr>
            </a:solidFill>
            <a:prstDash val="solid"/>
          </a:ln>
        </p:spPr>
      </p:sp>
      <p:sp>
        <p:nvSpPr>
          <p:cNvPr id="5" name="text: Index version 1"/>
          <p:cNvSpPr txBox="1"/>
          <p:nvPr/>
        </p:nvSpPr>
        <p:spPr>
          <a:xfrm>
            <a:off x="1554480" y="2638544"/>
            <a:ext cx="1786414"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Index version 1</a:t>
            </a:r>
            <a:endParaRPr lang="en-US" sz="1800" dirty="0"/>
          </a:p>
        </p:txBody>
      </p:sp>
      <p:sp>
        <p:nvSpPr>
          <p:cNvPr id="6" name="text: Encoder v1 + preprocessing v1"/>
          <p:cNvSpPr txBox="1"/>
          <p:nvPr/>
        </p:nvSpPr>
        <p:spPr>
          <a:xfrm>
            <a:off x="1554480" y="2973824"/>
            <a:ext cx="2542937"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Encoder v1 + preprocessing v1</a:t>
            </a:r>
            <a:endParaRPr lang="en-US" sz="1380" dirty="0"/>
          </a:p>
        </p:txBody>
      </p:sp>
      <p:sp>
        <p:nvSpPr>
          <p:cNvPr id="7" name="Diagram shape"/>
          <p:cNvSpPr/>
          <p:nvPr/>
        </p:nvSpPr>
        <p:spPr>
          <a:xfrm>
            <a:off x="6553200" y="2524244"/>
            <a:ext cx="4343400" cy="2095500"/>
          </a:xfrm>
          <a:prstGeom prst="roundRect">
            <a:avLst>
              <a:gd name="adj" fmla="val 3636"/>
            </a:avLst>
          </a:prstGeom>
          <a:solidFill>
            <a:srgbClr val="FFF0EB"/>
          </a:solidFill>
          <a:ln w="12700">
            <a:solidFill>
              <a:srgbClr val="FFFFFF">
                <a:alpha val="0"/>
              </a:srgbClr>
            </a:solidFill>
            <a:prstDash val="solid"/>
          </a:ln>
        </p:spPr>
      </p:sp>
      <p:sp>
        <p:nvSpPr>
          <p:cNvPr id="8" name="text: Index version 2"/>
          <p:cNvSpPr txBox="1"/>
          <p:nvPr/>
        </p:nvSpPr>
        <p:spPr>
          <a:xfrm>
            <a:off x="6736080" y="2638544"/>
            <a:ext cx="1786414"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Index version 2</a:t>
            </a:r>
            <a:endParaRPr lang="en-US" sz="1800" dirty="0"/>
          </a:p>
        </p:txBody>
      </p:sp>
      <p:sp>
        <p:nvSpPr>
          <p:cNvPr id="9" name="text: Recompute compatible features"/>
          <p:cNvSpPr txBox="1"/>
          <p:nvPr/>
        </p:nvSpPr>
        <p:spPr>
          <a:xfrm>
            <a:off x="6736080" y="2973824"/>
            <a:ext cx="2596396"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Recompute compatible features</a:t>
            </a:r>
            <a:endParaRPr lang="en-US" sz="1380" dirty="0"/>
          </a:p>
        </p:txBody>
      </p:sp>
      <p:sp>
        <p:nvSpPr>
          <p:cNvPr id="10" name="text: Queries use the matching encoder"/>
          <p:cNvSpPr txBox="1"/>
          <p:nvPr/>
        </p:nvSpPr>
        <p:spPr>
          <a:xfrm>
            <a:off x="1562100" y="4025384"/>
            <a:ext cx="3036626" cy="276311"/>
          </a:xfrm>
          <a:prstGeom prst="rect">
            <a:avLst/>
          </a:prstGeom>
          <a:noFill/>
          <a:ln/>
        </p:spPr>
        <p:txBody>
          <a:bodyPr wrap="square" lIns="0" tIns="0" rIns="0" bIns="0" rtlCol="0" anchor="t"/>
          <a:lstStyle/>
          <a:p>
            <a:pPr indent="0" marL="0">
              <a:lnSpc>
                <a:spcPct val="100000"/>
              </a:lnSpc>
              <a:buNone/>
            </a:pPr>
            <a:r>
              <a:rPr lang="en-US" altLang="en-US" sz="1500" dirty="0">
                <a:solidFill>
                  <a:srgbClr val="08796F"/>
                </a:solidFill>
                <a:latin typeface="Arial" pitchFamily="34" charset="0"/>
                <a:ea typeface="Arial" pitchFamily="34" charset="-122"/>
                <a:cs typeface="Arial" pitchFamily="34" charset="-120"/>
              </a:rPr>
              <a:t>Queries use the matching encoder</a:t>
            </a:r>
            <a:endParaRPr lang="en-US" sz="1500" dirty="0"/>
          </a:p>
        </p:txBody>
      </p:sp>
      <p:sp>
        <p:nvSpPr>
          <p:cNvPr id="11" name="text: Evaluate before switching traffic"/>
          <p:cNvSpPr txBox="1"/>
          <p:nvPr/>
        </p:nvSpPr>
        <p:spPr>
          <a:xfrm>
            <a:off x="6743700" y="4025384"/>
            <a:ext cx="2808089" cy="276311"/>
          </a:xfrm>
          <a:prstGeom prst="rect">
            <a:avLst/>
          </a:prstGeom>
          <a:noFill/>
          <a:ln/>
        </p:spPr>
        <p:txBody>
          <a:bodyPr wrap="square" lIns="0" tIns="0" rIns="0" bIns="0" rtlCol="0" anchor="t"/>
          <a:lstStyle/>
          <a:p>
            <a:pPr indent="0" marL="0">
              <a:lnSpc>
                <a:spcPct val="100000"/>
              </a:lnSpc>
              <a:buNone/>
            </a:pPr>
            <a:r>
              <a:rPr lang="en-US" altLang="en-US" sz="1500" dirty="0">
                <a:solidFill>
                  <a:srgbClr val="BF4938"/>
                </a:solidFill>
                <a:latin typeface="Arial" pitchFamily="34" charset="0"/>
                <a:ea typeface="Arial" pitchFamily="34" charset="-122"/>
                <a:cs typeface="Arial" pitchFamily="34" charset="-120"/>
              </a:rPr>
              <a:t>Evaluate before switching traffic</a:t>
            </a:r>
            <a:endParaRPr lang="en-US" sz="1500" dirty="0"/>
          </a:p>
        </p:txBody>
      </p:sp>
      <p:sp>
        <p:nvSpPr>
          <p:cNvPr id="12"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3" name="SPAN: 40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40 / 42</a:t>
            </a:r>
            <a:endParaRPr lang="en-US" sz="10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P: CAPSTONE"/>
          <p:cNvSpPr txBox="1"/>
          <p:nvPr/>
        </p:nvSpPr>
        <p:spPr>
          <a:xfrm>
            <a:off x="731520" y="822960"/>
            <a:ext cx="1027986"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CAPSTONE</a:t>
            </a:r>
            <a:endParaRPr lang="en-US" sz="1140" dirty="0"/>
          </a:p>
        </p:txBody>
      </p:sp>
      <p:sp>
        <p:nvSpPr>
          <p:cNvPr id="3" name="H1: Design your own controlled comparison"/>
          <p:cNvSpPr txBox="1"/>
          <p:nvPr/>
        </p:nvSpPr>
        <p:spPr>
          <a:xfrm>
            <a:off x="731520" y="1165860"/>
            <a:ext cx="7916108"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Design your own controlled comparison</a:t>
            </a:r>
            <a:endParaRPr lang="en-US" sz="3420" dirty="0"/>
          </a:p>
        </p:txBody>
      </p:sp>
      <p:sp>
        <p:nvSpPr>
          <p:cNvPr id="4" name="Diagram shape"/>
          <p:cNvSpPr/>
          <p:nvPr/>
        </p:nvSpPr>
        <p:spPr>
          <a:xfrm>
            <a:off x="129540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5" name="text: Choose"/>
          <p:cNvSpPr txBox="1"/>
          <p:nvPr/>
        </p:nvSpPr>
        <p:spPr>
          <a:xfrm>
            <a:off x="1508760" y="2585204"/>
            <a:ext cx="904399"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Choose</a:t>
            </a:r>
            <a:endParaRPr lang="en-US" sz="1680" dirty="0"/>
          </a:p>
        </p:txBody>
      </p:sp>
      <p:sp>
        <p:nvSpPr>
          <p:cNvPr id="6" name="text: A / B / C"/>
          <p:cNvSpPr txBox="1"/>
          <p:nvPr/>
        </p:nvSpPr>
        <p:spPr>
          <a:xfrm>
            <a:off x="1508760" y="3217664"/>
            <a:ext cx="1857732"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A / B / C</a:t>
            </a:r>
            <a:endParaRPr lang="en-US" sz="3600" dirty="0"/>
          </a:p>
        </p:txBody>
      </p:sp>
      <p:sp>
        <p:nvSpPr>
          <p:cNvPr id="7" name="text: Match a research question"/>
          <p:cNvSpPr txBox="1"/>
          <p:nvPr/>
        </p:nvSpPr>
        <p:spPr>
          <a:xfrm>
            <a:off x="1508760" y="4261604"/>
            <a:ext cx="2277070"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Match a research question</a:t>
            </a:r>
            <a:endParaRPr lang="en-US" sz="1440" dirty="0"/>
          </a:p>
        </p:txBody>
      </p:sp>
      <p:sp>
        <p:nvSpPr>
          <p:cNvPr id="8" name="Diagram shape"/>
          <p:cNvSpPr/>
          <p:nvPr/>
        </p:nvSpPr>
        <p:spPr>
          <a:xfrm>
            <a:off x="4556760" y="2371844"/>
            <a:ext cx="3078480" cy="2514600"/>
          </a:xfrm>
          <a:prstGeom prst="roundRect">
            <a:avLst>
              <a:gd name="adj" fmla="val 3636"/>
            </a:avLst>
          </a:prstGeom>
          <a:solidFill>
            <a:srgbClr val="FFF0EB"/>
          </a:solidFill>
          <a:ln w="12700">
            <a:solidFill>
              <a:srgbClr val="FFFFFF">
                <a:alpha val="0"/>
              </a:srgbClr>
            </a:solidFill>
            <a:prstDash val="solid"/>
          </a:ln>
        </p:spPr>
      </p:sp>
      <p:sp>
        <p:nvSpPr>
          <p:cNvPr id="9" name="text: Measure"/>
          <p:cNvSpPr txBox="1"/>
          <p:nvPr/>
        </p:nvSpPr>
        <p:spPr>
          <a:xfrm>
            <a:off x="4770120" y="2585204"/>
            <a:ext cx="987743"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Measure</a:t>
            </a:r>
            <a:endParaRPr lang="en-US" sz="1680" dirty="0"/>
          </a:p>
        </p:txBody>
      </p:sp>
      <p:sp>
        <p:nvSpPr>
          <p:cNvPr id="10" name="text: Evidence"/>
          <p:cNvSpPr txBox="1"/>
          <p:nvPr/>
        </p:nvSpPr>
        <p:spPr>
          <a:xfrm>
            <a:off x="4770120" y="3217664"/>
            <a:ext cx="2129552"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BF4938"/>
                </a:solidFill>
                <a:latin typeface="Arial" pitchFamily="34" charset="0"/>
                <a:ea typeface="Arial" pitchFamily="34" charset="-122"/>
                <a:cs typeface="Arial" pitchFamily="34" charset="-120"/>
              </a:rPr>
              <a:t>Evidence</a:t>
            </a:r>
            <a:endParaRPr lang="en-US" sz="3600" dirty="0"/>
          </a:p>
        </p:txBody>
      </p:sp>
      <p:sp>
        <p:nvSpPr>
          <p:cNvPr id="11" name="text: Recall, grounding, and cost"/>
          <p:cNvSpPr txBox="1"/>
          <p:nvPr/>
        </p:nvSpPr>
        <p:spPr>
          <a:xfrm>
            <a:off x="4770120" y="4261604"/>
            <a:ext cx="2338268" cy="267087"/>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Recall, grounding, and cost</a:t>
            </a:r>
            <a:endParaRPr lang="en-US" sz="1440" dirty="0"/>
          </a:p>
        </p:txBody>
      </p:sp>
      <p:sp>
        <p:nvSpPr>
          <p:cNvPr id="12" name="Diagram shape"/>
          <p:cNvSpPr/>
          <p:nvPr/>
        </p:nvSpPr>
        <p:spPr>
          <a:xfrm>
            <a:off x="7818120" y="2371844"/>
            <a:ext cx="3078480" cy="2514600"/>
          </a:xfrm>
          <a:prstGeom prst="roundRect">
            <a:avLst>
              <a:gd name="adj" fmla="val 3636"/>
            </a:avLst>
          </a:prstGeom>
          <a:solidFill>
            <a:srgbClr val="E9F6F2"/>
          </a:solidFill>
          <a:ln w="12700">
            <a:solidFill>
              <a:srgbClr val="FFFFFF">
                <a:alpha val="0"/>
              </a:srgbClr>
            </a:solidFill>
            <a:prstDash val="solid"/>
          </a:ln>
        </p:spPr>
      </p:sp>
      <p:sp>
        <p:nvSpPr>
          <p:cNvPr id="13" name="text: Defend"/>
          <p:cNvSpPr txBox="1"/>
          <p:nvPr/>
        </p:nvSpPr>
        <p:spPr>
          <a:xfrm>
            <a:off x="8031480" y="2585204"/>
            <a:ext cx="845106" cy="297180"/>
          </a:xfrm>
          <a:prstGeom prst="rect">
            <a:avLst/>
          </a:prstGeom>
          <a:noFill/>
          <a:ln/>
        </p:spPr>
        <p:txBody>
          <a:bodyPr wrap="square" lIns="0" tIns="0" rIns="0" bIns="0" rtlCol="0" anchor="t"/>
          <a:lstStyle/>
          <a:p>
            <a:pPr indent="0" marL="0">
              <a:lnSpc>
                <a:spcPct val="100000"/>
              </a:lnSpc>
              <a:buNone/>
            </a:pPr>
            <a:r>
              <a:rPr lang="en-US" altLang="en-US" sz="1680" b="1" dirty="0">
                <a:solidFill>
                  <a:srgbClr val="202729"/>
                </a:solidFill>
                <a:latin typeface="Arial" pitchFamily="34" charset="0"/>
                <a:ea typeface="Arial" pitchFamily="34" charset="-122"/>
                <a:cs typeface="Arial" pitchFamily="34" charset="-120"/>
              </a:rPr>
              <a:t>Defend</a:t>
            </a:r>
            <a:endParaRPr lang="en-US" sz="1680" dirty="0"/>
          </a:p>
        </p:txBody>
      </p:sp>
      <p:sp>
        <p:nvSpPr>
          <p:cNvPr id="14" name="text: Tradeoffs"/>
          <p:cNvSpPr txBox="1"/>
          <p:nvPr/>
        </p:nvSpPr>
        <p:spPr>
          <a:xfrm>
            <a:off x="8031480" y="3217664"/>
            <a:ext cx="2179796" cy="571500"/>
          </a:xfrm>
          <a:prstGeom prst="rect">
            <a:avLst/>
          </a:prstGeom>
          <a:noFill/>
          <a:ln/>
        </p:spPr>
        <p:txBody>
          <a:bodyPr wrap="square" lIns="0" tIns="0" rIns="0" bIns="0" rtlCol="0" anchor="t"/>
          <a:lstStyle/>
          <a:p>
            <a:pPr indent="0" marL="0">
              <a:lnSpc>
                <a:spcPct val="100000"/>
              </a:lnSpc>
              <a:buNone/>
            </a:pPr>
            <a:r>
              <a:rPr lang="en-US" altLang="en-US" sz="3600" b="1" dirty="0">
                <a:solidFill>
                  <a:srgbClr val="08796F"/>
                </a:solidFill>
                <a:latin typeface="Arial" pitchFamily="34" charset="0"/>
                <a:ea typeface="Arial" pitchFamily="34" charset="-122"/>
                <a:cs typeface="Arial" pitchFamily="34" charset="-120"/>
              </a:rPr>
              <a:t>Tradeoffs</a:t>
            </a:r>
            <a:endParaRPr lang="en-US" sz="3600" dirty="0"/>
          </a:p>
        </p:txBody>
      </p:sp>
      <p:sp>
        <p:nvSpPr>
          <p:cNvPr id="15" name="text: Include one failure case"/>
          <p:cNvSpPr txBox="1"/>
          <p:nvPr/>
        </p:nvSpPr>
        <p:spPr>
          <a:xfrm>
            <a:off x="8031480" y="4261604"/>
            <a:ext cx="2053590" cy="266700"/>
          </a:xfrm>
          <a:prstGeom prst="rect">
            <a:avLst/>
          </a:prstGeom>
          <a:noFill/>
          <a:ln/>
        </p:spPr>
        <p:txBody>
          <a:bodyPr wrap="square" lIns="0" tIns="0" rIns="0" bIns="0" rtlCol="0" anchor="t"/>
          <a:lstStyle/>
          <a:p>
            <a:pPr indent="0" marL="0">
              <a:lnSpc>
                <a:spcPct val="100000"/>
              </a:lnSpc>
              <a:buNone/>
            </a:pPr>
            <a:r>
              <a:rPr lang="en-US" altLang="en-US" sz="1440" dirty="0">
                <a:solidFill>
                  <a:srgbClr val="536164"/>
                </a:solidFill>
                <a:latin typeface="Arial" pitchFamily="34" charset="0"/>
                <a:ea typeface="Arial" pitchFamily="34" charset="-122"/>
                <a:cs typeface="Arial" pitchFamily="34" charset="-120"/>
              </a:rPr>
              <a:t>Include one failure case</a:t>
            </a:r>
            <a:endParaRPr lang="en-US" sz="1440" dirty="0"/>
          </a:p>
        </p:txBody>
      </p:sp>
      <p:sp>
        <p:nvSpPr>
          <p:cNvPr id="16"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7" name="SPAN: 41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41 / 42</a:t>
            </a:r>
            <a:endParaRPr lang="en-US" sz="10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P: YOUR NEXT EXPERIMENT"/>
          <p:cNvSpPr txBox="1"/>
          <p:nvPr/>
        </p:nvSpPr>
        <p:spPr>
          <a:xfrm>
            <a:off x="731520" y="822960"/>
            <a:ext cx="2208609" cy="220980"/>
          </a:xfrm>
          <a:prstGeom prst="rect">
            <a:avLst/>
          </a:prstGeom>
          <a:noFill/>
          <a:ln/>
        </p:spPr>
        <p:txBody>
          <a:bodyPr wrap="square" lIns="0" tIns="0" rIns="0" bIns="0" rtlCol="0" anchor="t"/>
          <a:lstStyle/>
          <a:p>
            <a:pPr indent="0" marL="0">
              <a:lnSpc>
                <a:spcPct val="100000"/>
              </a:lnSpc>
              <a:buNone/>
            </a:pPr>
            <a:r>
              <a:rPr lang="en-US" altLang="en-US" sz="1140" b="1" spc="103" kern="0" dirty="0">
                <a:solidFill>
                  <a:srgbClr val="08796F"/>
                </a:solidFill>
                <a:latin typeface="Arial" pitchFamily="34" charset="0"/>
                <a:ea typeface="Arial" pitchFamily="34" charset="-122"/>
                <a:cs typeface="Arial" pitchFamily="34" charset="-120"/>
              </a:rPr>
              <a:t>YOUR NEXT EXPERIMENT</a:t>
            </a:r>
            <a:endParaRPr lang="en-US" sz="1140" dirty="0"/>
          </a:p>
        </p:txBody>
      </p:sp>
      <p:sp>
        <p:nvSpPr>
          <p:cNvPr id="3" name="H1: Find evidence. Read carefully. Measure."/>
          <p:cNvSpPr txBox="1"/>
          <p:nvPr/>
        </p:nvSpPr>
        <p:spPr>
          <a:xfrm>
            <a:off x="731520" y="1165860"/>
            <a:ext cx="7786330" cy="548640"/>
          </a:xfrm>
          <a:prstGeom prst="rect">
            <a:avLst/>
          </a:prstGeom>
          <a:noFill/>
          <a:ln/>
        </p:spPr>
        <p:txBody>
          <a:bodyPr wrap="square" lIns="0" tIns="0" rIns="0" bIns="0" rtlCol="0" anchor="t"/>
          <a:lstStyle/>
          <a:p>
            <a:pPr indent="0" marL="0">
              <a:lnSpc>
                <a:spcPct val="100000"/>
              </a:lnSpc>
              <a:buNone/>
            </a:pPr>
            <a:r>
              <a:rPr lang="en-US" altLang="en-US" sz="3420" b="1" spc="-108" kern="0" dirty="0">
                <a:solidFill>
                  <a:srgbClr val="202729"/>
                </a:solidFill>
                <a:latin typeface="Arial" pitchFamily="34" charset="0"/>
                <a:ea typeface="Arial" pitchFamily="34" charset="-122"/>
                <a:cs typeface="Arial" pitchFamily="34" charset="-120"/>
              </a:rPr>
              <a:t>Find evidence. Read carefully. Measure.</a:t>
            </a:r>
            <a:endParaRPr lang="en-US" sz="3420" dirty="0"/>
          </a:p>
        </p:txBody>
      </p:sp>
      <p:sp>
        <p:nvSpPr>
          <p:cNvPr id="4" name="Diagram shape"/>
          <p:cNvSpPr/>
          <p:nvPr/>
        </p:nvSpPr>
        <p:spPr>
          <a:xfrm>
            <a:off x="1333500" y="2486144"/>
            <a:ext cx="2933700" cy="2286000"/>
          </a:xfrm>
          <a:prstGeom prst="roundRect">
            <a:avLst>
              <a:gd name="adj" fmla="val 3333"/>
            </a:avLst>
          </a:prstGeom>
          <a:solidFill>
            <a:srgbClr val="E9F6F2"/>
          </a:solidFill>
          <a:ln w="12700">
            <a:solidFill>
              <a:srgbClr val="FFFFFF">
                <a:alpha val="0"/>
              </a:srgbClr>
            </a:solidFill>
            <a:prstDash val="solid"/>
          </a:ln>
        </p:spPr>
      </p:sp>
      <p:sp>
        <p:nvSpPr>
          <p:cNvPr id="5" name="text: Represent"/>
          <p:cNvSpPr txBox="1"/>
          <p:nvPr/>
        </p:nvSpPr>
        <p:spPr>
          <a:xfrm>
            <a:off x="1516380" y="2600444"/>
            <a:ext cx="1239917"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Represent</a:t>
            </a:r>
            <a:endParaRPr lang="en-US" sz="1800" dirty="0"/>
          </a:p>
        </p:txBody>
      </p:sp>
      <p:sp>
        <p:nvSpPr>
          <p:cNvPr id="6" name="text: Make evidence searchable"/>
          <p:cNvSpPr txBox="1"/>
          <p:nvPr/>
        </p:nvSpPr>
        <p:spPr>
          <a:xfrm>
            <a:off x="1516380" y="2935724"/>
            <a:ext cx="2206823"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Make evidence searchable</a:t>
            </a:r>
            <a:endParaRPr lang="en-US" sz="1380" dirty="0"/>
          </a:p>
        </p:txBody>
      </p:sp>
      <p:sp>
        <p:nvSpPr>
          <p:cNvPr id="7" name="Diagram shape"/>
          <p:cNvSpPr/>
          <p:nvPr/>
        </p:nvSpPr>
        <p:spPr>
          <a:xfrm>
            <a:off x="4610100" y="2486144"/>
            <a:ext cx="2933700" cy="2286000"/>
          </a:xfrm>
          <a:prstGeom prst="roundRect">
            <a:avLst>
              <a:gd name="adj" fmla="val 3333"/>
            </a:avLst>
          </a:prstGeom>
          <a:solidFill>
            <a:srgbClr val="FFF0EB"/>
          </a:solidFill>
          <a:ln w="12700">
            <a:solidFill>
              <a:srgbClr val="FFFFFF">
                <a:alpha val="0"/>
              </a:srgbClr>
            </a:solidFill>
            <a:prstDash val="solid"/>
          </a:ln>
        </p:spPr>
      </p:sp>
      <p:sp>
        <p:nvSpPr>
          <p:cNvPr id="8" name="text: Ground"/>
          <p:cNvSpPr txBox="1"/>
          <p:nvPr/>
        </p:nvSpPr>
        <p:spPr>
          <a:xfrm>
            <a:off x="4792980" y="2600444"/>
            <a:ext cx="947261"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Ground</a:t>
            </a:r>
            <a:endParaRPr lang="en-US" sz="1800" dirty="0"/>
          </a:p>
        </p:txBody>
      </p:sp>
      <p:sp>
        <p:nvSpPr>
          <p:cNvPr id="9" name="text: Inspect selected sources"/>
          <p:cNvSpPr txBox="1"/>
          <p:nvPr/>
        </p:nvSpPr>
        <p:spPr>
          <a:xfrm>
            <a:off x="4792980" y="2935724"/>
            <a:ext cx="2050852"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Inspect selected sources</a:t>
            </a:r>
            <a:endParaRPr lang="en-US" sz="1380" dirty="0"/>
          </a:p>
        </p:txBody>
      </p:sp>
      <p:sp>
        <p:nvSpPr>
          <p:cNvPr id="10" name="Diagram shape"/>
          <p:cNvSpPr/>
          <p:nvPr/>
        </p:nvSpPr>
        <p:spPr>
          <a:xfrm>
            <a:off x="7886700" y="2486144"/>
            <a:ext cx="2933700" cy="2286000"/>
          </a:xfrm>
          <a:prstGeom prst="roundRect">
            <a:avLst>
              <a:gd name="adj" fmla="val 3333"/>
            </a:avLst>
          </a:prstGeom>
          <a:solidFill>
            <a:srgbClr val="E9F6F2"/>
          </a:solidFill>
          <a:ln w="12700">
            <a:solidFill>
              <a:srgbClr val="FFFFFF">
                <a:alpha val="0"/>
              </a:srgbClr>
            </a:solidFill>
            <a:prstDash val="solid"/>
          </a:ln>
        </p:spPr>
      </p:sp>
      <p:sp>
        <p:nvSpPr>
          <p:cNvPr id="11" name="text: Evaluate"/>
          <p:cNvSpPr txBox="1"/>
          <p:nvPr/>
        </p:nvSpPr>
        <p:spPr>
          <a:xfrm>
            <a:off x="8069580" y="2600444"/>
            <a:ext cx="1062276" cy="312420"/>
          </a:xfrm>
          <a:prstGeom prst="rect">
            <a:avLst/>
          </a:prstGeom>
          <a:noFill/>
          <a:ln/>
        </p:spPr>
        <p:txBody>
          <a:bodyPr wrap="square" lIns="0" tIns="0" rIns="0" bIns="0" rtlCol="0" anchor="t"/>
          <a:lstStyle/>
          <a:p>
            <a:pPr indent="0" marL="0">
              <a:lnSpc>
                <a:spcPct val="100000"/>
              </a:lnSpc>
              <a:buNone/>
            </a:pPr>
            <a:r>
              <a:rPr lang="en-US" altLang="en-US" sz="1800" b="1" dirty="0">
                <a:solidFill>
                  <a:srgbClr val="202729"/>
                </a:solidFill>
                <a:latin typeface="Arial" pitchFamily="34" charset="0"/>
                <a:ea typeface="Arial" pitchFamily="34" charset="-122"/>
                <a:cs typeface="Arial" pitchFamily="34" charset="-120"/>
              </a:rPr>
              <a:t>Evaluate</a:t>
            </a:r>
            <a:endParaRPr lang="en-US" sz="1800" dirty="0"/>
          </a:p>
        </p:txBody>
      </p:sp>
      <p:sp>
        <p:nvSpPr>
          <p:cNvPr id="12" name="text: Separate failure stages"/>
          <p:cNvSpPr txBox="1"/>
          <p:nvPr/>
        </p:nvSpPr>
        <p:spPr>
          <a:xfrm>
            <a:off x="8069580" y="2935724"/>
            <a:ext cx="1924407" cy="259080"/>
          </a:xfrm>
          <a:prstGeom prst="rect">
            <a:avLst/>
          </a:prstGeom>
          <a:noFill/>
          <a:ln/>
        </p:spPr>
        <p:txBody>
          <a:bodyPr wrap="square" lIns="0" tIns="0" rIns="0" bIns="0" rtlCol="0" anchor="t"/>
          <a:lstStyle/>
          <a:p>
            <a:pPr indent="0" marL="0">
              <a:lnSpc>
                <a:spcPct val="100000"/>
              </a:lnSpc>
              <a:buNone/>
            </a:pPr>
            <a:r>
              <a:rPr lang="en-US" altLang="en-US" sz="1380" dirty="0">
                <a:solidFill>
                  <a:srgbClr val="536164"/>
                </a:solidFill>
                <a:latin typeface="Arial" pitchFamily="34" charset="0"/>
                <a:ea typeface="Arial" pitchFamily="34" charset="-122"/>
                <a:cs typeface="Arial" pitchFamily="34" charset="-120"/>
              </a:rPr>
              <a:t>Separate failure stages</a:t>
            </a:r>
            <a:endParaRPr lang="en-US" sz="1380" dirty="0"/>
          </a:p>
        </p:txBody>
      </p:sp>
      <p:sp>
        <p:nvSpPr>
          <p:cNvPr id="13" name="P: Open the notebooks. Keep an experiment log."/>
          <p:cNvSpPr txBox="1"/>
          <p:nvPr/>
        </p:nvSpPr>
        <p:spPr>
          <a:xfrm>
            <a:off x="731520" y="5648444"/>
            <a:ext cx="4008715" cy="274320"/>
          </a:xfrm>
          <a:prstGeom prst="rect">
            <a:avLst/>
          </a:prstGeom>
          <a:noFill/>
          <a:ln/>
        </p:spPr>
        <p:txBody>
          <a:bodyPr wrap="square" lIns="0" tIns="0" rIns="0" bIns="0" rtlCol="0" anchor="t"/>
          <a:lstStyle/>
          <a:p>
            <a:pPr indent="0" marL="0">
              <a:lnSpc>
                <a:spcPct val="100000"/>
              </a:lnSpc>
              <a:buNone/>
            </a:pPr>
            <a:r>
              <a:rPr lang="en-US" altLang="en-US" sz="1500" dirty="0">
                <a:solidFill>
                  <a:srgbClr val="536164"/>
                </a:solidFill>
                <a:latin typeface="Arial" pitchFamily="34" charset="0"/>
                <a:ea typeface="Arial" pitchFamily="34" charset="-122"/>
                <a:cs typeface="Arial" pitchFamily="34" charset="-120"/>
              </a:rPr>
              <a:t>Open the notebooks. Keep an experiment log.</a:t>
            </a:r>
            <a:endParaRPr lang="en-US" sz="1500" dirty="0"/>
          </a:p>
        </p:txBody>
      </p:sp>
      <p:sp>
        <p:nvSpPr>
          <p:cNvPr id="14" name="SPAN: © mui-group"/>
          <p:cNvSpPr txBox="1"/>
          <p:nvPr/>
        </p:nvSpPr>
        <p:spPr>
          <a:xfrm>
            <a:off x="731520" y="6469380"/>
            <a:ext cx="878681"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 mui-group</a:t>
            </a:r>
            <a:endParaRPr lang="en-US" sz="1080" dirty="0"/>
          </a:p>
        </p:txBody>
      </p:sp>
      <p:sp>
        <p:nvSpPr>
          <p:cNvPr id="15" name="SPAN: 42 / 42"/>
          <p:cNvSpPr txBox="1"/>
          <p:nvPr/>
        </p:nvSpPr>
        <p:spPr>
          <a:xfrm>
            <a:off x="11041023" y="6469380"/>
            <a:ext cx="541377" cy="213360"/>
          </a:xfrm>
          <a:prstGeom prst="rect">
            <a:avLst/>
          </a:prstGeom>
          <a:noFill/>
          <a:ln/>
        </p:spPr>
        <p:txBody>
          <a:bodyPr wrap="square" lIns="0" tIns="0" rIns="0" bIns="0" rtlCol="0" anchor="t"/>
          <a:lstStyle/>
          <a:p>
            <a:pPr indent="0" marL="0">
              <a:lnSpc>
                <a:spcPct val="100000"/>
              </a:lnSpc>
              <a:buNone/>
            </a:pPr>
            <a:r>
              <a:rPr lang="en-US" altLang="en-US" sz="1080" dirty="0">
                <a:solidFill>
                  <a:srgbClr val="536164"/>
                </a:solidFill>
                <a:latin typeface="Arial" pitchFamily="34" charset="0"/>
                <a:ea typeface="Arial" pitchFamily="34" charset="-122"/>
                <a:cs typeface="Arial" pitchFamily="34" charset="-120"/>
              </a:rPr>
              <a:t>42 / 42</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mui-group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beyond words — Multimodal retrieval</dc:title>
  <dc:subject>Multimodal retrieval workshop</dc:subject>
  <dc:creator>mui-group</dc:creator>
  <cp:lastModifiedBy>mui-group</cp:lastModifiedBy>
  <cp:revision>1</cp:revision>
  <dcterms:created xsi:type="dcterms:W3CDTF">2026-10-22T21:48:13Z</dcterms:created>
  <dcterms:modified xsi:type="dcterms:W3CDTF">2026-10-22T21:48:13Z</dcterms:modified>
</cp:coreProperties>
</file>